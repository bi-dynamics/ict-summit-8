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4271" r:id="rId2"/>
    <p:sldId id="4281" r:id="rId3"/>
    <p:sldId id="4280" r:id="rId4"/>
    <p:sldId id="4282" r:id="rId5"/>
    <p:sldId id="270" r:id="rId6"/>
    <p:sldId id="4283" r:id="rId7"/>
    <p:sldId id="4256" r:id="rId8"/>
    <p:sldId id="2133" r:id="rId9"/>
    <p:sldId id="267" r:id="rId10"/>
    <p:sldId id="427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0"/>
    <p:restoredTop sz="80685"/>
  </p:normalViewPr>
  <p:slideViewPr>
    <p:cSldViewPr snapToGrid="0">
      <p:cViewPr varScale="1">
        <p:scale>
          <a:sx n="97" d="100"/>
          <a:sy n="97" d="100"/>
        </p:scale>
        <p:origin x="13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CABAF3-879A-2B4F-9973-E6A5A9C586AE}" type="datetimeFigureOut">
              <a:rPr lang="en-GB" smtClean="0"/>
              <a:t>09/09/2024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13F358-18A2-0447-982C-49D64D39CB24}" type="slidenum">
              <a:rPr lang="en-GB" smtClean="0"/>
              <a:t>‹#›</a:t>
            </a:fld>
            <a:endParaRPr lang="en-GB"/>
          </a:p>
        </p:txBody>
      </p:sp>
    </p:spTree>
    <p:extLst>
      <p:ext uri="{BB962C8B-B14F-4D97-AF65-F5344CB8AC3E}">
        <p14:creationId xmlns:p14="http://schemas.microsoft.com/office/powerpoint/2010/main" val="294509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britannica.com/dictionary/derives"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s://www.merriam-webster.com/dictionary/moral" TargetMode="External"/><Relationship Id="rId5" Type="http://schemas.openxmlformats.org/officeDocument/2006/relationships/hyperlink" Target="https://www.britannica.com/topic/History-of-the-Peloponnesian-War" TargetMode="External"/><Relationship Id="rId4" Type="http://schemas.openxmlformats.org/officeDocument/2006/relationships/hyperlink" Target="https://www.britannica.com/biography/Thucydides-Greek-historian"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969733-6097-594F-BB9B-85F81BD1BDDB}" type="slidenum">
              <a:rPr lang="en-US" smtClean="0"/>
              <a:t>1</a:t>
            </a:fld>
            <a:endParaRPr lang="en-US" dirty="0"/>
          </a:p>
        </p:txBody>
      </p:sp>
    </p:spTree>
    <p:extLst>
      <p:ext uri="{BB962C8B-B14F-4D97-AF65-F5344CB8AC3E}">
        <p14:creationId xmlns:p14="http://schemas.microsoft.com/office/powerpoint/2010/main" val="1919429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Aptos" panose="020B0004020202020204" pitchFamily="34" charset="0"/>
                <a:ea typeface="Aptos" panose="020B0004020202020204" pitchFamily="34" charset="0"/>
                <a:cs typeface="Times New Roman" panose="02020603050405020304" pitchFamily="18" charset="0"/>
              </a:rPr>
              <a:t>Explain quote and speak about the what the tactics without strategy looks like, i.e. disjointed, reactive, costly, lack of visibility, lack of formal knowledge transfer, assurance is a moment in time.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Aptos" panose="020B0004020202020204" pitchFamily="34" charset="0"/>
                <a:ea typeface="Aptos" panose="020B0004020202020204" pitchFamily="34" charset="0"/>
                <a:cs typeface="Times New Roman" panose="02020603050405020304" pitchFamily="18" charset="0"/>
              </a:rPr>
              <a:t>Cyber defence without a guiding strategy and a corresponding threat management program is doomed to reactivity.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800" dirty="0">
              <a:effectLst/>
              <a:latin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effectLst/>
                <a:latin typeface="Aptos" panose="020B0004020202020204" pitchFamily="34" charset="0"/>
                <a:cs typeface="Times New Roman" panose="02020603050405020304" pitchFamily="18" charset="0"/>
              </a:rPr>
              <a:t>The noise can come in many forms, disjointed activities, employee dissatisfaction, lack of communications, and no buy-in from leadership.</a:t>
            </a:r>
            <a:endParaRPr lang="en-US" dirty="0"/>
          </a:p>
        </p:txBody>
      </p:sp>
      <p:sp>
        <p:nvSpPr>
          <p:cNvPr id="4" name="Slide Number Placeholder 3"/>
          <p:cNvSpPr>
            <a:spLocks noGrp="1"/>
          </p:cNvSpPr>
          <p:nvPr>
            <p:ph type="sldNum" sz="quarter" idx="5"/>
          </p:nvPr>
        </p:nvSpPr>
        <p:spPr/>
        <p:txBody>
          <a:bodyPr/>
          <a:lstStyle/>
          <a:p>
            <a:fld id="{A3969733-6097-594F-BB9B-85F81BD1BDDB}" type="slidenum">
              <a:rPr lang="en-US" smtClean="0"/>
              <a:t>2</a:t>
            </a:fld>
            <a:endParaRPr lang="en-US" dirty="0"/>
          </a:p>
        </p:txBody>
      </p:sp>
    </p:spTree>
    <p:extLst>
      <p:ext uri="{BB962C8B-B14F-4D97-AF65-F5344CB8AC3E}">
        <p14:creationId xmlns:p14="http://schemas.microsoft.com/office/powerpoint/2010/main" val="775067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Tie into the Noise before defeat. Strategy without tactics = Great plan, poor execution. All trained up but off the mark. Executive Protection, Emergency medicine, and strategy.</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3969733-6097-594F-BB9B-85F81BD1BDDB}" type="slidenum">
              <a:rPr lang="en-US" smtClean="0"/>
              <a:t>3</a:t>
            </a:fld>
            <a:endParaRPr lang="en-US" dirty="0"/>
          </a:p>
        </p:txBody>
      </p:sp>
    </p:spTree>
    <p:extLst>
      <p:ext uri="{BB962C8B-B14F-4D97-AF65-F5344CB8AC3E}">
        <p14:creationId xmlns:p14="http://schemas.microsoft.com/office/powerpoint/2010/main" val="1259041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Epistemology is a branch of philosophy that investigates the nature, scope, and limits of knowledge.</a:t>
            </a:r>
          </a:p>
          <a:p>
            <a:pPr>
              <a:lnSpc>
                <a:spcPct val="115000"/>
              </a:lnSpc>
              <a:spcAft>
                <a:spcPts val="800"/>
              </a:spcAft>
            </a:pP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What is strategy?</a:t>
            </a:r>
          </a:p>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Where does it originate, T</a:t>
            </a:r>
            <a:r>
              <a:rPr lang="en-ZA" sz="2800" dirty="0"/>
              <a:t>he term </a:t>
            </a:r>
            <a:r>
              <a:rPr lang="en-ZA" sz="2800" i="1" dirty="0"/>
              <a:t>strategy</a:t>
            </a:r>
            <a:r>
              <a:rPr lang="en-ZA" sz="2800" dirty="0"/>
              <a:t> </a:t>
            </a:r>
            <a:r>
              <a:rPr lang="en-ZA" sz="2800" dirty="0">
                <a:hlinkClick r:id="rId3"/>
              </a:rPr>
              <a:t>derives</a:t>
            </a:r>
            <a:r>
              <a:rPr lang="en-ZA" sz="2800" dirty="0"/>
              <a:t> from the Greek </a:t>
            </a:r>
            <a:r>
              <a:rPr lang="en-ZA" sz="2800" i="1" dirty="0" err="1"/>
              <a:t>strategos</a:t>
            </a:r>
            <a:r>
              <a:rPr lang="en-ZA" sz="2800" dirty="0"/>
              <a:t>, an elected general in ancient Athens. The </a:t>
            </a:r>
            <a:r>
              <a:rPr lang="en-ZA" sz="2800" i="1" dirty="0" err="1"/>
              <a:t>strategoi</a:t>
            </a:r>
            <a:r>
              <a:rPr lang="en-ZA" sz="2800" dirty="0"/>
              <a:t> were mainly military leaders with combined political and military authority, which is the essence of strategy. Because strategy is about the relationship between means and ends, the term has applications well beyond war.</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ZA" sz="2800" dirty="0">
                <a:hlinkClick r:id="rId4"/>
              </a:rPr>
              <a:t>Thucydides</a:t>
            </a:r>
            <a:r>
              <a:rPr lang="en-ZA" sz="2800" dirty="0"/>
              <a:t>’ (</a:t>
            </a:r>
            <a:r>
              <a:rPr lang="en-ZA" sz="4000" dirty="0" err="1"/>
              <a:t>thoo·si·duh·deez</a:t>
            </a:r>
            <a:r>
              <a:rPr lang="en-ZA" sz="4000" dirty="0"/>
              <a:t>) </a:t>
            </a:r>
            <a:r>
              <a:rPr lang="en-ZA" sz="2800" i="1" dirty="0">
                <a:hlinkClick r:id="rId5"/>
              </a:rPr>
              <a:t>History of the Peloponnesian War</a:t>
            </a:r>
            <a:r>
              <a:rPr lang="en-ZA" sz="2800" dirty="0"/>
              <a:t> (</a:t>
            </a:r>
            <a:r>
              <a:rPr lang="en-ZA" sz="2800" i="1" dirty="0"/>
              <a:t>c.</a:t>
            </a:r>
            <a:r>
              <a:rPr lang="en-ZA" sz="2800" dirty="0"/>
              <a:t> 404 </a:t>
            </a:r>
            <a:r>
              <a:rPr lang="en-ZA" sz="2800" dirty="0" err="1"/>
              <a:t>bce</a:t>
            </a:r>
            <a:r>
              <a:rPr lang="en-ZA" sz="2800" dirty="0"/>
              <a:t>) contains </a:t>
            </a:r>
            <a:r>
              <a:rPr lang="en-ZA" sz="2800" dirty="0" err="1"/>
              <a:t>marvelous</a:t>
            </a:r>
            <a:r>
              <a:rPr lang="en-ZA" sz="2800" dirty="0"/>
              <a:t> renditions of speeches in which the leaders of different states attempt to persuade their listeners to follow a given course of action. Furthermore, strategy invariably rests on assumptions of many kinds—about what is lawful or </a:t>
            </a:r>
            <a:r>
              <a:rPr lang="en-ZA" sz="2800" dirty="0">
                <a:hlinkClick r:id="rId6"/>
              </a:rPr>
              <a:t>moral</a:t>
            </a:r>
            <a:r>
              <a:rPr lang="en-ZA" sz="2800" dirty="0"/>
              <a:t>, about what technology can achieve, about conditions of geopolitics and resource availability—that are unstated or even subconscious. </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how is a strategy brought to life? </a:t>
            </a:r>
          </a:p>
          <a:p>
            <a:pPr marL="0" marR="0" lvl="0" indent="0" algn="l" defTabSz="914400" rtl="0" eaLnBrk="1" fontAlgn="auto" latinLnBrk="0" hangingPunct="1">
              <a:lnSpc>
                <a:spcPct val="115000"/>
              </a:lnSpc>
              <a:spcBef>
                <a:spcPts val="0"/>
              </a:spcBef>
              <a:spcAft>
                <a:spcPts val="800"/>
              </a:spcAft>
              <a:buClrTx/>
              <a:buSzTx/>
              <a:buFontTx/>
              <a:buNone/>
              <a:tabLst/>
              <a:defRPr/>
            </a:pPr>
            <a:r>
              <a:rPr lang="en-ZA" sz="1800" dirty="0">
                <a:latin typeface="Avenir Book" panose="02000503020000020003" pitchFamily="2" charset="0"/>
              </a:rPr>
              <a:t>Carl von Clausewitz says in an introductory note to On War, “When it is not a question of acting oneself but of persuading others in discussion, the need is for clear ideas and the ability to show their connection with each other”—hence the discipline of strategic thought.</a:t>
            </a:r>
            <a:endParaRPr lang="en-GB" sz="1800" dirty="0">
              <a:latin typeface="Avenir Book" panose="02000503020000020003" pitchFamily="2" charset="0"/>
            </a:endParaRPr>
          </a:p>
          <a:p>
            <a:pPr>
              <a:lnSpc>
                <a:spcPct val="115000"/>
              </a:lnSpc>
              <a:spcAft>
                <a:spcPts val="800"/>
              </a:spcAft>
            </a:pP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A3969733-6097-594F-BB9B-85F81BD1BDDB}" type="slidenum">
              <a:rPr lang="en-US" smtClean="0"/>
              <a:t>4</a:t>
            </a:fld>
            <a:endParaRPr lang="en-US"/>
          </a:p>
        </p:txBody>
      </p:sp>
    </p:spTree>
    <p:extLst>
      <p:ext uri="{BB962C8B-B14F-4D97-AF65-F5344CB8AC3E}">
        <p14:creationId xmlns:p14="http://schemas.microsoft.com/office/powerpoint/2010/main" val="8883445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Epistemology of risk.</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Risk is defined as being </a:t>
            </a:r>
            <a:r>
              <a:rPr lang="en-GB" sz="1800" b="1" u="sng" kern="100" dirty="0">
                <a:effectLst/>
                <a:latin typeface="Aptos" panose="020B0004020202020204" pitchFamily="34" charset="0"/>
                <a:ea typeface="Aptos" panose="020B0004020202020204" pitchFamily="34" charset="0"/>
                <a:cs typeface="Times New Roman" panose="02020603050405020304" pitchFamily="18" charset="0"/>
              </a:rPr>
              <a:t>exposed</a:t>
            </a:r>
            <a:r>
              <a:rPr lang="en-GB" sz="1800" kern="100" dirty="0">
                <a:effectLst/>
                <a:latin typeface="Aptos" panose="020B0004020202020204" pitchFamily="34" charset="0"/>
                <a:ea typeface="Aptos" panose="020B0004020202020204" pitchFamily="34" charset="0"/>
                <a:cs typeface="Times New Roman" panose="02020603050405020304" pitchFamily="18" charset="0"/>
              </a:rPr>
              <a:t> to danger, as such, risk arises due the result of exposure. </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 </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Risk calculation refers to the process of determining the potential risks associated with different attack vectors by assessing their likelihood and the maximum consequence to the security goals.</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 </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dirty="0">
                <a:effectLst/>
                <a:latin typeface="Aptos" panose="020B0004020202020204" pitchFamily="34" charset="0"/>
                <a:ea typeface="Aptos" panose="020B0004020202020204" pitchFamily="34" charset="0"/>
                <a:cs typeface="Times New Roman" panose="02020603050405020304" pitchFamily="18" charset="0"/>
              </a:rPr>
              <a:t>But if Risk is the measured value, then it is the level of exposure or the threat itself which must be changed to change the Risk value.</a:t>
            </a: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A3969733-6097-594F-BB9B-85F81BD1BDDB}" type="slidenum">
              <a:rPr lang="en-US" smtClean="0"/>
              <a:t>5</a:t>
            </a:fld>
            <a:endParaRPr lang="en-US"/>
          </a:p>
        </p:txBody>
      </p:sp>
    </p:spTree>
    <p:extLst>
      <p:ext uri="{BB962C8B-B14F-4D97-AF65-F5344CB8AC3E}">
        <p14:creationId xmlns:p14="http://schemas.microsoft.com/office/powerpoint/2010/main" val="39389566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a:lnSpc>
                <a:spcPct val="115000"/>
              </a:lnSpc>
              <a:spcAft>
                <a:spcPts val="800"/>
              </a:spcAft>
            </a:pPr>
            <a:r>
              <a:rPr lang="en-GB" sz="1800" kern="100">
                <a:effectLst/>
                <a:latin typeface="Aptos" panose="020B0004020202020204" pitchFamily="34" charset="0"/>
                <a:ea typeface="Aptos" panose="020B0004020202020204" pitchFamily="34" charset="0"/>
                <a:cs typeface="Times New Roman" panose="02020603050405020304" pitchFamily="18" charset="0"/>
              </a:rPr>
              <a:t>How exposed is my organisation? </a:t>
            </a:r>
          </a:p>
          <a:p>
            <a:pPr>
              <a:lnSpc>
                <a:spcPct val="115000"/>
              </a:lnSpc>
              <a:spcAft>
                <a:spcPts val="800"/>
              </a:spcAft>
            </a:pPr>
            <a:r>
              <a:rPr lang="en-GB" sz="1800" kern="100">
                <a:effectLst/>
                <a:latin typeface="Aptos" panose="020B0004020202020204" pitchFamily="34" charset="0"/>
                <a:ea typeface="Aptos" panose="020B0004020202020204" pitchFamily="34" charset="0"/>
                <a:cs typeface="Times New Roman" panose="02020603050405020304" pitchFamily="18" charset="0"/>
              </a:rPr>
              <a:t>How long has it been exposed? </a:t>
            </a:r>
          </a:p>
          <a:p>
            <a:pPr>
              <a:lnSpc>
                <a:spcPct val="115000"/>
              </a:lnSpc>
              <a:spcAft>
                <a:spcPts val="800"/>
              </a:spcAft>
            </a:pPr>
            <a:r>
              <a:rPr lang="en-GB" sz="1800" kern="100">
                <a:effectLst/>
                <a:latin typeface="Aptos" panose="020B0004020202020204" pitchFamily="34" charset="0"/>
                <a:ea typeface="Aptos" panose="020B0004020202020204" pitchFamily="34" charset="0"/>
                <a:cs typeface="Times New Roman" panose="02020603050405020304" pitchFamily="18" charset="0"/>
              </a:rPr>
              <a:t>What is the exposed element connected to? </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a:effectLst/>
                <a:latin typeface="Aptos" panose="020B0004020202020204" pitchFamily="34" charset="0"/>
                <a:ea typeface="Aptos" panose="020B0004020202020204" pitchFamily="34" charset="0"/>
                <a:cs typeface="Times New Roman" panose="02020603050405020304" pitchFamily="18" charset="0"/>
              </a:rPr>
              <a:t>Can the implementation of one control/measure reduce the level of exposure to multiple elements? </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a:effectLst/>
                <a:latin typeface="Aptos" panose="020B0004020202020204" pitchFamily="34" charset="0"/>
                <a:ea typeface="Aptos" panose="020B0004020202020204" pitchFamily="34" charset="0"/>
                <a:cs typeface="Times New Roman" panose="02020603050405020304" pitchFamily="18" charset="0"/>
              </a:rPr>
              <a:t>These are the questions that are associated with a continuous threat management program. </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GB" sz="1800" kern="100">
                <a:effectLst/>
                <a:latin typeface="Aptos" panose="020B0004020202020204" pitchFamily="34" charset="0"/>
                <a:ea typeface="Aptos" panose="020B0004020202020204" pitchFamily="34" charset="0"/>
                <a:cs typeface="Times New Roman" panose="02020603050405020304" pitchFamily="18" charset="0"/>
              </a:rPr>
              <a:t> What are we defending, what are we defending it from? How are we defending it? How much value am I getting from the defence efforts</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p>
            <a:endParaRPr lang="en-US"/>
          </a:p>
        </p:txBody>
      </p:sp>
      <p:sp>
        <p:nvSpPr>
          <p:cNvPr id="4" name="Slide Number Placeholder 3"/>
          <p:cNvSpPr>
            <a:spLocks noGrp="1"/>
          </p:cNvSpPr>
          <p:nvPr>
            <p:ph type="sldNum" sz="quarter" idx="5"/>
          </p:nvPr>
        </p:nvSpPr>
        <p:spPr/>
        <p:txBody>
          <a:bodyPr/>
          <a:lstStyle/>
          <a:p>
            <a:fld id="{A3969733-6097-594F-BB9B-85F81BD1BDDB}" type="slidenum">
              <a:rPr lang="en-US" smtClean="0"/>
              <a:t>6</a:t>
            </a:fld>
            <a:endParaRPr lang="en-US"/>
          </a:p>
        </p:txBody>
      </p:sp>
    </p:spTree>
    <p:extLst>
      <p:ext uri="{BB962C8B-B14F-4D97-AF65-F5344CB8AC3E}">
        <p14:creationId xmlns:p14="http://schemas.microsoft.com/office/powerpoint/2010/main" val="18738865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kern="100">
                <a:effectLst/>
                <a:latin typeface="Aptos" panose="020B0004020202020204" pitchFamily="34" charset="0"/>
                <a:ea typeface="Aptos" panose="020B0004020202020204" pitchFamily="34" charset="0"/>
                <a:cs typeface="Times New Roman" panose="02020603050405020304" pitchFamily="18" charset="0"/>
              </a:rPr>
              <a:t>We all love the term, “a strategy doc is a living document” but for that to be true it requires a means to ingest information (sensory data) and a means to produce an output affect (output and action) = Continuous Threat Exposure Management.</a:t>
            </a:r>
            <a:endParaRPr lang="en-ZA" sz="1800" kern="100">
              <a:effectLst/>
              <a:latin typeface="Aptos" panose="020B0004020202020204" pitchFamily="34" charset="0"/>
              <a:ea typeface="Aptos" panose="020B0004020202020204" pitchFamily="34" charset="0"/>
              <a:cs typeface="Times New Roman" panose="02020603050405020304" pitchFamily="18" charset="0"/>
            </a:endParaRPr>
          </a:p>
          <a:p>
            <a:endParaRPr lang="en-GB"/>
          </a:p>
        </p:txBody>
      </p:sp>
      <p:sp>
        <p:nvSpPr>
          <p:cNvPr id="4" name="Slide Number Placeholder 3"/>
          <p:cNvSpPr>
            <a:spLocks noGrp="1"/>
          </p:cNvSpPr>
          <p:nvPr>
            <p:ph type="sldNum" sz="quarter" idx="5"/>
          </p:nvPr>
        </p:nvSpPr>
        <p:spPr/>
        <p:txBody>
          <a:bodyPr/>
          <a:lstStyle/>
          <a:p>
            <a:fld id="{BF13F358-18A2-0447-982C-49D64D39CB24}" type="slidenum">
              <a:rPr lang="en-GB" smtClean="0"/>
              <a:t>7</a:t>
            </a:fld>
            <a:endParaRPr lang="en-GB"/>
          </a:p>
        </p:txBody>
      </p:sp>
    </p:spTree>
    <p:extLst>
      <p:ext uri="{BB962C8B-B14F-4D97-AF65-F5344CB8AC3E}">
        <p14:creationId xmlns:p14="http://schemas.microsoft.com/office/powerpoint/2010/main" val="10000079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GB" sz="1800" dirty="0">
                <a:effectLst/>
                <a:latin typeface="Aptos" panose="020B0004020202020204" pitchFamily="34" charset="0"/>
                <a:ea typeface="Aptos" panose="020B0004020202020204" pitchFamily="34" charset="0"/>
                <a:cs typeface="Times New Roman" panose="02020603050405020304" pitchFamily="18" charset="0"/>
              </a:rPr>
              <a:t>We all love the term, “a strategy doc is a living document” but for that to be true it requires a means to ingest information (sensory data) and a means to produce an output affect (output and action) = Continuous Threat Exposure Management.</a:t>
            </a:r>
            <a:r>
              <a:rPr lang="en-ZA" dirty="0">
                <a:effectLst/>
              </a:rPr>
              <a:t> </a:t>
            </a:r>
          </a:p>
          <a:p>
            <a:endParaRPr lang="en-ZA" dirty="0">
              <a:effectLst/>
            </a:endParaRPr>
          </a:p>
          <a:p>
            <a:r>
              <a:rPr lang="en-ZA" dirty="0">
                <a:effectLst/>
              </a:rPr>
              <a:t>Senses- SIEM </a:t>
            </a:r>
          </a:p>
          <a:p>
            <a:endParaRPr lang="en-ZA" dirty="0">
              <a:effectLst/>
            </a:endParaRPr>
          </a:p>
          <a:p>
            <a:r>
              <a:rPr lang="en-ZA" dirty="0">
                <a:effectLst/>
              </a:rPr>
              <a:t>Nervous system – SOAR</a:t>
            </a:r>
          </a:p>
          <a:p>
            <a:endParaRPr lang="en-ZA" dirty="0">
              <a:effectLst/>
            </a:endParaRPr>
          </a:p>
          <a:p>
            <a:r>
              <a:rPr lang="en-ZA" dirty="0">
                <a:effectLst/>
              </a:rPr>
              <a:t>Immune system – NDR, EDR, IPS, Firewalls</a:t>
            </a:r>
          </a:p>
          <a:p>
            <a:endParaRPr lang="en-ZA" dirty="0">
              <a:effectLst/>
            </a:endParaRPr>
          </a:p>
          <a:p>
            <a:r>
              <a:rPr lang="en-ZA" dirty="0">
                <a:effectLst/>
              </a:rPr>
              <a:t>The heart is at the core, but it too can become weak, or sick – vulnerabilities</a:t>
            </a:r>
          </a:p>
          <a:p>
            <a:endParaRPr lang="en-ZA" dirty="0">
              <a:effectLst/>
            </a:endParaRPr>
          </a:p>
          <a:p>
            <a:r>
              <a:rPr lang="en-ZA" dirty="0">
                <a:effectLst/>
              </a:rPr>
              <a:t>Bad lifestyle – people and processes </a:t>
            </a:r>
          </a:p>
          <a:p>
            <a:endParaRPr lang="en-ZA" dirty="0">
              <a:effectLst/>
            </a:endParaRPr>
          </a:p>
          <a:p>
            <a:r>
              <a:rPr lang="en-ZA" dirty="0">
                <a:effectLst/>
              </a:rPr>
              <a:t>Hence, the continuous threat management methodology.</a:t>
            </a:r>
          </a:p>
          <a:p>
            <a:endParaRPr lang="en-ZA" dirty="0">
              <a:effectLst/>
            </a:endParaRPr>
          </a:p>
          <a:p>
            <a:endParaRPr lang="en-ZA" dirty="0">
              <a:effectLst/>
            </a:endParaRPr>
          </a:p>
          <a:p>
            <a:endParaRPr lang="en-ZA" dirty="0">
              <a:effectLst/>
            </a:endParaRPr>
          </a:p>
          <a:p>
            <a:endParaRPr lang="en-ZA"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713CC9F-FFF1-4DA3-8203-76D93A326B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4333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ZA" b="1" i="0" u="none" strike="noStrike" dirty="0">
                <a:solidFill>
                  <a:srgbClr val="000000"/>
                </a:solidFill>
                <a:effectLst/>
              </a:rPr>
              <a:t>1. Align Cyber Risk with Business Objectives</a:t>
            </a:r>
          </a:p>
          <a:p>
            <a:pPr algn="l">
              <a:buFont typeface="Arial" panose="020B0604020202020204" pitchFamily="34" charset="0"/>
              <a:buChar char="•"/>
            </a:pPr>
            <a:r>
              <a:rPr lang="en-ZA" b="1" i="0" u="none" strike="noStrike" dirty="0">
                <a:solidFill>
                  <a:srgbClr val="000000"/>
                </a:solidFill>
                <a:effectLst/>
              </a:rPr>
              <a:t>Speak the Language of Business</a:t>
            </a:r>
            <a:r>
              <a:rPr lang="en-ZA" b="0" i="0" u="none" strike="noStrike" dirty="0">
                <a:solidFill>
                  <a:srgbClr val="000000"/>
                </a:solidFill>
                <a:effectLst/>
              </a:rPr>
              <a:t>: Frame cybersecurity issues in terms of their impact on business goals, such as revenue, reputation, and operational continuity. For instance, rather than discussing the technical details of a vulnerability, emphasize how it could lead to significant financial losses or damage the company’s brand if exploited.</a:t>
            </a:r>
          </a:p>
          <a:p>
            <a:pPr algn="l">
              <a:buFont typeface="Arial" panose="020B0604020202020204" pitchFamily="34" charset="0"/>
              <a:buChar char="•"/>
            </a:pPr>
            <a:r>
              <a:rPr lang="en-ZA" b="1" i="0" u="none" strike="noStrike" dirty="0">
                <a:solidFill>
                  <a:srgbClr val="000000"/>
                </a:solidFill>
                <a:effectLst/>
              </a:rPr>
              <a:t>Quantify the Risk</a:t>
            </a:r>
            <a:r>
              <a:rPr lang="en-ZA" b="0" i="0" u="none" strike="noStrike" dirty="0">
                <a:solidFill>
                  <a:srgbClr val="000000"/>
                </a:solidFill>
                <a:effectLst/>
              </a:rPr>
              <a:t>: Use metrics that matter to the board, such as potential financial losses, regulatory fines, or downtime costs, to articulate the risk. This approach makes the abstract concept of cyber threats more concrete and relatable.</a:t>
            </a:r>
          </a:p>
          <a:p>
            <a:pPr algn="l"/>
            <a:endParaRPr lang="en-ZA" b="1" i="0" u="none" strike="noStrike" dirty="0">
              <a:solidFill>
                <a:srgbClr val="000000"/>
              </a:solidFill>
              <a:effectLst/>
            </a:endParaRPr>
          </a:p>
          <a:p>
            <a:pPr algn="l"/>
            <a:r>
              <a:rPr lang="en-ZA" b="1" i="0" u="none" strike="noStrike" dirty="0">
                <a:solidFill>
                  <a:srgbClr val="000000"/>
                </a:solidFill>
                <a:effectLst/>
              </a:rPr>
              <a:t>2. Prioritize Risks Based on Impact</a:t>
            </a:r>
          </a:p>
          <a:p>
            <a:pPr algn="l">
              <a:buFont typeface="Arial" panose="020B0604020202020204" pitchFamily="34" charset="0"/>
              <a:buChar char="•"/>
            </a:pPr>
            <a:r>
              <a:rPr lang="en-ZA" b="1" i="0" u="none" strike="noStrike" dirty="0">
                <a:solidFill>
                  <a:srgbClr val="000000"/>
                </a:solidFill>
                <a:effectLst/>
              </a:rPr>
              <a:t>Focus on High-impact Threats</a:t>
            </a:r>
            <a:r>
              <a:rPr lang="en-ZA" b="0" i="0" u="none" strike="noStrike" dirty="0">
                <a:solidFill>
                  <a:srgbClr val="000000"/>
                </a:solidFill>
                <a:effectLst/>
              </a:rPr>
              <a:t>: Present the most critical risks that could significantly affect the business. Use clear examples of recent industry breaches or incidents to illustrate the potential consequences.</a:t>
            </a:r>
          </a:p>
          <a:p>
            <a:pPr algn="l">
              <a:buFont typeface="Arial" panose="020B0604020202020204" pitchFamily="34" charset="0"/>
              <a:buChar char="•"/>
            </a:pPr>
            <a:r>
              <a:rPr lang="en-ZA" b="1" i="0" u="none" strike="noStrike" dirty="0">
                <a:solidFill>
                  <a:srgbClr val="000000"/>
                </a:solidFill>
                <a:effectLst/>
              </a:rPr>
              <a:t>Use Risk Scenarios</a:t>
            </a:r>
            <a:r>
              <a:rPr lang="en-ZA" b="0" i="0" u="none" strike="noStrike" dirty="0">
                <a:solidFill>
                  <a:srgbClr val="000000"/>
                </a:solidFill>
                <a:effectLst/>
              </a:rPr>
              <a:t>: Develop and present realistic scenarios that demonstrate how specific cybersecurity risks could impact the company. This can help </a:t>
            </a:r>
            <a:r>
              <a:rPr lang="en-ZA" b="0" i="0" u="none" strike="noStrike" dirty="0" err="1">
                <a:solidFill>
                  <a:srgbClr val="000000"/>
                </a:solidFill>
                <a:effectLst/>
              </a:rPr>
              <a:t>ExCo</a:t>
            </a:r>
            <a:r>
              <a:rPr lang="en-ZA" b="0" i="0" u="none" strike="noStrike" dirty="0">
                <a:solidFill>
                  <a:srgbClr val="000000"/>
                </a:solidFill>
                <a:effectLst/>
              </a:rPr>
              <a:t> members visualize the risks and understand the urgency of addressing them.</a:t>
            </a:r>
          </a:p>
          <a:p>
            <a:pPr algn="l"/>
            <a:endParaRPr lang="en-ZA" b="1" i="0" u="none" strike="noStrike" dirty="0">
              <a:solidFill>
                <a:srgbClr val="000000"/>
              </a:solidFill>
              <a:effectLst/>
            </a:endParaRPr>
          </a:p>
          <a:p>
            <a:pPr algn="l"/>
            <a:r>
              <a:rPr lang="en-ZA" b="1" i="0" u="none" strike="noStrike" dirty="0">
                <a:solidFill>
                  <a:srgbClr val="000000"/>
                </a:solidFill>
                <a:effectLst/>
              </a:rPr>
              <a:t>3. Emphasize ROI and Competitive Advantage</a:t>
            </a:r>
          </a:p>
          <a:p>
            <a:pPr algn="l">
              <a:buFont typeface="Arial" panose="020B0604020202020204" pitchFamily="34" charset="0"/>
              <a:buChar char="•"/>
            </a:pPr>
            <a:r>
              <a:rPr lang="en-ZA" b="1" i="0" u="none" strike="noStrike" dirty="0">
                <a:solidFill>
                  <a:srgbClr val="000000"/>
                </a:solidFill>
                <a:effectLst/>
              </a:rPr>
              <a:t>Cost-benefit Analysis</a:t>
            </a:r>
            <a:r>
              <a:rPr lang="en-ZA" b="0" i="0" u="none" strike="noStrike" dirty="0">
                <a:solidFill>
                  <a:srgbClr val="000000"/>
                </a:solidFill>
                <a:effectLst/>
              </a:rPr>
              <a:t>: Show how investing in cybersecurity can prevent larger expenses down the line, such as breach remediation costs or loss of customer trust. Highlighting the return on investment (ROI) can make the case more compelling.</a:t>
            </a:r>
          </a:p>
          <a:p>
            <a:pPr algn="l">
              <a:buFont typeface="Arial" panose="020B0604020202020204" pitchFamily="34" charset="0"/>
              <a:buChar char="•"/>
            </a:pPr>
            <a:r>
              <a:rPr lang="en-ZA" b="1" i="0" u="none" strike="noStrike" dirty="0">
                <a:solidFill>
                  <a:srgbClr val="000000"/>
                </a:solidFill>
                <a:effectLst/>
              </a:rPr>
              <a:t>Competitive Edge</a:t>
            </a:r>
            <a:r>
              <a:rPr lang="en-ZA" b="0" i="0" u="none" strike="noStrike" dirty="0">
                <a:solidFill>
                  <a:srgbClr val="000000"/>
                </a:solidFill>
                <a:effectLst/>
              </a:rPr>
              <a:t>: Position strong cybersecurity as a business enabler that can differentiate the company in the marketplace, attract customers, and comply with regulatory requirements, thereby providing a competitive advantage.</a:t>
            </a:r>
          </a:p>
          <a:p>
            <a:pPr algn="l"/>
            <a:endParaRPr lang="en-ZA" b="1" i="0" u="none" strike="noStrike" dirty="0">
              <a:solidFill>
                <a:srgbClr val="000000"/>
              </a:solidFill>
              <a:effectLst/>
            </a:endParaRPr>
          </a:p>
          <a:p>
            <a:pPr algn="l"/>
            <a:r>
              <a:rPr lang="en-ZA" b="1" i="0" u="none" strike="noStrike" dirty="0">
                <a:solidFill>
                  <a:srgbClr val="000000"/>
                </a:solidFill>
                <a:effectLst/>
              </a:rPr>
              <a:t>4. Simplify Communication</a:t>
            </a:r>
          </a:p>
          <a:p>
            <a:pPr algn="l">
              <a:buFont typeface="Arial" panose="020B0604020202020204" pitchFamily="34" charset="0"/>
              <a:buChar char="•"/>
            </a:pPr>
            <a:r>
              <a:rPr lang="en-ZA" b="1" i="0" u="none" strike="noStrike" dirty="0">
                <a:solidFill>
                  <a:srgbClr val="000000"/>
                </a:solidFill>
                <a:effectLst/>
              </a:rPr>
              <a:t>Avoid Jargon</a:t>
            </a:r>
            <a:r>
              <a:rPr lang="en-ZA" b="0" i="0" u="none" strike="noStrike" dirty="0">
                <a:solidFill>
                  <a:srgbClr val="000000"/>
                </a:solidFill>
                <a:effectLst/>
              </a:rPr>
              <a:t>: Replace technical jargon with clear, concise language. For example, instead of talking about "zero-day vulnerabilities," discuss the potential for undetected weaknesses that could be exploited by attackers.</a:t>
            </a:r>
          </a:p>
          <a:p>
            <a:pPr algn="l">
              <a:buFont typeface="Arial" panose="020B0604020202020204" pitchFamily="34" charset="0"/>
              <a:buChar char="•"/>
            </a:pPr>
            <a:r>
              <a:rPr lang="en-ZA" b="1" i="0" u="none" strike="noStrike" dirty="0">
                <a:solidFill>
                  <a:srgbClr val="000000"/>
                </a:solidFill>
                <a:effectLst/>
              </a:rPr>
              <a:t>Use Visuals</a:t>
            </a:r>
            <a:r>
              <a:rPr lang="en-ZA" b="0" i="0" u="none" strike="noStrike" dirty="0">
                <a:solidFill>
                  <a:srgbClr val="000000"/>
                </a:solidFill>
                <a:effectLst/>
              </a:rPr>
              <a:t>: Leverage charts, graphs, and dashboards to visually communicate key points. Visual aids can help convey complex information more effectively and keep the board engaged.</a:t>
            </a:r>
          </a:p>
          <a:p>
            <a:pPr algn="l"/>
            <a:endParaRPr lang="en-ZA" b="1" i="0" u="none" strike="noStrike" dirty="0">
              <a:solidFill>
                <a:srgbClr val="000000"/>
              </a:solidFill>
              <a:effectLst/>
            </a:endParaRPr>
          </a:p>
          <a:p>
            <a:pPr algn="l"/>
            <a:r>
              <a:rPr lang="en-ZA" b="1" i="0" u="none" strike="noStrike" dirty="0">
                <a:solidFill>
                  <a:srgbClr val="000000"/>
                </a:solidFill>
                <a:effectLst/>
              </a:rPr>
              <a:t>5. Propose Clear, Actionable Plans</a:t>
            </a:r>
          </a:p>
          <a:p>
            <a:pPr algn="l">
              <a:buFont typeface="Arial" panose="020B0604020202020204" pitchFamily="34" charset="0"/>
              <a:buChar char="•"/>
            </a:pPr>
            <a:r>
              <a:rPr lang="en-ZA" b="1" i="0" u="none" strike="noStrike" dirty="0">
                <a:solidFill>
                  <a:srgbClr val="000000"/>
                </a:solidFill>
                <a:effectLst/>
              </a:rPr>
              <a:t>Present Solutions, Not Just Problems</a:t>
            </a:r>
            <a:r>
              <a:rPr lang="en-ZA" b="0" i="0" u="none" strike="noStrike" dirty="0">
                <a:solidFill>
                  <a:srgbClr val="000000"/>
                </a:solidFill>
                <a:effectLst/>
              </a:rPr>
              <a:t>: Always accompany any identified risks with proposed actions. Provide a clear roadmap of steps the company can take to mitigate risks, including timelines, required resources, and expected outcomes.</a:t>
            </a:r>
          </a:p>
          <a:p>
            <a:pPr algn="l">
              <a:buFont typeface="Arial" panose="020B0604020202020204" pitchFamily="34" charset="0"/>
              <a:buChar char="•"/>
            </a:pPr>
            <a:r>
              <a:rPr lang="en-ZA" b="1" i="0" u="none" strike="noStrike" dirty="0">
                <a:solidFill>
                  <a:srgbClr val="000000"/>
                </a:solidFill>
                <a:effectLst/>
              </a:rPr>
              <a:t>Demonstrate Preparedness</a:t>
            </a:r>
            <a:r>
              <a:rPr lang="en-ZA" b="0" i="0" u="none" strike="noStrike" dirty="0">
                <a:solidFill>
                  <a:srgbClr val="000000"/>
                </a:solidFill>
                <a:effectLst/>
              </a:rPr>
              <a:t>: Highlight the organization’s preparedness and how existing measures (like incident response plans) reduce risks, but also point out any gaps that need addressing.</a:t>
            </a:r>
          </a:p>
          <a:p>
            <a:pPr algn="l"/>
            <a:endParaRPr lang="en-ZA" b="1" i="0" u="none" strike="noStrike" dirty="0">
              <a:solidFill>
                <a:srgbClr val="000000"/>
              </a:solidFill>
              <a:effectLst/>
            </a:endParaRPr>
          </a:p>
          <a:p>
            <a:pPr algn="l"/>
            <a:r>
              <a:rPr lang="en-ZA" b="1" i="0" u="none" strike="noStrike" dirty="0">
                <a:solidFill>
                  <a:srgbClr val="000000"/>
                </a:solidFill>
                <a:effectLst/>
              </a:rPr>
              <a:t>6. Highlight Regulatory and Legal Implications</a:t>
            </a:r>
          </a:p>
          <a:p>
            <a:pPr algn="l">
              <a:buFont typeface="Arial" panose="020B0604020202020204" pitchFamily="34" charset="0"/>
              <a:buChar char="•"/>
            </a:pPr>
            <a:r>
              <a:rPr lang="en-ZA" b="1" i="0" u="none" strike="noStrike" dirty="0">
                <a:solidFill>
                  <a:srgbClr val="000000"/>
                </a:solidFill>
                <a:effectLst/>
              </a:rPr>
              <a:t>Compliance Focus</a:t>
            </a:r>
            <a:r>
              <a:rPr lang="en-ZA" b="0" i="0" u="none" strike="noStrike" dirty="0">
                <a:solidFill>
                  <a:srgbClr val="000000"/>
                </a:solidFill>
                <a:effectLst/>
              </a:rPr>
              <a:t>: Explain how cyber risks intersect with regulatory requirements. Non-compliance can lead to legal penalties, and understanding these implications is often a priority for board members.</a:t>
            </a:r>
          </a:p>
          <a:p>
            <a:pPr algn="l">
              <a:buFont typeface="Arial" panose="020B0604020202020204" pitchFamily="34" charset="0"/>
              <a:buChar char="•"/>
            </a:pPr>
            <a:r>
              <a:rPr lang="en-ZA" b="1" i="0" u="none" strike="noStrike" dirty="0">
                <a:solidFill>
                  <a:srgbClr val="000000"/>
                </a:solidFill>
                <a:effectLst/>
              </a:rPr>
              <a:t>Legal Risks</a:t>
            </a:r>
            <a:r>
              <a:rPr lang="en-ZA" b="0" i="0" u="none" strike="noStrike" dirty="0">
                <a:solidFill>
                  <a:srgbClr val="000000"/>
                </a:solidFill>
                <a:effectLst/>
              </a:rPr>
              <a:t>: Discuss potential legal liabilities that could arise from a breach, such as class-action lawsuits or regulatory fines, making it clear that cybersecurity is also a matter of legal risk management.</a:t>
            </a:r>
          </a:p>
          <a:p>
            <a:endParaRPr lang="en-GB" dirty="0"/>
          </a:p>
        </p:txBody>
      </p:sp>
      <p:sp>
        <p:nvSpPr>
          <p:cNvPr id="4" name="Slide Number Placeholder 3"/>
          <p:cNvSpPr>
            <a:spLocks noGrp="1"/>
          </p:cNvSpPr>
          <p:nvPr>
            <p:ph type="sldNum" sz="quarter" idx="5"/>
          </p:nvPr>
        </p:nvSpPr>
        <p:spPr/>
        <p:txBody>
          <a:bodyPr/>
          <a:lstStyle/>
          <a:p>
            <a:fld id="{BF13F358-18A2-0447-982C-49D64D39CB24}" type="slidenum">
              <a:rPr lang="en-GB" smtClean="0"/>
              <a:t>9</a:t>
            </a:fld>
            <a:endParaRPr lang="en-GB"/>
          </a:p>
        </p:txBody>
      </p:sp>
    </p:spTree>
    <p:extLst>
      <p:ext uri="{BB962C8B-B14F-4D97-AF65-F5344CB8AC3E}">
        <p14:creationId xmlns:p14="http://schemas.microsoft.com/office/powerpoint/2010/main" val="548448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8A61A-8A74-BC5E-6BF6-FFDFC5B28E4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99B45CB1-C388-2860-523B-686950002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692FACE6-9062-9944-F157-25F581025A0F}"/>
              </a:ext>
            </a:extLst>
          </p:cNvPr>
          <p:cNvSpPr>
            <a:spLocks noGrp="1"/>
          </p:cNvSpPr>
          <p:nvPr>
            <p:ph type="dt" sz="half" idx="10"/>
          </p:nvPr>
        </p:nvSpPr>
        <p:spPr/>
        <p:txBody>
          <a:bodyPr/>
          <a:lstStyle/>
          <a:p>
            <a:fld id="{A51046C3-8410-4742-A370-A484DBEC3116}" type="datetimeFigureOut">
              <a:rPr lang="en-GB" smtClean="0"/>
              <a:t>09/09/2024</a:t>
            </a:fld>
            <a:endParaRPr lang="en-GB"/>
          </a:p>
        </p:txBody>
      </p:sp>
      <p:sp>
        <p:nvSpPr>
          <p:cNvPr id="5" name="Footer Placeholder 4">
            <a:extLst>
              <a:ext uri="{FF2B5EF4-FFF2-40B4-BE49-F238E27FC236}">
                <a16:creationId xmlns:a16="http://schemas.microsoft.com/office/drawing/2014/main" id="{0D809B45-0F47-2DEC-2883-552B8AFCB4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59ABD98-0D45-37E6-1F05-C2AF9DCE74AE}"/>
              </a:ext>
            </a:extLst>
          </p:cNvPr>
          <p:cNvSpPr>
            <a:spLocks noGrp="1"/>
          </p:cNvSpPr>
          <p:nvPr>
            <p:ph type="sldNum" sz="quarter" idx="12"/>
          </p:nvPr>
        </p:nvSpPr>
        <p:spPr/>
        <p:txBody>
          <a:bodyPr/>
          <a:lstStyle/>
          <a:p>
            <a:fld id="{7F330DEB-6730-7D40-9495-DC3808D18084}" type="slidenum">
              <a:rPr lang="en-GB" smtClean="0"/>
              <a:t>‹#›</a:t>
            </a:fld>
            <a:endParaRPr lang="en-GB"/>
          </a:p>
        </p:txBody>
      </p:sp>
    </p:spTree>
    <p:extLst>
      <p:ext uri="{BB962C8B-B14F-4D97-AF65-F5344CB8AC3E}">
        <p14:creationId xmlns:p14="http://schemas.microsoft.com/office/powerpoint/2010/main" val="20587409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50958-A0CA-3C21-6A73-D53516E463E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6F55AF8-05A4-E508-5C9D-C3CE6CCE574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057AD2E-3CEC-0CEB-6845-857615420A20}"/>
              </a:ext>
            </a:extLst>
          </p:cNvPr>
          <p:cNvSpPr>
            <a:spLocks noGrp="1"/>
          </p:cNvSpPr>
          <p:nvPr>
            <p:ph type="dt" sz="half" idx="10"/>
          </p:nvPr>
        </p:nvSpPr>
        <p:spPr/>
        <p:txBody>
          <a:bodyPr/>
          <a:lstStyle/>
          <a:p>
            <a:fld id="{A51046C3-8410-4742-A370-A484DBEC3116}" type="datetimeFigureOut">
              <a:rPr lang="en-GB" smtClean="0"/>
              <a:t>09/09/2024</a:t>
            </a:fld>
            <a:endParaRPr lang="en-GB"/>
          </a:p>
        </p:txBody>
      </p:sp>
      <p:sp>
        <p:nvSpPr>
          <p:cNvPr id="5" name="Footer Placeholder 4">
            <a:extLst>
              <a:ext uri="{FF2B5EF4-FFF2-40B4-BE49-F238E27FC236}">
                <a16:creationId xmlns:a16="http://schemas.microsoft.com/office/drawing/2014/main" id="{AEE062A3-42EB-3B98-E41B-A6E1EF578A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707D26-20A1-1B37-D580-776DB4060333}"/>
              </a:ext>
            </a:extLst>
          </p:cNvPr>
          <p:cNvSpPr>
            <a:spLocks noGrp="1"/>
          </p:cNvSpPr>
          <p:nvPr>
            <p:ph type="sldNum" sz="quarter" idx="12"/>
          </p:nvPr>
        </p:nvSpPr>
        <p:spPr/>
        <p:txBody>
          <a:bodyPr/>
          <a:lstStyle/>
          <a:p>
            <a:fld id="{7F330DEB-6730-7D40-9495-DC3808D18084}" type="slidenum">
              <a:rPr lang="en-GB" smtClean="0"/>
              <a:t>‹#›</a:t>
            </a:fld>
            <a:endParaRPr lang="en-GB"/>
          </a:p>
        </p:txBody>
      </p:sp>
    </p:spTree>
    <p:extLst>
      <p:ext uri="{BB962C8B-B14F-4D97-AF65-F5344CB8AC3E}">
        <p14:creationId xmlns:p14="http://schemas.microsoft.com/office/powerpoint/2010/main" val="2646075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D4386-60BA-BF72-A2D2-6469B73C2CD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6E733988-197A-6861-1BEF-80E2611C3E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E727B3D-C2C4-1614-149A-8CF3DD0406C9}"/>
              </a:ext>
            </a:extLst>
          </p:cNvPr>
          <p:cNvSpPr>
            <a:spLocks noGrp="1"/>
          </p:cNvSpPr>
          <p:nvPr>
            <p:ph type="dt" sz="half" idx="10"/>
          </p:nvPr>
        </p:nvSpPr>
        <p:spPr/>
        <p:txBody>
          <a:bodyPr/>
          <a:lstStyle/>
          <a:p>
            <a:fld id="{A51046C3-8410-4742-A370-A484DBEC3116}" type="datetimeFigureOut">
              <a:rPr lang="en-GB" smtClean="0"/>
              <a:t>09/09/2024</a:t>
            </a:fld>
            <a:endParaRPr lang="en-GB"/>
          </a:p>
        </p:txBody>
      </p:sp>
      <p:sp>
        <p:nvSpPr>
          <p:cNvPr id="5" name="Footer Placeholder 4">
            <a:extLst>
              <a:ext uri="{FF2B5EF4-FFF2-40B4-BE49-F238E27FC236}">
                <a16:creationId xmlns:a16="http://schemas.microsoft.com/office/drawing/2014/main" id="{BE17EE2D-429E-3E90-0140-005FCA1098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F673F4-D1F0-3958-AFBE-CC7663CB6962}"/>
              </a:ext>
            </a:extLst>
          </p:cNvPr>
          <p:cNvSpPr>
            <a:spLocks noGrp="1"/>
          </p:cNvSpPr>
          <p:nvPr>
            <p:ph type="sldNum" sz="quarter" idx="12"/>
          </p:nvPr>
        </p:nvSpPr>
        <p:spPr/>
        <p:txBody>
          <a:bodyPr/>
          <a:lstStyle/>
          <a:p>
            <a:fld id="{7F330DEB-6730-7D40-9495-DC3808D18084}" type="slidenum">
              <a:rPr lang="en-GB" smtClean="0"/>
              <a:t>‹#›</a:t>
            </a:fld>
            <a:endParaRPr lang="en-GB"/>
          </a:p>
        </p:txBody>
      </p:sp>
    </p:spTree>
    <p:extLst>
      <p:ext uri="{BB962C8B-B14F-4D97-AF65-F5344CB8AC3E}">
        <p14:creationId xmlns:p14="http://schemas.microsoft.com/office/powerpoint/2010/main" val="1252226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926FB-97BD-36BB-52F8-ECFA9A1D333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7297169-B069-00BE-C4FA-22F08ABE330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5BB1E6F0-7D45-6AC7-7BA1-D5C4FA8627E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AF9544FA-F33A-62AD-679E-EF6BB341A1D3}"/>
              </a:ext>
            </a:extLst>
          </p:cNvPr>
          <p:cNvSpPr>
            <a:spLocks noGrp="1"/>
          </p:cNvSpPr>
          <p:nvPr>
            <p:ph type="dt" sz="half" idx="10"/>
          </p:nvPr>
        </p:nvSpPr>
        <p:spPr/>
        <p:txBody>
          <a:bodyPr/>
          <a:lstStyle/>
          <a:p>
            <a:fld id="{A51046C3-8410-4742-A370-A484DBEC3116}" type="datetimeFigureOut">
              <a:rPr lang="en-GB" smtClean="0"/>
              <a:t>09/09/2024</a:t>
            </a:fld>
            <a:endParaRPr lang="en-GB"/>
          </a:p>
        </p:txBody>
      </p:sp>
      <p:sp>
        <p:nvSpPr>
          <p:cNvPr id="6" name="Footer Placeholder 5">
            <a:extLst>
              <a:ext uri="{FF2B5EF4-FFF2-40B4-BE49-F238E27FC236}">
                <a16:creationId xmlns:a16="http://schemas.microsoft.com/office/drawing/2014/main" id="{2D43D35D-692F-CB6C-F6DA-6603F1FD7E7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29FD55-CA04-F069-D75D-4116CB84113E}"/>
              </a:ext>
            </a:extLst>
          </p:cNvPr>
          <p:cNvSpPr>
            <a:spLocks noGrp="1"/>
          </p:cNvSpPr>
          <p:nvPr>
            <p:ph type="sldNum" sz="quarter" idx="12"/>
          </p:nvPr>
        </p:nvSpPr>
        <p:spPr/>
        <p:txBody>
          <a:bodyPr/>
          <a:lstStyle/>
          <a:p>
            <a:fld id="{7F330DEB-6730-7D40-9495-DC3808D18084}" type="slidenum">
              <a:rPr lang="en-GB" smtClean="0"/>
              <a:t>‹#›</a:t>
            </a:fld>
            <a:endParaRPr lang="en-GB"/>
          </a:p>
        </p:txBody>
      </p:sp>
    </p:spTree>
    <p:extLst>
      <p:ext uri="{BB962C8B-B14F-4D97-AF65-F5344CB8AC3E}">
        <p14:creationId xmlns:p14="http://schemas.microsoft.com/office/powerpoint/2010/main" val="426981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3EC22-2EB0-2886-7874-8A33D1A58E81}"/>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BB642082-D633-E389-D89A-7790C7A329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3CEF405-33BC-DE1D-1A13-1B723039ADF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BE4F498-0B24-68FE-B992-B59AEBDD14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CEF95D4-9546-DBF7-8EFE-C1DBAEFC7A8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570DDB7D-76A7-833C-0D05-82FCD6BE2C14}"/>
              </a:ext>
            </a:extLst>
          </p:cNvPr>
          <p:cNvSpPr>
            <a:spLocks noGrp="1"/>
          </p:cNvSpPr>
          <p:nvPr>
            <p:ph type="dt" sz="half" idx="10"/>
          </p:nvPr>
        </p:nvSpPr>
        <p:spPr/>
        <p:txBody>
          <a:bodyPr/>
          <a:lstStyle/>
          <a:p>
            <a:fld id="{A51046C3-8410-4742-A370-A484DBEC3116}" type="datetimeFigureOut">
              <a:rPr lang="en-GB" smtClean="0"/>
              <a:t>09/09/2024</a:t>
            </a:fld>
            <a:endParaRPr lang="en-GB"/>
          </a:p>
        </p:txBody>
      </p:sp>
      <p:sp>
        <p:nvSpPr>
          <p:cNvPr id="8" name="Footer Placeholder 7">
            <a:extLst>
              <a:ext uri="{FF2B5EF4-FFF2-40B4-BE49-F238E27FC236}">
                <a16:creationId xmlns:a16="http://schemas.microsoft.com/office/drawing/2014/main" id="{EDE69FB1-BA32-1F08-7DDE-29CC7257DD4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3292224-E7B6-84C9-2D02-997257600A0D}"/>
              </a:ext>
            </a:extLst>
          </p:cNvPr>
          <p:cNvSpPr>
            <a:spLocks noGrp="1"/>
          </p:cNvSpPr>
          <p:nvPr>
            <p:ph type="sldNum" sz="quarter" idx="12"/>
          </p:nvPr>
        </p:nvSpPr>
        <p:spPr/>
        <p:txBody>
          <a:bodyPr/>
          <a:lstStyle/>
          <a:p>
            <a:fld id="{7F330DEB-6730-7D40-9495-DC3808D18084}" type="slidenum">
              <a:rPr lang="en-GB" smtClean="0"/>
              <a:t>‹#›</a:t>
            </a:fld>
            <a:endParaRPr lang="en-GB"/>
          </a:p>
        </p:txBody>
      </p:sp>
    </p:spTree>
    <p:extLst>
      <p:ext uri="{BB962C8B-B14F-4D97-AF65-F5344CB8AC3E}">
        <p14:creationId xmlns:p14="http://schemas.microsoft.com/office/powerpoint/2010/main" val="1897109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411F2-D4CC-9B2D-967C-ED87A7815A64}"/>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1014ACB-E837-CCCA-EA44-E3C1FFE4609B}"/>
              </a:ext>
            </a:extLst>
          </p:cNvPr>
          <p:cNvSpPr>
            <a:spLocks noGrp="1"/>
          </p:cNvSpPr>
          <p:nvPr>
            <p:ph type="dt" sz="half" idx="10"/>
          </p:nvPr>
        </p:nvSpPr>
        <p:spPr/>
        <p:txBody>
          <a:bodyPr/>
          <a:lstStyle/>
          <a:p>
            <a:fld id="{A51046C3-8410-4742-A370-A484DBEC3116}" type="datetimeFigureOut">
              <a:rPr lang="en-GB" smtClean="0"/>
              <a:t>09/09/2024</a:t>
            </a:fld>
            <a:endParaRPr lang="en-GB"/>
          </a:p>
        </p:txBody>
      </p:sp>
      <p:sp>
        <p:nvSpPr>
          <p:cNvPr id="4" name="Footer Placeholder 3">
            <a:extLst>
              <a:ext uri="{FF2B5EF4-FFF2-40B4-BE49-F238E27FC236}">
                <a16:creationId xmlns:a16="http://schemas.microsoft.com/office/drawing/2014/main" id="{358F4C1C-1B55-1C5D-4FC4-B137BB02DFE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89B6552-B6FA-4EB8-D891-89BD19263602}"/>
              </a:ext>
            </a:extLst>
          </p:cNvPr>
          <p:cNvSpPr>
            <a:spLocks noGrp="1"/>
          </p:cNvSpPr>
          <p:nvPr>
            <p:ph type="sldNum" sz="quarter" idx="12"/>
          </p:nvPr>
        </p:nvSpPr>
        <p:spPr/>
        <p:txBody>
          <a:bodyPr/>
          <a:lstStyle/>
          <a:p>
            <a:fld id="{7F330DEB-6730-7D40-9495-DC3808D18084}" type="slidenum">
              <a:rPr lang="en-GB" smtClean="0"/>
              <a:t>‹#›</a:t>
            </a:fld>
            <a:endParaRPr lang="en-GB"/>
          </a:p>
        </p:txBody>
      </p:sp>
    </p:spTree>
    <p:extLst>
      <p:ext uri="{BB962C8B-B14F-4D97-AF65-F5344CB8AC3E}">
        <p14:creationId xmlns:p14="http://schemas.microsoft.com/office/powerpoint/2010/main" val="178972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60FAD2-8516-2484-7EA6-153EEAC0D2A5}"/>
              </a:ext>
            </a:extLst>
          </p:cNvPr>
          <p:cNvSpPr>
            <a:spLocks noGrp="1"/>
          </p:cNvSpPr>
          <p:nvPr>
            <p:ph type="dt" sz="half" idx="10"/>
          </p:nvPr>
        </p:nvSpPr>
        <p:spPr/>
        <p:txBody>
          <a:bodyPr/>
          <a:lstStyle/>
          <a:p>
            <a:fld id="{A51046C3-8410-4742-A370-A484DBEC3116}" type="datetimeFigureOut">
              <a:rPr lang="en-GB" smtClean="0"/>
              <a:t>09/09/2024</a:t>
            </a:fld>
            <a:endParaRPr lang="en-GB"/>
          </a:p>
        </p:txBody>
      </p:sp>
      <p:sp>
        <p:nvSpPr>
          <p:cNvPr id="3" name="Footer Placeholder 2">
            <a:extLst>
              <a:ext uri="{FF2B5EF4-FFF2-40B4-BE49-F238E27FC236}">
                <a16:creationId xmlns:a16="http://schemas.microsoft.com/office/drawing/2014/main" id="{BD889927-9ED2-F209-D64E-95C45FF8C40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3AC11FA-231C-323D-738C-2645EFCCD167}"/>
              </a:ext>
            </a:extLst>
          </p:cNvPr>
          <p:cNvSpPr>
            <a:spLocks noGrp="1"/>
          </p:cNvSpPr>
          <p:nvPr>
            <p:ph type="sldNum" sz="quarter" idx="12"/>
          </p:nvPr>
        </p:nvSpPr>
        <p:spPr/>
        <p:txBody>
          <a:bodyPr/>
          <a:lstStyle/>
          <a:p>
            <a:fld id="{7F330DEB-6730-7D40-9495-DC3808D18084}" type="slidenum">
              <a:rPr lang="en-GB" smtClean="0"/>
              <a:t>‹#›</a:t>
            </a:fld>
            <a:endParaRPr lang="en-GB"/>
          </a:p>
        </p:txBody>
      </p:sp>
    </p:spTree>
    <p:extLst>
      <p:ext uri="{BB962C8B-B14F-4D97-AF65-F5344CB8AC3E}">
        <p14:creationId xmlns:p14="http://schemas.microsoft.com/office/powerpoint/2010/main" val="24041665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464B5-5556-FF95-BB60-E1572AB00A6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80847C6-F5DD-53CC-A3E5-DF5D8FAEB0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6C9324F0-CE7D-AA6F-687C-41D71F68FE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580F871-B608-FB53-CEAD-181AD8E660FF}"/>
              </a:ext>
            </a:extLst>
          </p:cNvPr>
          <p:cNvSpPr>
            <a:spLocks noGrp="1"/>
          </p:cNvSpPr>
          <p:nvPr>
            <p:ph type="dt" sz="half" idx="10"/>
          </p:nvPr>
        </p:nvSpPr>
        <p:spPr/>
        <p:txBody>
          <a:bodyPr/>
          <a:lstStyle/>
          <a:p>
            <a:fld id="{A51046C3-8410-4742-A370-A484DBEC3116}" type="datetimeFigureOut">
              <a:rPr lang="en-GB" smtClean="0"/>
              <a:t>09/09/2024</a:t>
            </a:fld>
            <a:endParaRPr lang="en-GB"/>
          </a:p>
        </p:txBody>
      </p:sp>
      <p:sp>
        <p:nvSpPr>
          <p:cNvPr id="6" name="Footer Placeholder 5">
            <a:extLst>
              <a:ext uri="{FF2B5EF4-FFF2-40B4-BE49-F238E27FC236}">
                <a16:creationId xmlns:a16="http://schemas.microsoft.com/office/drawing/2014/main" id="{4C8CDA07-09C2-1FD3-8C8F-D583C7B47AC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E4CD340-9FCF-95D8-6C78-D3C1C11F75A4}"/>
              </a:ext>
            </a:extLst>
          </p:cNvPr>
          <p:cNvSpPr>
            <a:spLocks noGrp="1"/>
          </p:cNvSpPr>
          <p:nvPr>
            <p:ph type="sldNum" sz="quarter" idx="12"/>
          </p:nvPr>
        </p:nvSpPr>
        <p:spPr/>
        <p:txBody>
          <a:bodyPr/>
          <a:lstStyle/>
          <a:p>
            <a:fld id="{7F330DEB-6730-7D40-9495-DC3808D18084}" type="slidenum">
              <a:rPr lang="en-GB" smtClean="0"/>
              <a:t>‹#›</a:t>
            </a:fld>
            <a:endParaRPr lang="en-GB"/>
          </a:p>
        </p:txBody>
      </p:sp>
    </p:spTree>
    <p:extLst>
      <p:ext uri="{BB962C8B-B14F-4D97-AF65-F5344CB8AC3E}">
        <p14:creationId xmlns:p14="http://schemas.microsoft.com/office/powerpoint/2010/main" val="743974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D93A1-911D-DC0B-329D-1CCAFCAEE7B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FB993007-52AF-9A4B-9D6A-36DB948E19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187AD7A-6633-7113-1633-E5C5E5F4FD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1AA18D7-F10D-5596-5402-7E2F9F66A7DF}"/>
              </a:ext>
            </a:extLst>
          </p:cNvPr>
          <p:cNvSpPr>
            <a:spLocks noGrp="1"/>
          </p:cNvSpPr>
          <p:nvPr>
            <p:ph type="dt" sz="half" idx="10"/>
          </p:nvPr>
        </p:nvSpPr>
        <p:spPr/>
        <p:txBody>
          <a:bodyPr/>
          <a:lstStyle/>
          <a:p>
            <a:fld id="{A51046C3-8410-4742-A370-A484DBEC3116}" type="datetimeFigureOut">
              <a:rPr lang="en-GB" smtClean="0"/>
              <a:t>09/09/2024</a:t>
            </a:fld>
            <a:endParaRPr lang="en-GB"/>
          </a:p>
        </p:txBody>
      </p:sp>
      <p:sp>
        <p:nvSpPr>
          <p:cNvPr id="6" name="Footer Placeholder 5">
            <a:extLst>
              <a:ext uri="{FF2B5EF4-FFF2-40B4-BE49-F238E27FC236}">
                <a16:creationId xmlns:a16="http://schemas.microsoft.com/office/drawing/2014/main" id="{78C7D797-0318-A7A3-EEE4-9B7491AFB9F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4C0AEDA-ACBB-97DF-BEF1-6DAF920C2399}"/>
              </a:ext>
            </a:extLst>
          </p:cNvPr>
          <p:cNvSpPr>
            <a:spLocks noGrp="1"/>
          </p:cNvSpPr>
          <p:nvPr>
            <p:ph type="sldNum" sz="quarter" idx="12"/>
          </p:nvPr>
        </p:nvSpPr>
        <p:spPr/>
        <p:txBody>
          <a:bodyPr/>
          <a:lstStyle/>
          <a:p>
            <a:fld id="{7F330DEB-6730-7D40-9495-DC3808D18084}" type="slidenum">
              <a:rPr lang="en-GB" smtClean="0"/>
              <a:t>‹#›</a:t>
            </a:fld>
            <a:endParaRPr lang="en-GB"/>
          </a:p>
        </p:txBody>
      </p:sp>
    </p:spTree>
    <p:extLst>
      <p:ext uri="{BB962C8B-B14F-4D97-AF65-F5344CB8AC3E}">
        <p14:creationId xmlns:p14="http://schemas.microsoft.com/office/powerpoint/2010/main" val="3920160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05F4E-394C-E547-7C6E-BF172EAA2CC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1039573-8EC0-6E8B-210B-6FA63F4A423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256D245-85CB-2AE7-AE74-B51AE18A32BF}"/>
              </a:ext>
            </a:extLst>
          </p:cNvPr>
          <p:cNvSpPr>
            <a:spLocks noGrp="1"/>
          </p:cNvSpPr>
          <p:nvPr>
            <p:ph type="dt" sz="half" idx="10"/>
          </p:nvPr>
        </p:nvSpPr>
        <p:spPr/>
        <p:txBody>
          <a:bodyPr/>
          <a:lstStyle/>
          <a:p>
            <a:fld id="{A51046C3-8410-4742-A370-A484DBEC3116}" type="datetimeFigureOut">
              <a:rPr lang="en-GB" smtClean="0"/>
              <a:t>09/09/2024</a:t>
            </a:fld>
            <a:endParaRPr lang="en-GB"/>
          </a:p>
        </p:txBody>
      </p:sp>
      <p:sp>
        <p:nvSpPr>
          <p:cNvPr id="5" name="Footer Placeholder 4">
            <a:extLst>
              <a:ext uri="{FF2B5EF4-FFF2-40B4-BE49-F238E27FC236}">
                <a16:creationId xmlns:a16="http://schemas.microsoft.com/office/drawing/2014/main" id="{C60F350B-1EBC-AF93-74B3-3010E253D2E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2E91D21-8CBF-BF28-E007-587DB6A0668C}"/>
              </a:ext>
            </a:extLst>
          </p:cNvPr>
          <p:cNvSpPr>
            <a:spLocks noGrp="1"/>
          </p:cNvSpPr>
          <p:nvPr>
            <p:ph type="sldNum" sz="quarter" idx="12"/>
          </p:nvPr>
        </p:nvSpPr>
        <p:spPr/>
        <p:txBody>
          <a:bodyPr/>
          <a:lstStyle/>
          <a:p>
            <a:fld id="{7F330DEB-6730-7D40-9495-DC3808D18084}" type="slidenum">
              <a:rPr lang="en-GB" smtClean="0"/>
              <a:t>‹#›</a:t>
            </a:fld>
            <a:endParaRPr lang="en-GB"/>
          </a:p>
        </p:txBody>
      </p:sp>
    </p:spTree>
    <p:extLst>
      <p:ext uri="{BB962C8B-B14F-4D97-AF65-F5344CB8AC3E}">
        <p14:creationId xmlns:p14="http://schemas.microsoft.com/office/powerpoint/2010/main" val="2752532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C5BCB0-F0C5-8D84-3478-EA67DF36845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5644457-A77C-3E68-ECEA-4F092CD22AC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F1680AA-DE40-18EB-4108-F9FE682DF820}"/>
              </a:ext>
            </a:extLst>
          </p:cNvPr>
          <p:cNvSpPr>
            <a:spLocks noGrp="1"/>
          </p:cNvSpPr>
          <p:nvPr>
            <p:ph type="dt" sz="half" idx="10"/>
          </p:nvPr>
        </p:nvSpPr>
        <p:spPr/>
        <p:txBody>
          <a:bodyPr/>
          <a:lstStyle/>
          <a:p>
            <a:fld id="{A51046C3-8410-4742-A370-A484DBEC3116}" type="datetimeFigureOut">
              <a:rPr lang="en-GB" smtClean="0"/>
              <a:t>09/09/2024</a:t>
            </a:fld>
            <a:endParaRPr lang="en-GB"/>
          </a:p>
        </p:txBody>
      </p:sp>
      <p:sp>
        <p:nvSpPr>
          <p:cNvPr id="5" name="Footer Placeholder 4">
            <a:extLst>
              <a:ext uri="{FF2B5EF4-FFF2-40B4-BE49-F238E27FC236}">
                <a16:creationId xmlns:a16="http://schemas.microsoft.com/office/drawing/2014/main" id="{ED827F3D-44FC-0453-57A9-526ACB5530B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3A96E11-AC3A-D288-E31B-CEF4A47883A6}"/>
              </a:ext>
            </a:extLst>
          </p:cNvPr>
          <p:cNvSpPr>
            <a:spLocks noGrp="1"/>
          </p:cNvSpPr>
          <p:nvPr>
            <p:ph type="sldNum" sz="quarter" idx="12"/>
          </p:nvPr>
        </p:nvSpPr>
        <p:spPr/>
        <p:txBody>
          <a:bodyPr/>
          <a:lstStyle/>
          <a:p>
            <a:fld id="{7F330DEB-6730-7D40-9495-DC3808D18084}" type="slidenum">
              <a:rPr lang="en-GB" smtClean="0"/>
              <a:t>‹#›</a:t>
            </a:fld>
            <a:endParaRPr lang="en-GB"/>
          </a:p>
        </p:txBody>
      </p:sp>
    </p:spTree>
    <p:extLst>
      <p:ext uri="{BB962C8B-B14F-4D97-AF65-F5344CB8AC3E}">
        <p14:creationId xmlns:p14="http://schemas.microsoft.com/office/powerpoint/2010/main" val="1254931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D659087-7D1D-4311-BB7C-A7E34EDBB6A7}"/>
              </a:ext>
            </a:extLst>
          </p:cNvPr>
          <p:cNvSpPr/>
          <p:nvPr userDrawn="1"/>
        </p:nvSpPr>
        <p:spPr>
          <a:xfrm>
            <a:off x="4" y="591678"/>
            <a:ext cx="929639" cy="6266322"/>
          </a:xfrm>
          <a:prstGeom prst="rect">
            <a:avLst/>
          </a:prstGeom>
          <a:solidFill>
            <a:schemeClr val="bg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cxnSp>
        <p:nvCxnSpPr>
          <p:cNvPr id="7" name="Straight Connector 6">
            <a:hlinkClick r:id="" action="ppaction://hlinkshowjump?jump=previousslide"/>
            <a:extLst>
              <a:ext uri="{FF2B5EF4-FFF2-40B4-BE49-F238E27FC236}">
                <a16:creationId xmlns:a16="http://schemas.microsoft.com/office/drawing/2014/main" id="{6315528F-223F-4458-B0A8-403B9B707005}"/>
              </a:ext>
            </a:extLst>
          </p:cNvPr>
          <p:cNvCxnSpPr>
            <a:cxnSpLocks/>
          </p:cNvCxnSpPr>
          <p:nvPr userDrawn="1"/>
        </p:nvCxnSpPr>
        <p:spPr>
          <a:xfrm>
            <a:off x="464818" y="2600326"/>
            <a:ext cx="0" cy="392526"/>
          </a:xfrm>
          <a:prstGeom prst="line">
            <a:avLst/>
          </a:prstGeom>
          <a:ln w="22225" cap="rnd">
            <a:solidFill>
              <a:schemeClr val="bg1"/>
            </a:solidFill>
            <a:bevel/>
            <a:headEnd type="arrow" w="lg" len="sm"/>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C1E1D71-C4EF-4974-A6C6-407C81CD7878}"/>
              </a:ext>
            </a:extLst>
          </p:cNvPr>
          <p:cNvSpPr txBox="1"/>
          <p:nvPr userDrawn="1"/>
        </p:nvSpPr>
        <p:spPr>
          <a:xfrm>
            <a:off x="229870" y="3286925"/>
            <a:ext cx="469899" cy="289695"/>
          </a:xfrm>
          <a:prstGeom prst="rect">
            <a:avLst/>
          </a:prstGeom>
          <a:noFill/>
        </p:spPr>
        <p:txBody>
          <a:bodyPr wrap="square" rtlCol="0">
            <a:spAutoFit/>
          </a:bodyPr>
          <a:lstStyle/>
          <a:p>
            <a:pPr algn="ctr">
              <a:lnSpc>
                <a:spcPts val="1700"/>
              </a:lnSpc>
            </a:pPr>
            <a:fld id="{AAF76C2E-3DE2-4DE0-81B1-DFEAA0349E4E}" type="slidenum">
              <a:rPr lang="en-US" sz="1001" b="0" i="0" smtClean="0">
                <a:solidFill>
                  <a:schemeClr val="bg1">
                    <a:lumMod val="95000"/>
                  </a:schemeClr>
                </a:solidFill>
                <a:effectLst/>
              </a:rPr>
              <a:pPr algn="ctr">
                <a:lnSpc>
                  <a:spcPts val="1700"/>
                </a:lnSpc>
              </a:pPr>
              <a:t>‹#›</a:t>
            </a:fld>
            <a:endParaRPr lang="en-IN" sz="1001">
              <a:solidFill>
                <a:schemeClr val="bg1">
                  <a:lumMod val="95000"/>
                </a:schemeClr>
              </a:solidFill>
            </a:endParaRPr>
          </a:p>
        </p:txBody>
      </p:sp>
      <p:cxnSp>
        <p:nvCxnSpPr>
          <p:cNvPr id="13" name="Straight Connector 12">
            <a:hlinkClick r:id="" action="ppaction://hlinkshowjump?jump=nextslide"/>
            <a:extLst>
              <a:ext uri="{FF2B5EF4-FFF2-40B4-BE49-F238E27FC236}">
                <a16:creationId xmlns:a16="http://schemas.microsoft.com/office/drawing/2014/main" id="{EDE03FCE-1F9E-4072-B6B7-F633390BA192}"/>
              </a:ext>
            </a:extLst>
          </p:cNvPr>
          <p:cNvCxnSpPr>
            <a:cxnSpLocks/>
          </p:cNvCxnSpPr>
          <p:nvPr userDrawn="1"/>
        </p:nvCxnSpPr>
        <p:spPr>
          <a:xfrm flipV="1">
            <a:off x="464818" y="3869914"/>
            <a:ext cx="0" cy="387763"/>
          </a:xfrm>
          <a:prstGeom prst="line">
            <a:avLst/>
          </a:prstGeom>
          <a:ln w="22225" cap="rnd">
            <a:solidFill>
              <a:schemeClr val="bg1"/>
            </a:solidFill>
            <a:bevel/>
            <a:headEnd type="arrow" w="lg" len="sm"/>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3DB66F2B-CD1B-40F2-B947-282364FFE083}"/>
              </a:ext>
            </a:extLst>
          </p:cNvPr>
          <p:cNvSpPr/>
          <p:nvPr userDrawn="1"/>
        </p:nvSpPr>
        <p:spPr>
          <a:xfrm>
            <a:off x="4" y="4"/>
            <a:ext cx="929639" cy="5952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1"/>
          </a:p>
        </p:txBody>
      </p:sp>
      <p:pic>
        <p:nvPicPr>
          <p:cNvPr id="8" name="Picture 7" descr="Logo&#10;&#10;Description automatically generated">
            <a:extLst>
              <a:ext uri="{FF2B5EF4-FFF2-40B4-BE49-F238E27FC236}">
                <a16:creationId xmlns:a16="http://schemas.microsoft.com/office/drawing/2014/main" id="{7BD63A5A-0522-4D30-AC4F-9653C9C9D61B}"/>
              </a:ext>
            </a:extLst>
          </p:cNvPr>
          <p:cNvPicPr>
            <a:picLocks noChangeAspect="1"/>
          </p:cNvPicPr>
          <p:nvPr userDrawn="1"/>
        </p:nvPicPr>
        <p:blipFill rotWithShape="1">
          <a:blip r:embed="rId2">
            <a:lum bright="70000" contrast="-70000"/>
            <a:extLst>
              <a:ext uri="{28A0092B-C50C-407E-A947-70E740481C1C}">
                <a14:useLocalDpi xmlns:a14="http://schemas.microsoft.com/office/drawing/2010/main" val="0"/>
              </a:ext>
            </a:extLst>
          </a:blip>
          <a:srcRect l="12390" t="22883" r="62832" b="22971"/>
          <a:stretch/>
        </p:blipFill>
        <p:spPr>
          <a:xfrm>
            <a:off x="214655" y="38377"/>
            <a:ext cx="500332" cy="514924"/>
          </a:xfrm>
          <a:prstGeom prst="rect">
            <a:avLst/>
          </a:prstGeom>
        </p:spPr>
      </p:pic>
      <p:pic>
        <p:nvPicPr>
          <p:cNvPr id="10" name="Picture 9" descr="Logo&#10;&#10;Description automatically generated">
            <a:extLst>
              <a:ext uri="{FF2B5EF4-FFF2-40B4-BE49-F238E27FC236}">
                <a16:creationId xmlns:a16="http://schemas.microsoft.com/office/drawing/2014/main" id="{AB4E10EA-3713-4D8F-90D3-DAB4B1ACA6C5}"/>
              </a:ext>
            </a:extLst>
          </p:cNvPr>
          <p:cNvPicPr>
            <a:picLocks noChangeAspect="1"/>
          </p:cNvPicPr>
          <p:nvPr userDrawn="1"/>
        </p:nvPicPr>
        <p:blipFill>
          <a:blip r:embed="rId3"/>
          <a:stretch>
            <a:fillRect/>
          </a:stretch>
        </p:blipFill>
        <p:spPr>
          <a:xfrm>
            <a:off x="-152945" y="6379726"/>
            <a:ext cx="1235532" cy="580748"/>
          </a:xfrm>
          <a:prstGeom prst="rect">
            <a:avLst/>
          </a:prstGeom>
        </p:spPr>
      </p:pic>
    </p:spTree>
    <p:extLst>
      <p:ext uri="{BB962C8B-B14F-4D97-AF65-F5344CB8AC3E}">
        <p14:creationId xmlns:p14="http://schemas.microsoft.com/office/powerpoint/2010/main" val="33944961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85BA7F-5885-1452-B83B-E700256699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2CC6659C-C905-74B1-877E-7D8A03D313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F392E8F-DC26-EAF7-6489-3A8461AE23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1046C3-8410-4742-A370-A484DBEC3116}" type="datetimeFigureOut">
              <a:rPr lang="en-GB" smtClean="0"/>
              <a:t>09/09/2024</a:t>
            </a:fld>
            <a:endParaRPr lang="en-GB"/>
          </a:p>
        </p:txBody>
      </p:sp>
      <p:sp>
        <p:nvSpPr>
          <p:cNvPr id="5" name="Footer Placeholder 4">
            <a:extLst>
              <a:ext uri="{FF2B5EF4-FFF2-40B4-BE49-F238E27FC236}">
                <a16:creationId xmlns:a16="http://schemas.microsoft.com/office/drawing/2014/main" id="{8A86C776-1C87-E423-5307-ED9A7CE346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40E1F43-892A-8453-62CB-B1A03DA79E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330DEB-6730-7D40-9495-DC3808D18084}" type="slidenum">
              <a:rPr lang="en-GB" smtClean="0"/>
              <a:t>‹#›</a:t>
            </a:fld>
            <a:endParaRPr lang="en-GB"/>
          </a:p>
        </p:txBody>
      </p:sp>
    </p:spTree>
    <p:extLst>
      <p:ext uri="{BB962C8B-B14F-4D97-AF65-F5344CB8AC3E}">
        <p14:creationId xmlns:p14="http://schemas.microsoft.com/office/powerpoint/2010/main" val="1018607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e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5">
            <a:extLst>
              <a:ext uri="{FF2B5EF4-FFF2-40B4-BE49-F238E27FC236}">
                <a16:creationId xmlns:a16="http://schemas.microsoft.com/office/drawing/2014/main" id="{9F86A283-DAE8-36C8-41CF-4BD21F2E8E87}"/>
              </a:ext>
            </a:extLst>
          </p:cNvPr>
          <p:cNvSpPr>
            <a:spLocks/>
          </p:cNvSpPr>
          <p:nvPr/>
        </p:nvSpPr>
        <p:spPr>
          <a:xfrm>
            <a:off x="5" y="2"/>
            <a:ext cx="1219199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sp>
        <p:nvSpPr>
          <p:cNvPr id="15" name="TextBox 14">
            <a:extLst>
              <a:ext uri="{FF2B5EF4-FFF2-40B4-BE49-F238E27FC236}">
                <a16:creationId xmlns:a16="http://schemas.microsoft.com/office/drawing/2014/main" id="{975145B2-369B-E644-9367-DAA7B031704F}"/>
              </a:ext>
            </a:extLst>
          </p:cNvPr>
          <p:cNvSpPr txBox="1"/>
          <p:nvPr/>
        </p:nvSpPr>
        <p:spPr>
          <a:xfrm>
            <a:off x="2504202" y="2928952"/>
            <a:ext cx="6804455" cy="500048"/>
          </a:xfrm>
          <a:prstGeom prst="rect">
            <a:avLst/>
          </a:prstGeom>
          <a:noFill/>
        </p:spPr>
        <p:txBody>
          <a:bodyPr wrap="square" rtlCol="0">
            <a:spAutoFit/>
          </a:bodyPr>
          <a:lstStyle/>
          <a:p>
            <a:pPr>
              <a:lnSpc>
                <a:spcPts val="2500"/>
              </a:lnSpc>
            </a:pPr>
            <a:r>
              <a:rPr lang="en-US" sz="4400" b="1" dirty="0">
                <a:solidFill>
                  <a:srgbClr val="1B252E"/>
                </a:solidFill>
                <a:latin typeface="Avenir Black" panose="02000503020000020003" pitchFamily="2" charset="0"/>
                <a:cs typeface="Calibri" panose="020F0502020204030204" pitchFamily="34" charset="0"/>
              </a:rPr>
              <a:t>The Noise Before Defeat</a:t>
            </a:r>
          </a:p>
        </p:txBody>
      </p:sp>
      <p:pic>
        <p:nvPicPr>
          <p:cNvPr id="17" name="Picture 16">
            <a:extLst>
              <a:ext uri="{FF2B5EF4-FFF2-40B4-BE49-F238E27FC236}">
                <a16:creationId xmlns:a16="http://schemas.microsoft.com/office/drawing/2014/main" id="{2D7837D8-6589-7144-809C-ADC8E042D752}"/>
              </a:ext>
            </a:extLst>
          </p:cNvPr>
          <p:cNvPicPr>
            <a:picLocks noChangeAspect="1"/>
          </p:cNvPicPr>
          <p:nvPr/>
        </p:nvPicPr>
        <p:blipFill>
          <a:blip r:embed="rId3"/>
          <a:stretch>
            <a:fillRect/>
          </a:stretch>
        </p:blipFill>
        <p:spPr>
          <a:xfrm>
            <a:off x="5322086" y="1869775"/>
            <a:ext cx="1168686" cy="318734"/>
          </a:xfrm>
          <a:prstGeom prst="rect">
            <a:avLst/>
          </a:prstGeom>
        </p:spPr>
      </p:pic>
      <p:sp>
        <p:nvSpPr>
          <p:cNvPr id="2" name="TextBox 1">
            <a:extLst>
              <a:ext uri="{FF2B5EF4-FFF2-40B4-BE49-F238E27FC236}">
                <a16:creationId xmlns:a16="http://schemas.microsoft.com/office/drawing/2014/main" id="{EA3C13CB-A4F0-2D89-547B-3FAE33424B16}"/>
              </a:ext>
            </a:extLst>
          </p:cNvPr>
          <p:cNvSpPr txBox="1"/>
          <p:nvPr/>
        </p:nvSpPr>
        <p:spPr>
          <a:xfrm>
            <a:off x="2504202" y="3429000"/>
            <a:ext cx="7182297" cy="646331"/>
          </a:xfrm>
          <a:prstGeom prst="rect">
            <a:avLst/>
          </a:prstGeom>
          <a:noFill/>
        </p:spPr>
        <p:txBody>
          <a:bodyPr wrap="square" rtlCol="0">
            <a:spAutoFit/>
          </a:bodyPr>
          <a:lstStyle/>
          <a:p>
            <a:r>
              <a:rPr lang="en-GB" dirty="0">
                <a:latin typeface="Avenir Book" panose="02000503020000020003" pitchFamily="2" charset="0"/>
              </a:rPr>
              <a:t> The Need For Holistic And Strategic Threat Management Programs</a:t>
            </a:r>
          </a:p>
          <a:p>
            <a:endParaRPr lang="en-GB" dirty="0">
              <a:latin typeface="Avenir Book" panose="02000503020000020003" pitchFamily="2" charset="0"/>
            </a:endParaRPr>
          </a:p>
        </p:txBody>
      </p:sp>
    </p:spTree>
    <p:extLst>
      <p:ext uri="{BB962C8B-B14F-4D97-AF65-F5344CB8AC3E}">
        <p14:creationId xmlns:p14="http://schemas.microsoft.com/office/powerpoint/2010/main" val="1072732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5">
            <a:extLst>
              <a:ext uri="{FF2B5EF4-FFF2-40B4-BE49-F238E27FC236}">
                <a16:creationId xmlns:a16="http://schemas.microsoft.com/office/drawing/2014/main" id="{3328A463-3E31-1B4D-9AFA-6104600D7BAC}"/>
              </a:ext>
            </a:extLst>
          </p:cNvPr>
          <p:cNvSpPr>
            <a:spLocks/>
          </p:cNvSpPr>
          <p:nvPr/>
        </p:nvSpPr>
        <p:spPr>
          <a:xfrm>
            <a:off x="5" y="2"/>
            <a:ext cx="1219199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pic>
        <p:nvPicPr>
          <p:cNvPr id="17" name="Picture 16">
            <a:extLst>
              <a:ext uri="{FF2B5EF4-FFF2-40B4-BE49-F238E27FC236}">
                <a16:creationId xmlns:a16="http://schemas.microsoft.com/office/drawing/2014/main" id="{2D7837D8-6589-7144-809C-ADC8E042D752}"/>
              </a:ext>
            </a:extLst>
          </p:cNvPr>
          <p:cNvPicPr>
            <a:picLocks noChangeAspect="1"/>
          </p:cNvPicPr>
          <p:nvPr/>
        </p:nvPicPr>
        <p:blipFill>
          <a:blip r:embed="rId3"/>
          <a:stretch>
            <a:fillRect/>
          </a:stretch>
        </p:blipFill>
        <p:spPr>
          <a:xfrm>
            <a:off x="2514456" y="207560"/>
            <a:ext cx="1168686" cy="318734"/>
          </a:xfrm>
          <a:prstGeom prst="rect">
            <a:avLst/>
          </a:prstGeom>
        </p:spPr>
      </p:pic>
      <p:sp>
        <p:nvSpPr>
          <p:cNvPr id="4" name="TextBox 3">
            <a:extLst>
              <a:ext uri="{FF2B5EF4-FFF2-40B4-BE49-F238E27FC236}">
                <a16:creationId xmlns:a16="http://schemas.microsoft.com/office/drawing/2014/main" id="{B08EAC02-918D-B344-706E-EA6A858BE34F}"/>
              </a:ext>
            </a:extLst>
          </p:cNvPr>
          <p:cNvSpPr txBox="1"/>
          <p:nvPr/>
        </p:nvSpPr>
        <p:spPr>
          <a:xfrm>
            <a:off x="352462" y="920429"/>
            <a:ext cx="5492675" cy="1815882"/>
          </a:xfrm>
          <a:prstGeom prst="rect">
            <a:avLst/>
          </a:prstGeom>
          <a:noFill/>
        </p:spPr>
        <p:txBody>
          <a:bodyPr wrap="square" rtlCol="0">
            <a:spAutoFit/>
          </a:bodyPr>
          <a:lstStyle/>
          <a:p>
            <a:r>
              <a:rPr lang="en-GB" sz="2800" dirty="0">
                <a:latin typeface="Avenir Book" panose="02000503020000020003" pitchFamily="2" charset="0"/>
              </a:rPr>
              <a:t>“</a:t>
            </a:r>
            <a:r>
              <a:rPr lang="en-GB" sz="2800" b="1" dirty="0">
                <a:latin typeface="Avenir Book" panose="02000503020000020003" pitchFamily="2" charset="0"/>
              </a:rPr>
              <a:t>Strategy</a:t>
            </a:r>
            <a:r>
              <a:rPr lang="en-GB" sz="2800" dirty="0">
                <a:latin typeface="Avenir Book" panose="02000503020000020003" pitchFamily="2" charset="0"/>
              </a:rPr>
              <a:t> without tactics is the slowest route to victory. </a:t>
            </a:r>
            <a:r>
              <a:rPr lang="en-GB" sz="2800" b="1" dirty="0">
                <a:latin typeface="Avenir Book" panose="02000503020000020003" pitchFamily="2" charset="0"/>
              </a:rPr>
              <a:t>Tactics</a:t>
            </a:r>
            <a:r>
              <a:rPr lang="en-GB" sz="2800" dirty="0">
                <a:latin typeface="Avenir Book" panose="02000503020000020003" pitchFamily="2" charset="0"/>
              </a:rPr>
              <a:t> without strategy is the noise before defeat”. </a:t>
            </a:r>
          </a:p>
        </p:txBody>
      </p:sp>
      <p:pic>
        <p:nvPicPr>
          <p:cNvPr id="1026" name="Picture 2" descr="Sun Tzu | Art of War, Strategy, &amp; Quotes | Britannica">
            <a:extLst>
              <a:ext uri="{FF2B5EF4-FFF2-40B4-BE49-F238E27FC236}">
                <a16:creationId xmlns:a16="http://schemas.microsoft.com/office/drawing/2014/main" id="{1ACA1203-84A7-6EBF-3B3B-FB82D6B382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9187" y="-2"/>
            <a:ext cx="59928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2068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5">
            <a:extLst>
              <a:ext uri="{FF2B5EF4-FFF2-40B4-BE49-F238E27FC236}">
                <a16:creationId xmlns:a16="http://schemas.microsoft.com/office/drawing/2014/main" id="{3328A463-3E31-1B4D-9AFA-6104600D7BAC}"/>
              </a:ext>
            </a:extLst>
          </p:cNvPr>
          <p:cNvSpPr>
            <a:spLocks/>
          </p:cNvSpPr>
          <p:nvPr/>
        </p:nvSpPr>
        <p:spPr>
          <a:xfrm>
            <a:off x="5" y="2"/>
            <a:ext cx="1219199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pic>
        <p:nvPicPr>
          <p:cNvPr id="17" name="Picture 16">
            <a:extLst>
              <a:ext uri="{FF2B5EF4-FFF2-40B4-BE49-F238E27FC236}">
                <a16:creationId xmlns:a16="http://schemas.microsoft.com/office/drawing/2014/main" id="{2D7837D8-6589-7144-809C-ADC8E042D752}"/>
              </a:ext>
            </a:extLst>
          </p:cNvPr>
          <p:cNvPicPr>
            <a:picLocks noChangeAspect="1"/>
          </p:cNvPicPr>
          <p:nvPr/>
        </p:nvPicPr>
        <p:blipFill>
          <a:blip r:embed="rId3"/>
          <a:stretch>
            <a:fillRect/>
          </a:stretch>
        </p:blipFill>
        <p:spPr>
          <a:xfrm>
            <a:off x="8861320" y="214138"/>
            <a:ext cx="1168686" cy="318734"/>
          </a:xfrm>
          <a:prstGeom prst="rect">
            <a:avLst/>
          </a:prstGeom>
        </p:spPr>
      </p:pic>
      <p:sp>
        <p:nvSpPr>
          <p:cNvPr id="4" name="TextBox 3">
            <a:extLst>
              <a:ext uri="{FF2B5EF4-FFF2-40B4-BE49-F238E27FC236}">
                <a16:creationId xmlns:a16="http://schemas.microsoft.com/office/drawing/2014/main" id="{B08EAC02-918D-B344-706E-EA6A858BE34F}"/>
              </a:ext>
            </a:extLst>
          </p:cNvPr>
          <p:cNvSpPr txBox="1"/>
          <p:nvPr/>
        </p:nvSpPr>
        <p:spPr>
          <a:xfrm>
            <a:off x="7283669" y="747008"/>
            <a:ext cx="5492675" cy="954107"/>
          </a:xfrm>
          <a:prstGeom prst="rect">
            <a:avLst/>
          </a:prstGeom>
          <a:noFill/>
        </p:spPr>
        <p:txBody>
          <a:bodyPr wrap="square" rtlCol="0">
            <a:spAutoFit/>
          </a:bodyPr>
          <a:lstStyle/>
          <a:p>
            <a:r>
              <a:rPr lang="en-GB" sz="2800" dirty="0">
                <a:latin typeface="Avenir Book" panose="02000503020000020003" pitchFamily="2" charset="0"/>
              </a:rPr>
              <a:t>This is what the noise before defeat looks like.</a:t>
            </a:r>
          </a:p>
        </p:txBody>
      </p:sp>
      <p:pic>
        <p:nvPicPr>
          <p:cNvPr id="10" name="Picture 9" descr="A person walking on a beach&#10;&#10;Description automatically generated">
            <a:extLst>
              <a:ext uri="{FF2B5EF4-FFF2-40B4-BE49-F238E27FC236}">
                <a16:creationId xmlns:a16="http://schemas.microsoft.com/office/drawing/2014/main" id="{1C252B65-D56F-ADB0-3046-024D7CFD31CC}"/>
              </a:ext>
            </a:extLst>
          </p:cNvPr>
          <p:cNvPicPr>
            <a:picLocks noChangeAspect="1"/>
          </p:cNvPicPr>
          <p:nvPr/>
        </p:nvPicPr>
        <p:blipFill>
          <a:blip r:embed="rId4"/>
          <a:stretch>
            <a:fillRect/>
          </a:stretch>
        </p:blipFill>
        <p:spPr>
          <a:xfrm>
            <a:off x="0" y="0"/>
            <a:ext cx="6858000" cy="6858000"/>
          </a:xfrm>
          <a:prstGeom prst="rect">
            <a:avLst/>
          </a:prstGeom>
        </p:spPr>
      </p:pic>
    </p:spTree>
    <p:extLst>
      <p:ext uri="{BB962C8B-B14F-4D97-AF65-F5344CB8AC3E}">
        <p14:creationId xmlns:p14="http://schemas.microsoft.com/office/powerpoint/2010/main" val="356255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5">
            <a:extLst>
              <a:ext uri="{FF2B5EF4-FFF2-40B4-BE49-F238E27FC236}">
                <a16:creationId xmlns:a16="http://schemas.microsoft.com/office/drawing/2014/main" id="{3328A463-3E31-1B4D-9AFA-6104600D7BAC}"/>
              </a:ext>
            </a:extLst>
          </p:cNvPr>
          <p:cNvSpPr>
            <a:spLocks/>
          </p:cNvSpPr>
          <p:nvPr/>
        </p:nvSpPr>
        <p:spPr>
          <a:xfrm>
            <a:off x="5" y="2"/>
            <a:ext cx="1219199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dirty="0"/>
          </a:p>
        </p:txBody>
      </p:sp>
      <p:pic>
        <p:nvPicPr>
          <p:cNvPr id="17" name="Picture 16">
            <a:extLst>
              <a:ext uri="{FF2B5EF4-FFF2-40B4-BE49-F238E27FC236}">
                <a16:creationId xmlns:a16="http://schemas.microsoft.com/office/drawing/2014/main" id="{2D7837D8-6589-7144-809C-ADC8E042D752}"/>
              </a:ext>
            </a:extLst>
          </p:cNvPr>
          <p:cNvPicPr>
            <a:picLocks noChangeAspect="1"/>
          </p:cNvPicPr>
          <p:nvPr/>
        </p:nvPicPr>
        <p:blipFill>
          <a:blip r:embed="rId3"/>
          <a:stretch>
            <a:fillRect/>
          </a:stretch>
        </p:blipFill>
        <p:spPr>
          <a:xfrm>
            <a:off x="2170659" y="328459"/>
            <a:ext cx="1168686" cy="318734"/>
          </a:xfrm>
          <a:prstGeom prst="rect">
            <a:avLst/>
          </a:prstGeom>
        </p:spPr>
      </p:pic>
      <p:sp>
        <p:nvSpPr>
          <p:cNvPr id="4" name="TextBox 3">
            <a:extLst>
              <a:ext uri="{FF2B5EF4-FFF2-40B4-BE49-F238E27FC236}">
                <a16:creationId xmlns:a16="http://schemas.microsoft.com/office/drawing/2014/main" id="{B08EAC02-918D-B344-706E-EA6A858BE34F}"/>
              </a:ext>
            </a:extLst>
          </p:cNvPr>
          <p:cNvSpPr txBox="1"/>
          <p:nvPr/>
        </p:nvSpPr>
        <p:spPr>
          <a:xfrm>
            <a:off x="368227" y="868545"/>
            <a:ext cx="5492675" cy="523220"/>
          </a:xfrm>
          <a:prstGeom prst="rect">
            <a:avLst/>
          </a:prstGeom>
          <a:noFill/>
        </p:spPr>
        <p:txBody>
          <a:bodyPr wrap="square" rtlCol="0">
            <a:spAutoFit/>
          </a:bodyPr>
          <a:lstStyle/>
          <a:p>
            <a:r>
              <a:rPr lang="en-GB" sz="2800" b="1" dirty="0">
                <a:latin typeface="Avenir Book" panose="02000503020000020003" pitchFamily="2" charset="0"/>
              </a:rPr>
              <a:t>The Epistemology of Strategy </a:t>
            </a:r>
          </a:p>
        </p:txBody>
      </p:sp>
      <p:sp>
        <p:nvSpPr>
          <p:cNvPr id="2" name="TextBox 1">
            <a:extLst>
              <a:ext uri="{FF2B5EF4-FFF2-40B4-BE49-F238E27FC236}">
                <a16:creationId xmlns:a16="http://schemas.microsoft.com/office/drawing/2014/main" id="{07AF6146-7596-4F88-C069-79E656245D87}"/>
              </a:ext>
            </a:extLst>
          </p:cNvPr>
          <p:cNvSpPr txBox="1"/>
          <p:nvPr/>
        </p:nvSpPr>
        <p:spPr>
          <a:xfrm>
            <a:off x="368227" y="1878114"/>
            <a:ext cx="6505539" cy="2246769"/>
          </a:xfrm>
          <a:prstGeom prst="rect">
            <a:avLst/>
          </a:prstGeom>
          <a:noFill/>
        </p:spPr>
        <p:txBody>
          <a:bodyPr wrap="square" rtlCol="0">
            <a:spAutoFit/>
          </a:bodyPr>
          <a:lstStyle/>
          <a:p>
            <a:r>
              <a:rPr lang="en-ZA" sz="2800" b="1" dirty="0">
                <a:latin typeface="Avenir Book" panose="02000503020000020003" pitchFamily="2" charset="0"/>
              </a:rPr>
              <a:t>Strategy</a:t>
            </a:r>
            <a:r>
              <a:rPr lang="en-ZA" sz="2800" dirty="0">
                <a:latin typeface="Avenir Book" panose="02000503020000020003" pitchFamily="2" charset="0"/>
              </a:rPr>
              <a:t>, in warfare, is the science or art of employing all the military, economic, political, and other resources of a country to achieve the objects of war.</a:t>
            </a:r>
            <a:endParaRPr lang="en-GB" sz="2800" dirty="0">
              <a:latin typeface="Avenir Book" panose="02000503020000020003" pitchFamily="2" charset="0"/>
            </a:endParaRPr>
          </a:p>
        </p:txBody>
      </p:sp>
      <p:pic>
        <p:nvPicPr>
          <p:cNvPr id="2050" name="Picture 2" descr="Carl von Clausewitz - Wikipedia">
            <a:extLst>
              <a:ext uri="{FF2B5EF4-FFF2-40B4-BE49-F238E27FC236}">
                <a16:creationId xmlns:a16="http://schemas.microsoft.com/office/drawing/2014/main" id="{B673A56F-DCF1-42CF-2100-196CED0636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8685" y="0"/>
            <a:ext cx="55149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105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5">
            <a:extLst>
              <a:ext uri="{FF2B5EF4-FFF2-40B4-BE49-F238E27FC236}">
                <a16:creationId xmlns:a16="http://schemas.microsoft.com/office/drawing/2014/main" id="{3328A463-3E31-1B4D-9AFA-6104600D7BAC}"/>
              </a:ext>
            </a:extLst>
          </p:cNvPr>
          <p:cNvSpPr>
            <a:spLocks/>
          </p:cNvSpPr>
          <p:nvPr/>
        </p:nvSpPr>
        <p:spPr>
          <a:xfrm>
            <a:off x="5" y="2"/>
            <a:ext cx="1219199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15" name="TextBox 14">
            <a:extLst>
              <a:ext uri="{FF2B5EF4-FFF2-40B4-BE49-F238E27FC236}">
                <a16:creationId xmlns:a16="http://schemas.microsoft.com/office/drawing/2014/main" id="{975145B2-369B-E644-9367-DAA7B031704F}"/>
              </a:ext>
            </a:extLst>
          </p:cNvPr>
          <p:cNvSpPr txBox="1"/>
          <p:nvPr/>
        </p:nvSpPr>
        <p:spPr>
          <a:xfrm>
            <a:off x="2126403" y="3492237"/>
            <a:ext cx="11315982" cy="502061"/>
          </a:xfrm>
          <a:prstGeom prst="rect">
            <a:avLst/>
          </a:prstGeom>
          <a:noFill/>
        </p:spPr>
        <p:txBody>
          <a:bodyPr wrap="square" rtlCol="0">
            <a:spAutoFit/>
          </a:bodyPr>
          <a:lstStyle/>
          <a:p>
            <a:pPr>
              <a:lnSpc>
                <a:spcPts val="2500"/>
              </a:lnSpc>
            </a:pPr>
            <a:r>
              <a:rPr lang="en-US" sz="4400" b="1">
                <a:solidFill>
                  <a:srgbClr val="1B252E"/>
                </a:solidFill>
                <a:latin typeface="Avenir Black" panose="02000503020000020003" pitchFamily="2" charset="0"/>
                <a:cs typeface="Calibri" panose="020F0502020204030204" pitchFamily="34" charset="0"/>
              </a:rPr>
              <a:t>Probability x Impact  = Risk</a:t>
            </a:r>
          </a:p>
        </p:txBody>
      </p:sp>
      <p:pic>
        <p:nvPicPr>
          <p:cNvPr id="17" name="Picture 16">
            <a:extLst>
              <a:ext uri="{FF2B5EF4-FFF2-40B4-BE49-F238E27FC236}">
                <a16:creationId xmlns:a16="http://schemas.microsoft.com/office/drawing/2014/main" id="{2D7837D8-6589-7144-809C-ADC8E042D752}"/>
              </a:ext>
            </a:extLst>
          </p:cNvPr>
          <p:cNvPicPr>
            <a:picLocks noChangeAspect="1"/>
          </p:cNvPicPr>
          <p:nvPr/>
        </p:nvPicPr>
        <p:blipFill>
          <a:blip r:embed="rId3"/>
          <a:stretch>
            <a:fillRect/>
          </a:stretch>
        </p:blipFill>
        <p:spPr>
          <a:xfrm>
            <a:off x="5511657" y="309800"/>
            <a:ext cx="1168686" cy="318734"/>
          </a:xfrm>
          <a:prstGeom prst="rect">
            <a:avLst/>
          </a:prstGeom>
        </p:spPr>
      </p:pic>
      <p:sp>
        <p:nvSpPr>
          <p:cNvPr id="2" name="TextBox 1">
            <a:extLst>
              <a:ext uri="{FF2B5EF4-FFF2-40B4-BE49-F238E27FC236}">
                <a16:creationId xmlns:a16="http://schemas.microsoft.com/office/drawing/2014/main" id="{50EB3C25-688E-148A-32AB-68DDC9AB44F4}"/>
              </a:ext>
            </a:extLst>
          </p:cNvPr>
          <p:cNvSpPr txBox="1"/>
          <p:nvPr/>
        </p:nvSpPr>
        <p:spPr>
          <a:xfrm>
            <a:off x="368227" y="868545"/>
            <a:ext cx="5492675" cy="523220"/>
          </a:xfrm>
          <a:prstGeom prst="rect">
            <a:avLst/>
          </a:prstGeom>
          <a:noFill/>
        </p:spPr>
        <p:txBody>
          <a:bodyPr wrap="square" rtlCol="0">
            <a:spAutoFit/>
          </a:bodyPr>
          <a:lstStyle/>
          <a:p>
            <a:r>
              <a:rPr lang="en-GB" sz="2800" b="1">
                <a:latin typeface="Avenir Book" panose="02000503020000020003" pitchFamily="2" charset="0"/>
              </a:rPr>
              <a:t>Why Strategy?</a:t>
            </a:r>
          </a:p>
        </p:txBody>
      </p:sp>
      <p:sp>
        <p:nvSpPr>
          <p:cNvPr id="3" name="TextBox 2">
            <a:extLst>
              <a:ext uri="{FF2B5EF4-FFF2-40B4-BE49-F238E27FC236}">
                <a16:creationId xmlns:a16="http://schemas.microsoft.com/office/drawing/2014/main" id="{4D9F39D1-EE59-6958-5236-6E72EB69967B}"/>
              </a:ext>
            </a:extLst>
          </p:cNvPr>
          <p:cNvSpPr txBox="1"/>
          <p:nvPr/>
        </p:nvSpPr>
        <p:spPr>
          <a:xfrm>
            <a:off x="368227" y="1391765"/>
            <a:ext cx="5492675" cy="369332"/>
          </a:xfrm>
          <a:prstGeom prst="rect">
            <a:avLst/>
          </a:prstGeom>
          <a:noFill/>
        </p:spPr>
        <p:txBody>
          <a:bodyPr wrap="square" rtlCol="0">
            <a:spAutoFit/>
          </a:bodyPr>
          <a:lstStyle/>
          <a:p>
            <a:r>
              <a:rPr lang="en-GB" b="1">
                <a:latin typeface="Avenir Book" panose="02000503020000020003" pitchFamily="2" charset="0"/>
              </a:rPr>
              <a:t>Because Risk. </a:t>
            </a:r>
          </a:p>
        </p:txBody>
      </p:sp>
    </p:spTree>
    <p:extLst>
      <p:ext uri="{BB962C8B-B14F-4D97-AF65-F5344CB8AC3E}">
        <p14:creationId xmlns:p14="http://schemas.microsoft.com/office/powerpoint/2010/main" val="2166470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ounded Rectangle 5">
            <a:extLst>
              <a:ext uri="{FF2B5EF4-FFF2-40B4-BE49-F238E27FC236}">
                <a16:creationId xmlns:a16="http://schemas.microsoft.com/office/drawing/2014/main" id="{3328A463-3E31-1B4D-9AFA-6104600D7BAC}"/>
              </a:ext>
            </a:extLst>
          </p:cNvPr>
          <p:cNvSpPr>
            <a:spLocks/>
          </p:cNvSpPr>
          <p:nvPr/>
        </p:nvSpPr>
        <p:spPr>
          <a:xfrm>
            <a:off x="5" y="2"/>
            <a:ext cx="1219199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16" name="Rectangle 15">
            <a:extLst>
              <a:ext uri="{FF2B5EF4-FFF2-40B4-BE49-F238E27FC236}">
                <a16:creationId xmlns:a16="http://schemas.microsoft.com/office/drawing/2014/main" id="{6DCC7DFC-AE9E-1C48-9332-C0A84D8D9A66}"/>
              </a:ext>
            </a:extLst>
          </p:cNvPr>
          <p:cNvSpPr/>
          <p:nvPr/>
        </p:nvSpPr>
        <p:spPr>
          <a:xfrm>
            <a:off x="3081763" y="4178913"/>
            <a:ext cx="6028476" cy="1570173"/>
          </a:xfrm>
          <a:prstGeom prst="rect">
            <a:avLst/>
          </a:prstGeom>
        </p:spPr>
        <p:txBody>
          <a:bodyPr wrap="square">
            <a:spAutoFit/>
          </a:bodyPr>
          <a:lstStyle/>
          <a:p>
            <a:pPr algn="ctr"/>
            <a:r>
              <a:rPr lang="en-US" sz="1801" dirty="0">
                <a:solidFill>
                  <a:srgbClr val="1B252E"/>
                </a:solidFill>
                <a:latin typeface="+mj-lt"/>
                <a:cs typeface="Calibri" panose="020F0502020204030204" pitchFamily="34" charset="0"/>
              </a:rPr>
              <a:t>Adversaries see an </a:t>
            </a:r>
            <a:r>
              <a:rPr lang="en-GB" sz="1801" dirty="0">
                <a:solidFill>
                  <a:srgbClr val="1B252E"/>
                </a:solidFill>
                <a:latin typeface="+mj-lt"/>
                <a:cs typeface="Calibri" panose="020F0502020204030204" pitchFamily="34" charset="0"/>
              </a:rPr>
              <a:t>organisation’s cyber</a:t>
            </a:r>
            <a:r>
              <a:rPr lang="en-US" sz="1801" dirty="0">
                <a:solidFill>
                  <a:srgbClr val="1B252E"/>
                </a:solidFill>
                <a:latin typeface="+mj-lt"/>
                <a:cs typeface="Calibri" panose="020F0502020204030204" pitchFamily="34" charset="0"/>
              </a:rPr>
              <a:t> silhouette </a:t>
            </a:r>
            <a:r>
              <a:rPr lang="en-US" sz="1801" dirty="0">
                <a:solidFill>
                  <a:srgbClr val="1B252E"/>
                </a:solidFill>
                <a:latin typeface="+mj-lt"/>
                <a:cs typeface="Calibri" panose="020F0502020204030204" pitchFamily="34" charset="0"/>
                <a:sym typeface="Wingdings" pitchFamily="2" charset="2"/>
              </a:rPr>
              <a:t></a:t>
            </a:r>
            <a:r>
              <a:rPr lang="en-US" sz="1801" dirty="0">
                <a:solidFill>
                  <a:srgbClr val="1B252E"/>
                </a:solidFill>
                <a:latin typeface="+mj-lt"/>
                <a:cs typeface="Calibri" panose="020F0502020204030204" pitchFamily="34" charset="0"/>
              </a:rPr>
              <a:t> Vulnerabilities are targeted to gain access to assets </a:t>
            </a:r>
            <a:r>
              <a:rPr lang="en-US" sz="1801" dirty="0">
                <a:solidFill>
                  <a:srgbClr val="1B252E"/>
                </a:solidFill>
                <a:latin typeface="+mj-lt"/>
                <a:cs typeface="Calibri" panose="020F0502020204030204" pitchFamily="34" charset="0"/>
                <a:sym typeface="Wingdings" pitchFamily="2" charset="2"/>
              </a:rPr>
              <a:t></a:t>
            </a:r>
            <a:r>
              <a:rPr lang="en-US" sz="1801" dirty="0">
                <a:solidFill>
                  <a:srgbClr val="1B252E"/>
                </a:solidFill>
                <a:latin typeface="+mj-lt"/>
                <a:cs typeface="Calibri" panose="020F0502020204030204" pitchFamily="34" charset="0"/>
              </a:rPr>
              <a:t> Assets are </a:t>
            </a:r>
            <a:r>
              <a:rPr lang="en-US" sz="1801" dirty="0" err="1">
                <a:solidFill>
                  <a:srgbClr val="1B252E"/>
                </a:solidFill>
                <a:latin typeface="+mj-lt"/>
                <a:cs typeface="Calibri" panose="020F0502020204030204" pitchFamily="34" charset="0"/>
              </a:rPr>
              <a:t>categorised</a:t>
            </a:r>
            <a:r>
              <a:rPr lang="en-US" sz="1801" dirty="0">
                <a:solidFill>
                  <a:srgbClr val="1B252E"/>
                </a:solidFill>
                <a:latin typeface="+mj-lt"/>
                <a:cs typeface="Calibri" panose="020F0502020204030204" pitchFamily="34" charset="0"/>
              </a:rPr>
              <a:t> by criticality </a:t>
            </a:r>
            <a:r>
              <a:rPr lang="en-US" sz="1801" dirty="0">
                <a:solidFill>
                  <a:srgbClr val="1B252E"/>
                </a:solidFill>
                <a:latin typeface="+mj-lt"/>
                <a:cs typeface="Calibri" panose="020F0502020204030204" pitchFamily="34" charset="0"/>
                <a:sym typeface="Wingdings" pitchFamily="2" charset="2"/>
              </a:rPr>
              <a:t> Deception conceals or disrupts the silhouette </a:t>
            </a:r>
            <a:r>
              <a:rPr lang="en-US" sz="1801" dirty="0">
                <a:solidFill>
                  <a:srgbClr val="1B252E"/>
                </a:solidFill>
                <a:latin typeface="+mj-lt"/>
                <a:cs typeface="Calibri" panose="020F0502020204030204" pitchFamily="34" charset="0"/>
              </a:rPr>
              <a:t> </a:t>
            </a:r>
            <a:r>
              <a:rPr lang="en-US" sz="1801" dirty="0">
                <a:solidFill>
                  <a:srgbClr val="1B252E"/>
                </a:solidFill>
                <a:latin typeface="+mj-lt"/>
                <a:cs typeface="Calibri" panose="020F0502020204030204" pitchFamily="34" charset="0"/>
                <a:sym typeface="Wingdings" pitchFamily="2" charset="2"/>
              </a:rPr>
              <a:t> Control covers the exposure surface  less exposure </a:t>
            </a:r>
            <a:r>
              <a:rPr lang="en-US" sz="2400" b="1" dirty="0">
                <a:solidFill>
                  <a:srgbClr val="1B252E"/>
                </a:solidFill>
                <a:latin typeface="+mj-lt"/>
                <a:cs typeface="Calibri" panose="020F0502020204030204" pitchFamily="34" charset="0"/>
                <a:sym typeface="Wingdings" pitchFamily="2" charset="2"/>
              </a:rPr>
              <a:t>=</a:t>
            </a:r>
            <a:r>
              <a:rPr lang="en-US" sz="1801" dirty="0">
                <a:solidFill>
                  <a:srgbClr val="1B252E"/>
                </a:solidFill>
                <a:latin typeface="+mj-lt"/>
                <a:cs typeface="Calibri" panose="020F0502020204030204" pitchFamily="34" charset="0"/>
                <a:sym typeface="Wingdings" pitchFamily="2" charset="2"/>
              </a:rPr>
              <a:t> less risk</a:t>
            </a:r>
            <a:endParaRPr lang="en-US" sz="1801" dirty="0">
              <a:solidFill>
                <a:srgbClr val="1B252E"/>
              </a:solidFill>
              <a:latin typeface="+mj-lt"/>
              <a:cs typeface="Calibri" panose="020F0502020204030204" pitchFamily="34" charset="0"/>
            </a:endParaRPr>
          </a:p>
        </p:txBody>
      </p:sp>
      <p:grpSp>
        <p:nvGrpSpPr>
          <p:cNvPr id="3" name="Group 2">
            <a:extLst>
              <a:ext uri="{FF2B5EF4-FFF2-40B4-BE49-F238E27FC236}">
                <a16:creationId xmlns:a16="http://schemas.microsoft.com/office/drawing/2014/main" id="{288EEB34-A4F9-22DF-B2EB-F108511942DC}"/>
              </a:ext>
            </a:extLst>
          </p:cNvPr>
          <p:cNvGrpSpPr/>
          <p:nvPr/>
        </p:nvGrpSpPr>
        <p:grpSpPr>
          <a:xfrm>
            <a:off x="676509" y="2855159"/>
            <a:ext cx="11315983" cy="1091484"/>
            <a:chOff x="676509" y="2855159"/>
            <a:chExt cx="11315983" cy="1091484"/>
          </a:xfrm>
        </p:grpSpPr>
        <p:sp>
          <p:nvSpPr>
            <p:cNvPr id="15" name="TextBox 14">
              <a:extLst>
                <a:ext uri="{FF2B5EF4-FFF2-40B4-BE49-F238E27FC236}">
                  <a16:creationId xmlns:a16="http://schemas.microsoft.com/office/drawing/2014/main" id="{975145B2-369B-E644-9367-DAA7B031704F}"/>
                </a:ext>
              </a:extLst>
            </p:cNvPr>
            <p:cNvSpPr txBox="1"/>
            <p:nvPr/>
          </p:nvSpPr>
          <p:spPr>
            <a:xfrm>
              <a:off x="676510" y="2855159"/>
              <a:ext cx="11315982" cy="500048"/>
            </a:xfrm>
            <a:prstGeom prst="rect">
              <a:avLst/>
            </a:prstGeom>
            <a:noFill/>
          </p:spPr>
          <p:txBody>
            <a:bodyPr wrap="square" rtlCol="0">
              <a:spAutoFit/>
            </a:bodyPr>
            <a:lstStyle/>
            <a:p>
              <a:pPr>
                <a:lnSpc>
                  <a:spcPts val="2500"/>
                </a:lnSpc>
              </a:pPr>
              <a:r>
                <a:rPr lang="en-US" sz="4400" b="1" dirty="0">
                  <a:solidFill>
                    <a:srgbClr val="1B252E"/>
                  </a:solidFill>
                  <a:latin typeface="Avenir Black" panose="02000503020000020003" pitchFamily="2" charset="0"/>
                  <a:cs typeface="Calibri" panose="020F0502020204030204" pitchFamily="34" charset="0"/>
                </a:rPr>
                <a:t>Silhouette x </a:t>
              </a:r>
              <a:r>
                <a:rPr lang="en-US" sz="4400" b="1" dirty="0" err="1">
                  <a:solidFill>
                    <a:srgbClr val="1B252E"/>
                  </a:solidFill>
                  <a:latin typeface="Avenir Black" panose="02000503020000020003" pitchFamily="2" charset="0"/>
                  <a:cs typeface="Calibri" panose="020F0502020204030204" pitchFamily="34" charset="0"/>
                </a:rPr>
                <a:t>Vulnerability</a:t>
              </a:r>
              <a:r>
                <a:rPr lang="en-US" sz="4400" b="1" baseline="30000" dirty="0" err="1">
                  <a:solidFill>
                    <a:srgbClr val="1B252E"/>
                  </a:solidFill>
                  <a:latin typeface="Avenir Black" panose="02000503020000020003" pitchFamily="2" charset="0"/>
                  <a:cs typeface="Calibri" panose="020F0502020204030204" pitchFamily="34" charset="0"/>
                </a:rPr>
                <a:t>Asset</a:t>
              </a:r>
              <a:r>
                <a:rPr lang="en-US" sz="4400" b="1" dirty="0">
                  <a:solidFill>
                    <a:srgbClr val="1B252E"/>
                  </a:solidFill>
                  <a:latin typeface="Avenir Black" panose="02000503020000020003" pitchFamily="2" charset="0"/>
                  <a:cs typeface="Calibri" panose="020F0502020204030204" pitchFamily="34" charset="0"/>
                </a:rPr>
                <a:t>  = Exposure</a:t>
              </a:r>
            </a:p>
          </p:txBody>
        </p:sp>
        <p:sp>
          <p:nvSpPr>
            <p:cNvPr id="5" name="TextBox 4">
              <a:extLst>
                <a:ext uri="{FF2B5EF4-FFF2-40B4-BE49-F238E27FC236}">
                  <a16:creationId xmlns:a16="http://schemas.microsoft.com/office/drawing/2014/main" id="{1CE1A49A-C8F2-5CB3-75A3-04DB81C90FF6}"/>
                </a:ext>
              </a:extLst>
            </p:cNvPr>
            <p:cNvSpPr txBox="1"/>
            <p:nvPr/>
          </p:nvSpPr>
          <p:spPr>
            <a:xfrm>
              <a:off x="5133343" y="3436841"/>
              <a:ext cx="2563993" cy="502061"/>
            </a:xfrm>
            <a:prstGeom prst="rect">
              <a:avLst/>
            </a:prstGeom>
            <a:noFill/>
          </p:spPr>
          <p:txBody>
            <a:bodyPr wrap="square" rtlCol="0">
              <a:spAutoFit/>
            </a:bodyPr>
            <a:lstStyle/>
            <a:p>
              <a:pPr>
                <a:lnSpc>
                  <a:spcPts val="2500"/>
                </a:lnSpc>
              </a:pPr>
              <a:r>
                <a:rPr lang="en-US" sz="4400" b="1" dirty="0">
                  <a:solidFill>
                    <a:srgbClr val="1B252E"/>
                  </a:solidFill>
                  <a:latin typeface="Avenir Black" panose="02000503020000020003" pitchFamily="2" charset="0"/>
                  <a:cs typeface="Calibri" panose="020F0502020204030204" pitchFamily="34" charset="0"/>
                </a:rPr>
                <a:t>Controls</a:t>
              </a:r>
            </a:p>
          </p:txBody>
        </p:sp>
        <p:cxnSp>
          <p:nvCxnSpPr>
            <p:cNvPr id="7" name="Straight Connector 6">
              <a:extLst>
                <a:ext uri="{FF2B5EF4-FFF2-40B4-BE49-F238E27FC236}">
                  <a16:creationId xmlns:a16="http://schemas.microsoft.com/office/drawing/2014/main" id="{32A4FE84-0D73-7987-3338-D4C59353EA6A}"/>
                </a:ext>
              </a:extLst>
            </p:cNvPr>
            <p:cNvCxnSpPr>
              <a:cxnSpLocks/>
            </p:cNvCxnSpPr>
            <p:nvPr/>
          </p:nvCxnSpPr>
          <p:spPr>
            <a:xfrm>
              <a:off x="4053525" y="3214540"/>
              <a:ext cx="4411744" cy="0"/>
            </a:xfrm>
            <a:prstGeom prst="line">
              <a:avLst/>
            </a:prstGeom>
            <a:ln w="38100">
              <a:solidFill>
                <a:srgbClr val="1B252E"/>
              </a:solidFill>
            </a:ln>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40A845AE-DFA7-E513-9425-925674512F1E}"/>
                </a:ext>
              </a:extLst>
            </p:cNvPr>
            <p:cNvCxnSpPr>
              <a:cxnSpLocks/>
            </p:cNvCxnSpPr>
            <p:nvPr/>
          </p:nvCxnSpPr>
          <p:spPr>
            <a:xfrm>
              <a:off x="676509" y="3214540"/>
              <a:ext cx="2805150" cy="0"/>
            </a:xfrm>
            <a:prstGeom prst="line">
              <a:avLst/>
            </a:prstGeom>
            <a:ln w="38100">
              <a:solidFill>
                <a:srgbClr val="1B252E"/>
              </a:solidFill>
            </a:ln>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DDF9C3A3-4CE1-580F-0CD4-3624C022CB18}"/>
                </a:ext>
              </a:extLst>
            </p:cNvPr>
            <p:cNvSpPr txBox="1"/>
            <p:nvPr/>
          </p:nvSpPr>
          <p:spPr>
            <a:xfrm>
              <a:off x="676510" y="3429001"/>
              <a:ext cx="3110581" cy="517642"/>
            </a:xfrm>
            <a:prstGeom prst="rect">
              <a:avLst/>
            </a:prstGeom>
            <a:noFill/>
          </p:spPr>
          <p:txBody>
            <a:bodyPr wrap="square" rtlCol="0">
              <a:spAutoFit/>
            </a:bodyPr>
            <a:lstStyle/>
            <a:p>
              <a:pPr>
                <a:lnSpc>
                  <a:spcPts val="2500"/>
                </a:lnSpc>
              </a:pPr>
              <a:r>
                <a:rPr lang="en-US" sz="4400" b="1" dirty="0">
                  <a:solidFill>
                    <a:srgbClr val="1B252E"/>
                  </a:solidFill>
                  <a:latin typeface="Avenir Black" panose="02000503020000020003" pitchFamily="2" charset="0"/>
                  <a:cs typeface="Calibri" panose="020F0502020204030204" pitchFamily="34" charset="0"/>
                </a:rPr>
                <a:t>Deception</a:t>
              </a:r>
            </a:p>
          </p:txBody>
        </p:sp>
      </p:grpSp>
      <p:pic>
        <p:nvPicPr>
          <p:cNvPr id="2" name="Picture 1">
            <a:extLst>
              <a:ext uri="{FF2B5EF4-FFF2-40B4-BE49-F238E27FC236}">
                <a16:creationId xmlns:a16="http://schemas.microsoft.com/office/drawing/2014/main" id="{31081C8E-8274-A50D-D609-37E1D5464615}"/>
              </a:ext>
            </a:extLst>
          </p:cNvPr>
          <p:cNvPicPr>
            <a:picLocks noChangeAspect="1"/>
          </p:cNvPicPr>
          <p:nvPr/>
        </p:nvPicPr>
        <p:blipFill>
          <a:blip r:embed="rId3"/>
          <a:stretch>
            <a:fillRect/>
          </a:stretch>
        </p:blipFill>
        <p:spPr>
          <a:xfrm>
            <a:off x="5511657" y="309800"/>
            <a:ext cx="1168686" cy="318734"/>
          </a:xfrm>
          <a:prstGeom prst="rect">
            <a:avLst/>
          </a:prstGeom>
        </p:spPr>
      </p:pic>
    </p:spTree>
    <p:extLst>
      <p:ext uri="{BB962C8B-B14F-4D97-AF65-F5344CB8AC3E}">
        <p14:creationId xmlns:p14="http://schemas.microsoft.com/office/powerpoint/2010/main" val="2956903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5">
            <a:extLst>
              <a:ext uri="{FF2B5EF4-FFF2-40B4-BE49-F238E27FC236}">
                <a16:creationId xmlns:a16="http://schemas.microsoft.com/office/drawing/2014/main" id="{B85B7168-1B05-B747-1F17-8FA78A056B3B}"/>
              </a:ext>
            </a:extLst>
          </p:cNvPr>
          <p:cNvSpPr>
            <a:spLocks/>
          </p:cNvSpPr>
          <p:nvPr/>
        </p:nvSpPr>
        <p:spPr>
          <a:xfrm>
            <a:off x="5" y="2"/>
            <a:ext cx="1219199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6" name="Rounded Rectangle 5">
            <a:extLst>
              <a:ext uri="{FF2B5EF4-FFF2-40B4-BE49-F238E27FC236}">
                <a16:creationId xmlns:a16="http://schemas.microsoft.com/office/drawing/2014/main" id="{8EC5E555-F784-0E4E-A562-B7C3E3EB4AE2}"/>
              </a:ext>
            </a:extLst>
          </p:cNvPr>
          <p:cNvSpPr>
            <a:spLocks/>
          </p:cNvSpPr>
          <p:nvPr/>
        </p:nvSpPr>
        <p:spPr>
          <a:xfrm>
            <a:off x="7935310" y="2"/>
            <a:ext cx="425669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graphicFrame>
        <p:nvGraphicFramePr>
          <p:cNvPr id="10" name="Table 9">
            <a:extLst>
              <a:ext uri="{FF2B5EF4-FFF2-40B4-BE49-F238E27FC236}">
                <a16:creationId xmlns:a16="http://schemas.microsoft.com/office/drawing/2014/main" id="{E85546B8-078C-DD1C-4AC4-D2242BF09006}"/>
              </a:ext>
            </a:extLst>
          </p:cNvPr>
          <p:cNvGraphicFramePr>
            <a:graphicFrameLocks noGrp="1"/>
          </p:cNvGraphicFramePr>
          <p:nvPr>
            <p:extLst>
              <p:ext uri="{D42A27DB-BD31-4B8C-83A1-F6EECF244321}">
                <p14:modId xmlns:p14="http://schemas.microsoft.com/office/powerpoint/2010/main" val="329671658"/>
              </p:ext>
            </p:extLst>
          </p:nvPr>
        </p:nvGraphicFramePr>
        <p:xfrm>
          <a:off x="7935310" y="366610"/>
          <a:ext cx="4256690" cy="5945657"/>
        </p:xfrm>
        <a:graphic>
          <a:graphicData uri="http://schemas.openxmlformats.org/drawingml/2006/table">
            <a:tbl>
              <a:tblPr firstRow="1" bandRow="1">
                <a:tableStyleId>{5C22544A-7EE6-4342-B048-85BDC9FD1C3A}</a:tableStyleId>
              </a:tblPr>
              <a:tblGrid>
                <a:gridCol w="2128345">
                  <a:extLst>
                    <a:ext uri="{9D8B030D-6E8A-4147-A177-3AD203B41FA5}">
                      <a16:colId xmlns:a16="http://schemas.microsoft.com/office/drawing/2014/main" val="3874924257"/>
                    </a:ext>
                  </a:extLst>
                </a:gridCol>
                <a:gridCol w="2128345">
                  <a:extLst>
                    <a:ext uri="{9D8B030D-6E8A-4147-A177-3AD203B41FA5}">
                      <a16:colId xmlns:a16="http://schemas.microsoft.com/office/drawing/2014/main" val="1401167725"/>
                    </a:ext>
                  </a:extLst>
                </a:gridCol>
              </a:tblGrid>
              <a:tr h="568862">
                <a:tc>
                  <a:txBody>
                    <a:bodyPr/>
                    <a:lstStyle/>
                    <a:p>
                      <a:r>
                        <a:rPr lang="en-GB" sz="1400"/>
                        <a:t>F3EAD</a:t>
                      </a:r>
                    </a:p>
                  </a:txBody>
                  <a:tcPr marT="45721" marB="45721"/>
                </a:tc>
                <a:tc>
                  <a:txBody>
                    <a:bodyPr/>
                    <a:lstStyle/>
                    <a:p>
                      <a:r>
                        <a:rPr lang="en-GB" sz="1400"/>
                        <a:t>Description</a:t>
                      </a:r>
                    </a:p>
                  </a:txBody>
                  <a:tcPr marT="45721" marB="45721"/>
                </a:tc>
                <a:extLst>
                  <a:ext uri="{0D108BD9-81ED-4DB2-BD59-A6C34878D82A}">
                    <a16:rowId xmlns:a16="http://schemas.microsoft.com/office/drawing/2014/main" val="821172918"/>
                  </a:ext>
                </a:extLst>
              </a:tr>
              <a:tr h="1104315">
                <a:tc>
                  <a:txBody>
                    <a:bodyPr/>
                    <a:lstStyle/>
                    <a:p>
                      <a:r>
                        <a:rPr lang="en-GB" sz="1400"/>
                        <a:t>Find</a:t>
                      </a:r>
                    </a:p>
                  </a:txBody>
                  <a:tcPr marT="45721" marB="45721"/>
                </a:tc>
                <a:tc>
                  <a:txBody>
                    <a:bodyPr/>
                    <a:lstStyle/>
                    <a:p>
                      <a:r>
                        <a:rPr lang="en-ZA" sz="1100" b="0" i="0" u="none" strike="noStrike" kern="1200">
                          <a:solidFill>
                            <a:schemeClr val="dk1"/>
                          </a:solidFill>
                          <a:effectLst/>
                          <a:latin typeface="+mn-lt"/>
                          <a:ea typeface="+mn-ea"/>
                          <a:cs typeface="+mn-cs"/>
                        </a:rPr>
                        <a:t>Essentially ‘picking up the scent’ of the adversary, with the classic “Who, What, When, Where, and Why” questions being used within this phase to identify a candidate target.</a:t>
                      </a:r>
                      <a:endParaRPr lang="en-GB" sz="1100"/>
                    </a:p>
                  </a:txBody>
                  <a:tcPr marT="45721" marB="45721"/>
                </a:tc>
                <a:extLst>
                  <a:ext uri="{0D108BD9-81ED-4DB2-BD59-A6C34878D82A}">
                    <a16:rowId xmlns:a16="http://schemas.microsoft.com/office/drawing/2014/main" val="2407114618"/>
                  </a:ext>
                </a:extLst>
              </a:tr>
              <a:tr h="1610752">
                <a:tc>
                  <a:txBody>
                    <a:bodyPr/>
                    <a:lstStyle/>
                    <a:p>
                      <a:r>
                        <a:rPr lang="en-GB" sz="1400"/>
                        <a:t>Fix</a:t>
                      </a:r>
                    </a:p>
                  </a:txBody>
                  <a:tcPr marT="45721" marB="45721"/>
                </a:tc>
                <a:tc>
                  <a:txBody>
                    <a:bodyPr/>
                    <a:lstStyle/>
                    <a:p>
                      <a:r>
                        <a:rPr lang="en-ZA" sz="1100" b="0" i="0" u="none" strike="noStrike" kern="1200">
                          <a:solidFill>
                            <a:schemeClr val="dk1"/>
                          </a:solidFill>
                          <a:effectLst/>
                          <a:latin typeface="+mn-lt"/>
                          <a:ea typeface="+mn-ea"/>
                          <a:cs typeface="+mn-cs"/>
                        </a:rPr>
                        <a:t>Verification of the target(s) identified within the previous phase, which typically involves multiple data points. This phase effectively transforms the intelligence gained within the “Find” phase into evidence that can be used as basis for action within the next stage.</a:t>
                      </a:r>
                      <a:endParaRPr lang="en-GB" sz="1100"/>
                    </a:p>
                  </a:txBody>
                  <a:tcPr marT="45721" marB="45721"/>
                </a:tc>
                <a:extLst>
                  <a:ext uri="{0D108BD9-81ED-4DB2-BD59-A6C34878D82A}">
                    <a16:rowId xmlns:a16="http://schemas.microsoft.com/office/drawing/2014/main" val="1674743493"/>
                  </a:ext>
                </a:extLst>
              </a:tr>
              <a:tr h="766690">
                <a:tc>
                  <a:txBody>
                    <a:bodyPr/>
                    <a:lstStyle/>
                    <a:p>
                      <a:r>
                        <a:rPr lang="en-GB" sz="1400"/>
                        <a:t>Finish</a:t>
                      </a:r>
                    </a:p>
                  </a:txBody>
                  <a:tcPr marT="45721" marB="45721"/>
                </a:tc>
                <a:tc>
                  <a:txBody>
                    <a:bodyPr/>
                    <a:lstStyle/>
                    <a:p>
                      <a:r>
                        <a:rPr lang="en-ZA" sz="1100" b="0" i="0" u="none" strike="noStrike" kern="1200">
                          <a:solidFill>
                            <a:schemeClr val="dk1"/>
                          </a:solidFill>
                          <a:effectLst/>
                          <a:latin typeface="+mn-lt"/>
                          <a:ea typeface="+mn-ea"/>
                          <a:cs typeface="+mn-cs"/>
                        </a:rPr>
                        <a:t>Based on the evidence generated from the previous two phases, the commander of the operation then imposes their will on the target.</a:t>
                      </a:r>
                      <a:endParaRPr lang="en-GB" sz="1100"/>
                    </a:p>
                  </a:txBody>
                  <a:tcPr marT="45721" marB="45721"/>
                </a:tc>
                <a:extLst>
                  <a:ext uri="{0D108BD9-81ED-4DB2-BD59-A6C34878D82A}">
                    <a16:rowId xmlns:a16="http://schemas.microsoft.com/office/drawing/2014/main" val="1920674575"/>
                  </a:ext>
                </a:extLst>
              </a:tr>
              <a:tr h="568862">
                <a:tc>
                  <a:txBody>
                    <a:bodyPr/>
                    <a:lstStyle/>
                    <a:p>
                      <a:r>
                        <a:rPr lang="en-GB" sz="1400"/>
                        <a:t>Exploit</a:t>
                      </a:r>
                    </a:p>
                  </a:txBody>
                  <a:tcPr marT="45721" marB="45721"/>
                </a:tc>
                <a:tc>
                  <a:txBody>
                    <a:bodyPr/>
                    <a:lstStyle/>
                    <a:p>
                      <a:r>
                        <a:rPr lang="en-ZA" sz="1100" b="0" i="0" u="none" strike="noStrike" kern="1200">
                          <a:solidFill>
                            <a:schemeClr val="dk1"/>
                          </a:solidFill>
                          <a:effectLst/>
                          <a:latin typeface="+mn-lt"/>
                          <a:ea typeface="+mn-ea"/>
                          <a:cs typeface="+mn-cs"/>
                        </a:rPr>
                        <a:t>Deconstruction of the evidence generated from the finish phase.</a:t>
                      </a:r>
                      <a:endParaRPr lang="en-GB" sz="1100"/>
                    </a:p>
                  </a:txBody>
                  <a:tcPr marT="45721" marB="45721"/>
                </a:tc>
                <a:extLst>
                  <a:ext uri="{0D108BD9-81ED-4DB2-BD59-A6C34878D82A}">
                    <a16:rowId xmlns:a16="http://schemas.microsoft.com/office/drawing/2014/main" val="3025770055"/>
                  </a:ext>
                </a:extLst>
              </a:tr>
              <a:tr h="568862">
                <a:tc>
                  <a:txBody>
                    <a:bodyPr/>
                    <a:lstStyle/>
                    <a:p>
                      <a:r>
                        <a:rPr lang="en-GB" sz="1400"/>
                        <a:t>Analyse</a:t>
                      </a:r>
                    </a:p>
                  </a:txBody>
                  <a:tcPr marT="45721" marB="45721"/>
                </a:tc>
                <a:tc>
                  <a:txBody>
                    <a:bodyPr/>
                    <a:lstStyle/>
                    <a:p>
                      <a:r>
                        <a:rPr lang="en-GB" sz="1100"/>
                        <a:t>Results are analysed to answer the intelligence requirements. </a:t>
                      </a:r>
                    </a:p>
                  </a:txBody>
                  <a:tcPr marT="45721" marB="45721"/>
                </a:tc>
                <a:extLst>
                  <a:ext uri="{0D108BD9-81ED-4DB2-BD59-A6C34878D82A}">
                    <a16:rowId xmlns:a16="http://schemas.microsoft.com/office/drawing/2014/main" val="1309471789"/>
                  </a:ext>
                </a:extLst>
              </a:tr>
              <a:tr h="568862">
                <a:tc>
                  <a:txBody>
                    <a:bodyPr/>
                    <a:lstStyle/>
                    <a:p>
                      <a:r>
                        <a:rPr lang="en-GB" sz="1400"/>
                        <a:t>Disseminate</a:t>
                      </a:r>
                    </a:p>
                  </a:txBody>
                  <a:tcPr marT="45721" marB="45721"/>
                </a:tc>
                <a:tc>
                  <a:txBody>
                    <a:bodyPr/>
                    <a:lstStyle/>
                    <a:p>
                      <a:r>
                        <a:rPr lang="en-GB" sz="1100"/>
                        <a:t>Integrate exploited intel with the wider intelligence picture.</a:t>
                      </a:r>
                    </a:p>
                  </a:txBody>
                  <a:tcPr marT="45721" marB="45721"/>
                </a:tc>
                <a:extLst>
                  <a:ext uri="{0D108BD9-81ED-4DB2-BD59-A6C34878D82A}">
                    <a16:rowId xmlns:a16="http://schemas.microsoft.com/office/drawing/2014/main" val="1532857987"/>
                  </a:ext>
                </a:extLst>
              </a:tr>
            </a:tbl>
          </a:graphicData>
        </a:graphic>
      </p:graphicFrame>
      <p:sp>
        <p:nvSpPr>
          <p:cNvPr id="11" name="TextBox 10">
            <a:extLst>
              <a:ext uri="{FF2B5EF4-FFF2-40B4-BE49-F238E27FC236}">
                <a16:creationId xmlns:a16="http://schemas.microsoft.com/office/drawing/2014/main" id="{FDF8AFA5-8630-E361-8D98-AE484F5F64DD}"/>
              </a:ext>
            </a:extLst>
          </p:cNvPr>
          <p:cNvSpPr txBox="1"/>
          <p:nvPr/>
        </p:nvSpPr>
        <p:spPr>
          <a:xfrm>
            <a:off x="404740" y="1236764"/>
            <a:ext cx="6118608" cy="441916"/>
          </a:xfrm>
          <a:prstGeom prst="rect">
            <a:avLst/>
          </a:prstGeom>
          <a:noFill/>
        </p:spPr>
        <p:txBody>
          <a:bodyPr wrap="square" rtlCol="0">
            <a:spAutoFit/>
          </a:bodyPr>
          <a:lstStyle/>
          <a:p>
            <a:pPr>
              <a:lnSpc>
                <a:spcPts val="2500"/>
              </a:lnSpc>
            </a:pPr>
            <a:r>
              <a:rPr lang="en-US" sz="2500" b="1">
                <a:solidFill>
                  <a:srgbClr val="1B252E"/>
                </a:solidFill>
                <a:latin typeface="Avenir Black" panose="02000503020000020003" pitchFamily="2" charset="0"/>
                <a:cs typeface="Calibri" panose="020F0502020204030204" pitchFamily="34" charset="0"/>
              </a:rPr>
              <a:t>From The Strategic To The Operational </a:t>
            </a:r>
          </a:p>
        </p:txBody>
      </p:sp>
      <p:pic>
        <p:nvPicPr>
          <p:cNvPr id="4" name="Picture 3">
            <a:extLst>
              <a:ext uri="{FF2B5EF4-FFF2-40B4-BE49-F238E27FC236}">
                <a16:creationId xmlns:a16="http://schemas.microsoft.com/office/drawing/2014/main" id="{36AE14C1-3BF4-F3F5-4C40-89667EC5FEC9}"/>
              </a:ext>
            </a:extLst>
          </p:cNvPr>
          <p:cNvPicPr>
            <a:picLocks noChangeAspect="1"/>
          </p:cNvPicPr>
          <p:nvPr/>
        </p:nvPicPr>
        <p:blipFill>
          <a:blip r:embed="rId3"/>
          <a:stretch>
            <a:fillRect/>
          </a:stretch>
        </p:blipFill>
        <p:spPr>
          <a:xfrm>
            <a:off x="162910" y="1678680"/>
            <a:ext cx="7772400" cy="3907131"/>
          </a:xfrm>
          <a:prstGeom prst="rect">
            <a:avLst/>
          </a:prstGeom>
        </p:spPr>
      </p:pic>
      <p:pic>
        <p:nvPicPr>
          <p:cNvPr id="7" name="Picture 6">
            <a:extLst>
              <a:ext uri="{FF2B5EF4-FFF2-40B4-BE49-F238E27FC236}">
                <a16:creationId xmlns:a16="http://schemas.microsoft.com/office/drawing/2014/main" id="{F1D2433E-EE92-89C2-EF52-E5CC6BEFDEA1}"/>
              </a:ext>
            </a:extLst>
          </p:cNvPr>
          <p:cNvPicPr>
            <a:picLocks noChangeAspect="1"/>
          </p:cNvPicPr>
          <p:nvPr/>
        </p:nvPicPr>
        <p:blipFill>
          <a:blip r:embed="rId4"/>
          <a:stretch>
            <a:fillRect/>
          </a:stretch>
        </p:blipFill>
        <p:spPr>
          <a:xfrm>
            <a:off x="5511657" y="309800"/>
            <a:ext cx="1168686" cy="318734"/>
          </a:xfrm>
          <a:prstGeom prst="rect">
            <a:avLst/>
          </a:prstGeom>
        </p:spPr>
      </p:pic>
    </p:spTree>
    <p:extLst>
      <p:ext uri="{BB962C8B-B14F-4D97-AF65-F5344CB8AC3E}">
        <p14:creationId xmlns:p14="http://schemas.microsoft.com/office/powerpoint/2010/main" val="2930252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5">
            <a:extLst>
              <a:ext uri="{FF2B5EF4-FFF2-40B4-BE49-F238E27FC236}">
                <a16:creationId xmlns:a16="http://schemas.microsoft.com/office/drawing/2014/main" id="{CEE95A28-B894-0646-79AE-D5BD3B544F39}"/>
              </a:ext>
            </a:extLst>
          </p:cNvPr>
          <p:cNvSpPr>
            <a:spLocks/>
          </p:cNvSpPr>
          <p:nvPr/>
        </p:nvSpPr>
        <p:spPr>
          <a:xfrm>
            <a:off x="5" y="2"/>
            <a:ext cx="1219199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28" name="TextBox 27">
            <a:extLst>
              <a:ext uri="{FF2B5EF4-FFF2-40B4-BE49-F238E27FC236}">
                <a16:creationId xmlns:a16="http://schemas.microsoft.com/office/drawing/2014/main" id="{C51975DF-7E2D-4AFA-8803-94A10B77B67B}"/>
              </a:ext>
            </a:extLst>
          </p:cNvPr>
          <p:cNvSpPr txBox="1"/>
          <p:nvPr/>
        </p:nvSpPr>
        <p:spPr>
          <a:xfrm>
            <a:off x="8658234" y="3612182"/>
            <a:ext cx="3279778" cy="2308324"/>
          </a:xfrm>
          <a:prstGeom prst="rect">
            <a:avLst/>
          </a:prstGeom>
          <a:noFill/>
        </p:spPr>
        <p:txBody>
          <a:bodyPr wrap="square" rtlCol="0">
            <a:spAutoFit/>
          </a:bodyPr>
          <a:lstStyle/>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Vulnerability management practice implementation</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Cyber risk treatment policy development</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Capability maturity assessments </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Cyber strategy development </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Attack surface visualization </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Deceptive tech strategy development</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VAPT &amp; webapp assessments </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Dark web analysis &amp; threat modeling.</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Inline and independent forensic investigations</a:t>
            </a:r>
          </a:p>
          <a:p>
            <a:pPr marL="171477" indent="-171477" defTabSz="914530">
              <a:buFont typeface="Arial" panose="020B0604020202020204" pitchFamily="34" charset="0"/>
              <a:buChar char="•"/>
              <a:defRPr/>
            </a:pPr>
            <a:endParaRPr lang="ko-KR" altLang="en-US" sz="1200" dirty="0">
              <a:latin typeface="Avenir Book" panose="02000503020000020003" pitchFamily="2" charset="0"/>
              <a:ea typeface="맑은 고딕" panose="020B0503020000020004" pitchFamily="34" charset="-127"/>
              <a:cs typeface="Arial" pitchFamily="34" charset="0"/>
            </a:endParaRPr>
          </a:p>
        </p:txBody>
      </p:sp>
      <p:sp>
        <p:nvSpPr>
          <p:cNvPr id="29" name="TextBox 28">
            <a:extLst>
              <a:ext uri="{FF2B5EF4-FFF2-40B4-BE49-F238E27FC236}">
                <a16:creationId xmlns:a16="http://schemas.microsoft.com/office/drawing/2014/main" id="{22FF3F78-AA70-4F6C-9BFB-30FBA3898738}"/>
              </a:ext>
            </a:extLst>
          </p:cNvPr>
          <p:cNvSpPr txBox="1"/>
          <p:nvPr/>
        </p:nvSpPr>
        <p:spPr>
          <a:xfrm>
            <a:off x="8187227" y="3276585"/>
            <a:ext cx="3783671" cy="276999"/>
          </a:xfrm>
          <a:prstGeom prst="rect">
            <a:avLst/>
          </a:prstGeom>
          <a:solidFill>
            <a:schemeClr val="tx1">
              <a:lumMod val="75000"/>
              <a:lumOff val="25000"/>
            </a:schemeClr>
          </a:solidFill>
        </p:spPr>
        <p:txBody>
          <a:bodyPr wrap="square" rtlCol="0">
            <a:spAutoFit/>
          </a:bodyPr>
          <a:lstStyle/>
          <a:p>
            <a:pPr algn="ctr" defTabSz="914530">
              <a:defRPr/>
            </a:pPr>
            <a:r>
              <a:rPr lang="en-ZA" altLang="ko-KR" sz="1200" b="1">
                <a:solidFill>
                  <a:prstClr val="white"/>
                </a:solidFill>
                <a:latin typeface="Calibri" panose="020F0502020204030204"/>
                <a:ea typeface="맑은 고딕" panose="020B0503020000020004" pitchFamily="34" charset="-127"/>
                <a:cs typeface="Arial" pitchFamily="34" charset="0"/>
              </a:rPr>
              <a:t>SPECIALISED RISK REDUCTION SERVICES</a:t>
            </a:r>
            <a:endParaRPr lang="ko-KR" altLang="en-US" sz="1200" b="1">
              <a:solidFill>
                <a:prstClr val="white"/>
              </a:solidFill>
              <a:latin typeface="Calibri" panose="020F0502020204030204"/>
              <a:ea typeface="맑은 고딕" panose="020B0503020000020004" pitchFamily="34" charset="-127"/>
              <a:cs typeface="Arial" pitchFamily="34" charset="0"/>
            </a:endParaRPr>
          </a:p>
        </p:txBody>
      </p:sp>
      <p:sp>
        <p:nvSpPr>
          <p:cNvPr id="30" name="TextBox 29">
            <a:extLst>
              <a:ext uri="{FF2B5EF4-FFF2-40B4-BE49-F238E27FC236}">
                <a16:creationId xmlns:a16="http://schemas.microsoft.com/office/drawing/2014/main" id="{A2B086E1-C2F2-47CE-8949-6396F3E01C2C}"/>
              </a:ext>
            </a:extLst>
          </p:cNvPr>
          <p:cNvSpPr txBox="1"/>
          <p:nvPr/>
        </p:nvSpPr>
        <p:spPr>
          <a:xfrm>
            <a:off x="609399" y="1664650"/>
            <a:ext cx="3520725" cy="2194896"/>
          </a:xfrm>
          <a:prstGeom prst="rect">
            <a:avLst/>
          </a:prstGeom>
          <a:noFill/>
        </p:spPr>
        <p:txBody>
          <a:bodyPr wrap="square" rtlCol="0">
            <a:spAutoFit/>
          </a:bodyPr>
          <a:lstStyle/>
          <a:p>
            <a:pPr marL="171477" indent="-171477" defTabSz="914530">
              <a:buFont typeface="Arial" panose="020B0604020202020204" pitchFamily="34" charset="0"/>
              <a:buChar char="•"/>
              <a:defRPr/>
            </a:pPr>
            <a:r>
              <a:rPr lang="en-US" altLang="ko-KR" sz="1200">
                <a:latin typeface="Avenir Book" panose="02000503020000020003" pitchFamily="2" charset="0"/>
                <a:ea typeface="맑은 고딕" panose="020B0503020000020004" pitchFamily="34" charset="-127"/>
                <a:cs typeface="Arial" pitchFamily="34" charset="0"/>
              </a:rPr>
              <a:t>Environment readiness assessment </a:t>
            </a:r>
          </a:p>
          <a:p>
            <a:pPr marL="171477" indent="-171477" defTabSz="914530">
              <a:buFont typeface="Arial" panose="020B0604020202020204" pitchFamily="34" charset="0"/>
              <a:buChar char="•"/>
              <a:defRPr/>
            </a:pPr>
            <a:r>
              <a:rPr lang="en-US" altLang="ko-KR" sz="1200">
                <a:latin typeface="Avenir Book" panose="02000503020000020003" pitchFamily="2" charset="0"/>
                <a:ea typeface="맑은 고딕" panose="020B0503020000020004" pitchFamily="34" charset="-127"/>
                <a:cs typeface="Arial" pitchFamily="34" charset="0"/>
              </a:rPr>
              <a:t>Secure node placement </a:t>
            </a:r>
          </a:p>
          <a:p>
            <a:pPr marL="171477" indent="-171477" defTabSz="914530">
              <a:buFont typeface="Arial" panose="020B0604020202020204" pitchFamily="34" charset="0"/>
              <a:buChar char="•"/>
              <a:defRPr/>
            </a:pPr>
            <a:r>
              <a:rPr lang="en-US" altLang="ko-KR" sz="1200">
                <a:latin typeface="Avenir Book" panose="02000503020000020003" pitchFamily="2" charset="0"/>
                <a:ea typeface="맑은 고딕" panose="020B0503020000020004" pitchFamily="34" charset="-127"/>
                <a:cs typeface="Arial" pitchFamily="34" charset="0"/>
              </a:rPr>
              <a:t>End-to-end coverage</a:t>
            </a:r>
          </a:p>
          <a:p>
            <a:pPr marL="171477" indent="-171477" defTabSz="914530">
              <a:buFont typeface="Arial" panose="020B0604020202020204" pitchFamily="34" charset="0"/>
              <a:buChar char="•"/>
              <a:defRPr/>
            </a:pPr>
            <a:r>
              <a:rPr lang="en-US" altLang="ko-KR" sz="1200">
                <a:latin typeface="Avenir Book" panose="02000503020000020003" pitchFamily="2" charset="0"/>
                <a:ea typeface="맑은 고딕" panose="020B0503020000020004" pitchFamily="34" charset="-127"/>
                <a:cs typeface="Arial" pitchFamily="34" charset="0"/>
              </a:rPr>
              <a:t>Threat hunting &amp; first responder training</a:t>
            </a:r>
          </a:p>
          <a:p>
            <a:pPr marL="171477" indent="-171477" defTabSz="914530">
              <a:buFont typeface="Arial" panose="020B0604020202020204" pitchFamily="34" charset="0"/>
              <a:buChar char="•"/>
              <a:defRPr/>
            </a:pPr>
            <a:r>
              <a:rPr lang="en-US" altLang="ko-KR" sz="1200">
                <a:latin typeface="Avenir Book" panose="02000503020000020003" pitchFamily="2" charset="0"/>
                <a:ea typeface="맑은 고딕" panose="020B0503020000020004" pitchFamily="34" charset="-127"/>
                <a:cs typeface="Arial" pitchFamily="34" charset="0"/>
              </a:rPr>
              <a:t>Threat lifecycle controls </a:t>
            </a:r>
          </a:p>
          <a:p>
            <a:pPr marL="171477" indent="-171477" defTabSz="914530">
              <a:buFont typeface="Arial" panose="020B0604020202020204" pitchFamily="34" charset="0"/>
              <a:buChar char="•"/>
              <a:defRPr/>
            </a:pPr>
            <a:r>
              <a:rPr lang="en-US" altLang="ko-KR" sz="1200">
                <a:latin typeface="Avenir Book" panose="02000503020000020003" pitchFamily="2" charset="0"/>
                <a:ea typeface="맑은 고딕" panose="020B0503020000020004" pitchFamily="34" charset="-127"/>
                <a:cs typeface="Arial" pitchFamily="34" charset="0"/>
              </a:rPr>
              <a:t>Ingestion opportunities </a:t>
            </a:r>
          </a:p>
          <a:p>
            <a:pPr marL="171477" indent="-171477" defTabSz="914530">
              <a:buFont typeface="Arial" panose="020B0604020202020204" pitchFamily="34" charset="0"/>
              <a:buChar char="•"/>
              <a:defRPr/>
            </a:pPr>
            <a:r>
              <a:rPr lang="en-US" altLang="ko-KR" sz="1200">
                <a:latin typeface="Avenir Book" panose="02000503020000020003" pitchFamily="2" charset="0"/>
                <a:ea typeface="맑은 고딕" panose="020B0503020000020004" pitchFamily="34" charset="-127"/>
                <a:cs typeface="Arial" pitchFamily="34" charset="0"/>
              </a:rPr>
              <a:t>Deception technology </a:t>
            </a:r>
          </a:p>
          <a:p>
            <a:pPr marL="171477" indent="-171477" defTabSz="914530">
              <a:buFont typeface="Arial" panose="020B0604020202020204" pitchFamily="34" charset="0"/>
              <a:buChar char="•"/>
              <a:defRPr/>
            </a:pPr>
            <a:r>
              <a:rPr lang="en-US" altLang="ko-KR" sz="1200">
                <a:latin typeface="Avenir Book" panose="02000503020000020003" pitchFamily="2" charset="0"/>
                <a:ea typeface="맑은 고딕" panose="020B0503020000020004" pitchFamily="34" charset="-127"/>
                <a:cs typeface="Arial" pitchFamily="34" charset="0"/>
              </a:rPr>
              <a:t>Automated </a:t>
            </a:r>
            <a:r>
              <a:rPr lang="en-US" altLang="ko-KR" sz="1200" err="1">
                <a:latin typeface="Avenir Book" panose="02000503020000020003" pitchFamily="2" charset="0"/>
                <a:ea typeface="맑은 고딕" panose="020B0503020000020004" pitchFamily="34" charset="-127"/>
                <a:cs typeface="Arial" pitchFamily="34" charset="0"/>
              </a:rPr>
              <a:t>defence</a:t>
            </a:r>
            <a:r>
              <a:rPr lang="en-US" altLang="ko-KR" sz="1200">
                <a:latin typeface="Avenir Book" panose="02000503020000020003" pitchFamily="2" charset="0"/>
                <a:ea typeface="맑은 고딕" panose="020B0503020000020004" pitchFamily="34" charset="-127"/>
                <a:cs typeface="Arial" pitchFamily="34" charset="0"/>
              </a:rPr>
              <a:t> &amp; risk reduction</a:t>
            </a:r>
          </a:p>
          <a:p>
            <a:pPr marL="171477" indent="-171477" defTabSz="914530">
              <a:buFont typeface="Arial" panose="020B0604020202020204" pitchFamily="34" charset="0"/>
              <a:buChar char="•"/>
              <a:defRPr/>
            </a:pPr>
            <a:r>
              <a:rPr lang="en-US" altLang="ko-KR" sz="1200">
                <a:latin typeface="Avenir Book" panose="02000503020000020003" pitchFamily="2" charset="0"/>
                <a:ea typeface="맑은 고딕" panose="020B0503020000020004" pitchFamily="34" charset="-127"/>
                <a:cs typeface="Arial" pitchFamily="34" charset="0"/>
              </a:rPr>
              <a:t>Custom detection use cases</a:t>
            </a:r>
          </a:p>
          <a:p>
            <a:pPr marL="171477" indent="-171477" defTabSz="914530">
              <a:buFont typeface="Arial" panose="020B0604020202020204" pitchFamily="34" charset="0"/>
              <a:buChar char="•"/>
              <a:defRPr/>
            </a:pPr>
            <a:endParaRPr lang="en-US" altLang="ko-KR" sz="1200">
              <a:latin typeface="Avenir Book" panose="02000503020000020003" pitchFamily="2" charset="0"/>
              <a:ea typeface="맑은 고딕" panose="020B0503020000020004" pitchFamily="34" charset="-127"/>
              <a:cs typeface="Arial" pitchFamily="34" charset="0"/>
            </a:endParaRPr>
          </a:p>
          <a:p>
            <a:pPr marL="171477" indent="-171477" defTabSz="914530">
              <a:buFont typeface="Arial" panose="020B0604020202020204" pitchFamily="34" charset="0"/>
              <a:buChar char="•"/>
              <a:defRPr/>
            </a:pPr>
            <a:endParaRPr lang="en-US" altLang="ko-KR" sz="1200">
              <a:latin typeface="Avenir Book" panose="02000503020000020003" pitchFamily="2" charset="0"/>
              <a:ea typeface="맑은 고딕" panose="020B0503020000020004" pitchFamily="34" charset="-127"/>
              <a:cs typeface="Arial" pitchFamily="34" charset="0"/>
            </a:endParaRPr>
          </a:p>
        </p:txBody>
      </p:sp>
      <p:sp>
        <p:nvSpPr>
          <p:cNvPr id="31" name="TextBox 30">
            <a:extLst>
              <a:ext uri="{FF2B5EF4-FFF2-40B4-BE49-F238E27FC236}">
                <a16:creationId xmlns:a16="http://schemas.microsoft.com/office/drawing/2014/main" id="{BA3FF5DD-A5B5-405F-B65D-D1D0411570E5}"/>
              </a:ext>
            </a:extLst>
          </p:cNvPr>
          <p:cNvSpPr txBox="1"/>
          <p:nvPr/>
        </p:nvSpPr>
        <p:spPr>
          <a:xfrm>
            <a:off x="442192" y="1377013"/>
            <a:ext cx="5913511" cy="283476"/>
          </a:xfrm>
          <a:prstGeom prst="rect">
            <a:avLst/>
          </a:prstGeom>
          <a:solidFill>
            <a:schemeClr val="tx1">
              <a:lumMod val="75000"/>
              <a:lumOff val="25000"/>
            </a:schemeClr>
          </a:solidFill>
        </p:spPr>
        <p:txBody>
          <a:bodyPr wrap="square" rtlCol="0">
            <a:spAutoFit/>
          </a:bodyPr>
          <a:lstStyle/>
          <a:p>
            <a:pPr defTabSz="914530">
              <a:defRPr/>
            </a:pPr>
            <a:r>
              <a:rPr lang="en-US" altLang="ko-KR" sz="1200" b="1">
                <a:solidFill>
                  <a:prstClr val="white"/>
                </a:solidFill>
                <a:latin typeface="Calibri" panose="020F0502020204030204"/>
                <a:ea typeface="맑은 고딕" panose="020B0503020000020004" pitchFamily="34" charset="-127"/>
                <a:cs typeface="Arial" pitchFamily="34" charset="0"/>
              </a:rPr>
              <a:t>GUARDIAN </a:t>
            </a:r>
            <a:endParaRPr lang="ko-KR" altLang="en-US" sz="1200" b="1">
              <a:solidFill>
                <a:prstClr val="white"/>
              </a:solidFill>
              <a:latin typeface="Calibri" panose="020F0502020204030204"/>
              <a:ea typeface="맑은 고딕" panose="020B0503020000020004" pitchFamily="34" charset="-127"/>
              <a:cs typeface="Arial" pitchFamily="34" charset="0"/>
            </a:endParaRPr>
          </a:p>
        </p:txBody>
      </p:sp>
      <p:sp>
        <p:nvSpPr>
          <p:cNvPr id="33" name="TextBox 32">
            <a:extLst>
              <a:ext uri="{FF2B5EF4-FFF2-40B4-BE49-F238E27FC236}">
                <a16:creationId xmlns:a16="http://schemas.microsoft.com/office/drawing/2014/main" id="{EBC804B0-41BE-4663-84C7-3C2D852CD963}"/>
              </a:ext>
            </a:extLst>
          </p:cNvPr>
          <p:cNvSpPr txBox="1"/>
          <p:nvPr/>
        </p:nvSpPr>
        <p:spPr>
          <a:xfrm>
            <a:off x="716253" y="4091972"/>
            <a:ext cx="3585166" cy="1399550"/>
          </a:xfrm>
          <a:prstGeom prst="rect">
            <a:avLst/>
          </a:prstGeom>
          <a:noFill/>
        </p:spPr>
        <p:txBody>
          <a:bodyPr wrap="square" lIns="60960" tIns="30480" rIns="60960" bIns="30480" rtlCol="0" anchor="t">
            <a:spAutoFit/>
          </a:bodyPr>
          <a:lstStyle/>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Incident workflows maturity</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Incident response metrics</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Framework </a:t>
            </a:r>
            <a:r>
              <a:rPr lang="en-GB" altLang="ko-KR" sz="1200" dirty="0">
                <a:latin typeface="Avenir Book" panose="02000503020000020003" pitchFamily="2" charset="0"/>
                <a:ea typeface="맑은 고딕" panose="020B0503020000020004" pitchFamily="34" charset="-127"/>
                <a:cs typeface="Arial" pitchFamily="34" charset="0"/>
              </a:rPr>
              <a:t>visualisation</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Incident response performance</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Policy violation monitoring </a:t>
            </a:r>
            <a:endParaRPr lang="ko-KR" altLang="en-US" sz="1200" dirty="0">
              <a:latin typeface="Avenir Book" panose="02000503020000020003" pitchFamily="2" charset="0"/>
              <a:ea typeface="맑은 고딕" panose="020B0503020000020004" pitchFamily="34" charset="-127"/>
              <a:cs typeface="Arial" pitchFamily="34" charset="0"/>
            </a:endParaRP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a:cs typeface="Arial"/>
              </a:rPr>
              <a:t>Native asset management </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a:cs typeface="Arial"/>
              </a:rPr>
              <a:t>VMI – fusion of risk sources</a:t>
            </a:r>
          </a:p>
        </p:txBody>
      </p:sp>
      <p:sp>
        <p:nvSpPr>
          <p:cNvPr id="34" name="TextBox 33">
            <a:extLst>
              <a:ext uri="{FF2B5EF4-FFF2-40B4-BE49-F238E27FC236}">
                <a16:creationId xmlns:a16="http://schemas.microsoft.com/office/drawing/2014/main" id="{7A4183B7-9D75-40A6-9ADC-B23BEF6F5554}"/>
              </a:ext>
            </a:extLst>
          </p:cNvPr>
          <p:cNvSpPr txBox="1"/>
          <p:nvPr/>
        </p:nvSpPr>
        <p:spPr>
          <a:xfrm>
            <a:off x="341591" y="3820615"/>
            <a:ext cx="3892686" cy="283476"/>
          </a:xfrm>
          <a:prstGeom prst="rect">
            <a:avLst/>
          </a:prstGeom>
          <a:solidFill>
            <a:schemeClr val="tx1">
              <a:lumMod val="75000"/>
              <a:lumOff val="25000"/>
            </a:schemeClr>
          </a:solidFill>
        </p:spPr>
        <p:txBody>
          <a:bodyPr wrap="square" rtlCol="0">
            <a:spAutoFit/>
          </a:bodyPr>
          <a:lstStyle/>
          <a:p>
            <a:pPr defTabSz="914530">
              <a:defRPr/>
            </a:pPr>
            <a:r>
              <a:rPr lang="en-ZA" altLang="ko-KR" sz="1200" b="1">
                <a:solidFill>
                  <a:prstClr val="white"/>
                </a:solidFill>
                <a:latin typeface="Calibri" panose="020F0502020204030204"/>
                <a:ea typeface="맑은 고딕" panose="020B0503020000020004" pitchFamily="34" charset="-127"/>
                <a:cs typeface="Arial" pitchFamily="34" charset="0"/>
              </a:rPr>
              <a:t>ASSURANCE &amp; MANAGEMENT REPORTING </a:t>
            </a:r>
            <a:endParaRPr lang="ko-KR" altLang="en-US" sz="1200" b="1">
              <a:solidFill>
                <a:prstClr val="white"/>
              </a:solidFill>
              <a:latin typeface="Calibri" panose="020F0502020204030204"/>
              <a:ea typeface="맑은 고딕" panose="020B0503020000020004" pitchFamily="34" charset="-127"/>
              <a:cs typeface="Arial" pitchFamily="34" charset="0"/>
            </a:endParaRPr>
          </a:p>
        </p:txBody>
      </p:sp>
      <p:sp>
        <p:nvSpPr>
          <p:cNvPr id="45" name="TextBox 44">
            <a:extLst>
              <a:ext uri="{FF2B5EF4-FFF2-40B4-BE49-F238E27FC236}">
                <a16:creationId xmlns:a16="http://schemas.microsoft.com/office/drawing/2014/main" id="{ED5CB568-9952-4EA7-BA34-5D336E723B25}"/>
              </a:ext>
            </a:extLst>
          </p:cNvPr>
          <p:cNvSpPr txBox="1"/>
          <p:nvPr/>
        </p:nvSpPr>
        <p:spPr>
          <a:xfrm>
            <a:off x="8629282" y="1671400"/>
            <a:ext cx="3191540" cy="1384995"/>
          </a:xfrm>
          <a:prstGeom prst="rect">
            <a:avLst/>
          </a:prstGeom>
          <a:noFill/>
        </p:spPr>
        <p:txBody>
          <a:bodyPr wrap="square" rtlCol="0">
            <a:spAutoFit/>
          </a:bodyPr>
          <a:lstStyle/>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Tabletop exercise </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IRP development </a:t>
            </a:r>
          </a:p>
          <a:p>
            <a:pPr marL="171477" indent="-171477" defTabSz="914530">
              <a:buFont typeface="Arial" panose="020B0604020202020204" pitchFamily="34" charset="0"/>
              <a:buChar char="•"/>
              <a:defRPr/>
            </a:pPr>
            <a:r>
              <a:rPr lang="en-US" altLang="ko-KR" sz="1200" dirty="0" err="1">
                <a:latin typeface="Avenir Book" panose="02000503020000020003" pitchFamily="2" charset="0"/>
                <a:ea typeface="맑은 고딕" panose="020B0503020000020004" pitchFamily="34" charset="-127"/>
                <a:cs typeface="Arial" pitchFamily="34" charset="0"/>
              </a:rPr>
              <a:t>Defence</a:t>
            </a:r>
            <a:r>
              <a:rPr lang="en-US" altLang="ko-KR" sz="1200" dirty="0">
                <a:latin typeface="Avenir Book" panose="02000503020000020003" pitchFamily="2" charset="0"/>
                <a:ea typeface="맑은 고딕" panose="020B0503020000020004" pitchFamily="34" charset="-127"/>
                <a:cs typeface="Arial" pitchFamily="34" charset="0"/>
              </a:rPr>
              <a:t>-in-depth repository </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Risk-based exception handling/reporting</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Playbook &amp; battle box development</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CSIRT assist response retainers</a:t>
            </a:r>
          </a:p>
          <a:p>
            <a:pPr marL="171477" indent="-171477" defTabSz="914530">
              <a:buFont typeface="Arial" panose="020B0604020202020204" pitchFamily="34" charset="0"/>
              <a:buChar char="•"/>
              <a:defRPr/>
            </a:pPr>
            <a:r>
              <a:rPr lang="en-US" altLang="ko-KR" sz="1200" dirty="0">
                <a:latin typeface="Avenir Book" panose="02000503020000020003" pitchFamily="2" charset="0"/>
                <a:ea typeface="맑은 고딕" panose="020B0503020000020004" pitchFamily="34" charset="-127"/>
                <a:cs typeface="Arial" pitchFamily="34" charset="0"/>
              </a:rPr>
              <a:t>Rehearsals, informed/uninformed</a:t>
            </a:r>
            <a:endParaRPr lang="ko-KR" altLang="en-US" sz="1200" dirty="0">
              <a:latin typeface="Avenir Book" panose="02000503020000020003" pitchFamily="2" charset="0"/>
              <a:ea typeface="맑은 고딕" panose="020B0503020000020004" pitchFamily="34" charset="-127"/>
              <a:cs typeface="Arial" pitchFamily="34" charset="0"/>
            </a:endParaRPr>
          </a:p>
        </p:txBody>
      </p:sp>
      <p:sp>
        <p:nvSpPr>
          <p:cNvPr id="46" name="TextBox 45">
            <a:extLst>
              <a:ext uri="{FF2B5EF4-FFF2-40B4-BE49-F238E27FC236}">
                <a16:creationId xmlns:a16="http://schemas.microsoft.com/office/drawing/2014/main" id="{877E41D5-3222-4831-98D5-3DA74D7B7F91}"/>
              </a:ext>
            </a:extLst>
          </p:cNvPr>
          <p:cNvSpPr txBox="1"/>
          <p:nvPr/>
        </p:nvSpPr>
        <p:spPr>
          <a:xfrm>
            <a:off x="6969730" y="1402020"/>
            <a:ext cx="4968283" cy="276999"/>
          </a:xfrm>
          <a:prstGeom prst="rect">
            <a:avLst/>
          </a:prstGeom>
          <a:solidFill>
            <a:schemeClr val="tx1">
              <a:lumMod val="75000"/>
              <a:lumOff val="25000"/>
            </a:schemeClr>
          </a:solidFill>
        </p:spPr>
        <p:txBody>
          <a:bodyPr wrap="square" rtlCol="0">
            <a:spAutoFit/>
          </a:bodyPr>
          <a:lstStyle/>
          <a:p>
            <a:pPr algn="ctr" defTabSz="914530">
              <a:defRPr/>
            </a:pPr>
            <a:r>
              <a:rPr lang="en-US" altLang="ko-KR" sz="1200" b="1">
                <a:solidFill>
                  <a:prstClr val="white"/>
                </a:solidFill>
                <a:latin typeface="Calibri" panose="020F0502020204030204"/>
                <a:ea typeface="맑은 고딕" panose="020B0503020000020004" pitchFamily="34" charset="-127"/>
                <a:cs typeface="Arial" pitchFamily="34" charset="0"/>
              </a:rPr>
              <a:t>INCIDENT RESPONSE PROGRAM </a:t>
            </a:r>
            <a:endParaRPr lang="ko-KR" altLang="en-US" sz="1200" b="1">
              <a:solidFill>
                <a:prstClr val="white"/>
              </a:solidFill>
              <a:latin typeface="Calibri" panose="020F0502020204030204"/>
              <a:ea typeface="맑은 고딕" panose="020B0503020000020004" pitchFamily="34" charset="-127"/>
              <a:cs typeface="Arial" pitchFamily="34" charset="0"/>
            </a:endParaRPr>
          </a:p>
        </p:txBody>
      </p:sp>
      <p:sp>
        <p:nvSpPr>
          <p:cNvPr id="74" name="TextBox 73">
            <a:extLst>
              <a:ext uri="{FF2B5EF4-FFF2-40B4-BE49-F238E27FC236}">
                <a16:creationId xmlns:a16="http://schemas.microsoft.com/office/drawing/2014/main" id="{6F2C1124-8093-E87B-9037-44AA8BF26B08}"/>
              </a:ext>
            </a:extLst>
          </p:cNvPr>
          <p:cNvSpPr txBox="1"/>
          <p:nvPr/>
        </p:nvSpPr>
        <p:spPr>
          <a:xfrm>
            <a:off x="2845129" y="96712"/>
            <a:ext cx="6265778" cy="553998"/>
          </a:xfrm>
          <a:prstGeom prst="rect">
            <a:avLst/>
          </a:prstGeom>
          <a:noFill/>
        </p:spPr>
        <p:txBody>
          <a:bodyPr wrap="square" lIns="60960" tIns="30480" rIns="60960" bIns="30480" rtlCol="0" anchor="t">
            <a:spAutoFit/>
          </a:bodyPr>
          <a:lstStyle/>
          <a:p>
            <a:pPr algn="ctr" defTabSz="304842">
              <a:defRPr/>
            </a:pPr>
            <a:r>
              <a:rPr lang="en-ZA" sz="3200" b="1">
                <a:latin typeface="Avenir Book" panose="02000503020000020003" pitchFamily="2" charset="0"/>
                <a:cs typeface="Poppins SemiBold"/>
              </a:rPr>
              <a:t>Threat Management Program</a:t>
            </a:r>
          </a:p>
        </p:txBody>
      </p:sp>
      <p:sp>
        <p:nvSpPr>
          <p:cNvPr id="2" name="Rectangle 1">
            <a:extLst>
              <a:ext uri="{FF2B5EF4-FFF2-40B4-BE49-F238E27FC236}">
                <a16:creationId xmlns:a16="http://schemas.microsoft.com/office/drawing/2014/main" id="{34BE0C5F-C701-C177-8433-304DAE3B96D4}"/>
              </a:ext>
            </a:extLst>
          </p:cNvPr>
          <p:cNvSpPr/>
          <p:nvPr/>
        </p:nvSpPr>
        <p:spPr>
          <a:xfrm>
            <a:off x="5525223" y="3442858"/>
            <a:ext cx="785916" cy="2265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04842">
              <a:defRPr/>
            </a:pPr>
            <a:endParaRPr lang="en-ZA" sz="1200">
              <a:solidFill>
                <a:prstClr val="white"/>
              </a:solidFill>
              <a:latin typeface="Calibri" panose="020F0502020204030204"/>
            </a:endParaRPr>
          </a:p>
        </p:txBody>
      </p:sp>
      <p:pic>
        <p:nvPicPr>
          <p:cNvPr id="4098" name="Picture 2">
            <a:extLst>
              <a:ext uri="{FF2B5EF4-FFF2-40B4-BE49-F238E27FC236}">
                <a16:creationId xmlns:a16="http://schemas.microsoft.com/office/drawing/2014/main" id="{D327247F-25F2-091E-F97D-619E4E56F3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1785" y="3435341"/>
            <a:ext cx="785918" cy="195902"/>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B3032B36-39EB-841B-8CF1-2A4A838AFBDD}"/>
              </a:ext>
            </a:extLst>
          </p:cNvPr>
          <p:cNvGrpSpPr/>
          <p:nvPr/>
        </p:nvGrpSpPr>
        <p:grpSpPr>
          <a:xfrm>
            <a:off x="3439499" y="1147392"/>
            <a:ext cx="5083465" cy="5236830"/>
            <a:chOff x="1015711" y="1331174"/>
            <a:chExt cx="5178426" cy="5169430"/>
          </a:xfrm>
        </p:grpSpPr>
        <p:grpSp>
          <p:nvGrpSpPr>
            <p:cNvPr id="6" name="Group 5">
              <a:extLst>
                <a:ext uri="{FF2B5EF4-FFF2-40B4-BE49-F238E27FC236}">
                  <a16:creationId xmlns:a16="http://schemas.microsoft.com/office/drawing/2014/main" id="{FA2A6E10-D82E-FC02-2B46-7CD0074C1799}"/>
                </a:ext>
              </a:extLst>
            </p:cNvPr>
            <p:cNvGrpSpPr/>
            <p:nvPr/>
          </p:nvGrpSpPr>
          <p:grpSpPr>
            <a:xfrm>
              <a:off x="1015711" y="1331174"/>
              <a:ext cx="5178426" cy="5169430"/>
              <a:chOff x="3508375" y="1377685"/>
              <a:chExt cx="5178426" cy="5169430"/>
            </a:xfrm>
          </p:grpSpPr>
          <p:grpSp>
            <p:nvGrpSpPr>
              <p:cNvPr id="9" name="Group 8">
                <a:extLst>
                  <a:ext uri="{FF2B5EF4-FFF2-40B4-BE49-F238E27FC236}">
                    <a16:creationId xmlns:a16="http://schemas.microsoft.com/office/drawing/2014/main" id="{FBF81142-F477-F078-DE74-ECE911736599}"/>
                  </a:ext>
                </a:extLst>
              </p:cNvPr>
              <p:cNvGrpSpPr/>
              <p:nvPr/>
            </p:nvGrpSpPr>
            <p:grpSpPr>
              <a:xfrm>
                <a:off x="3508375" y="1377685"/>
                <a:ext cx="5178426" cy="5169430"/>
                <a:chOff x="3508375" y="1377685"/>
                <a:chExt cx="5178426" cy="5169430"/>
              </a:xfrm>
            </p:grpSpPr>
            <p:sp>
              <p:nvSpPr>
                <p:cNvPr id="13" name="Oval 12">
                  <a:extLst>
                    <a:ext uri="{FF2B5EF4-FFF2-40B4-BE49-F238E27FC236}">
                      <a16:creationId xmlns:a16="http://schemas.microsoft.com/office/drawing/2014/main" id="{CAFCD928-8A14-E34C-6D4D-03EEC5F15F8E}"/>
                    </a:ext>
                  </a:extLst>
                </p:cNvPr>
                <p:cNvSpPr>
                  <a:spLocks noChangeArrowheads="1"/>
                </p:cNvSpPr>
                <p:nvPr/>
              </p:nvSpPr>
              <p:spPr bwMode="auto">
                <a:xfrm>
                  <a:off x="3508375" y="1377685"/>
                  <a:ext cx="5178426" cy="5169430"/>
                </a:xfrm>
                <a:prstGeom prst="ellipse">
                  <a:avLst/>
                </a:prstGeom>
                <a:solidFill>
                  <a:schemeClr val="tx1">
                    <a:lumMod val="95000"/>
                    <a:lumOff val="5000"/>
                  </a:schemeClr>
                </a:solidFill>
                <a:ln>
                  <a:noFill/>
                </a:ln>
              </p:spPr>
              <p:txBody>
                <a:bodyPr vert="horz" wrap="square" lIns="60960" tIns="30480" rIns="60960" bIns="30480" numCol="1" anchor="t" anchorCtr="0" compatLnSpc="1">
                  <a:prstTxWarp prst="textNoShape">
                    <a:avLst/>
                  </a:prstTxWarp>
                </a:bodyPr>
                <a:lstStyle/>
                <a:p>
                  <a:endParaRPr lang="en-IN" sz="1867">
                    <a:latin typeface="Avenir Next" panose="020B0503020202020204" pitchFamily="34" charset="0"/>
                  </a:endParaRPr>
                </a:p>
              </p:txBody>
            </p:sp>
            <p:grpSp>
              <p:nvGrpSpPr>
                <p:cNvPr id="14" name="Group 13">
                  <a:extLst>
                    <a:ext uri="{FF2B5EF4-FFF2-40B4-BE49-F238E27FC236}">
                      <a16:creationId xmlns:a16="http://schemas.microsoft.com/office/drawing/2014/main" id="{55A75953-EE6D-C0D0-4FC8-CF05DAC2A835}"/>
                    </a:ext>
                  </a:extLst>
                </p:cNvPr>
                <p:cNvGrpSpPr/>
                <p:nvPr/>
              </p:nvGrpSpPr>
              <p:grpSpPr>
                <a:xfrm>
                  <a:off x="3842709" y="1710520"/>
                  <a:ext cx="4521752" cy="4514256"/>
                  <a:chOff x="3842709" y="1710520"/>
                  <a:chExt cx="4521752" cy="4514256"/>
                </a:xfrm>
              </p:grpSpPr>
              <p:grpSp>
                <p:nvGrpSpPr>
                  <p:cNvPr id="15" name="Group 14">
                    <a:extLst>
                      <a:ext uri="{FF2B5EF4-FFF2-40B4-BE49-F238E27FC236}">
                        <a16:creationId xmlns:a16="http://schemas.microsoft.com/office/drawing/2014/main" id="{DDDA1BA8-B988-40B5-9A46-2E7E34B8207A}"/>
                      </a:ext>
                    </a:extLst>
                  </p:cNvPr>
                  <p:cNvGrpSpPr/>
                  <p:nvPr/>
                </p:nvGrpSpPr>
                <p:grpSpPr>
                  <a:xfrm>
                    <a:off x="3842709" y="1710520"/>
                    <a:ext cx="4521752" cy="4514256"/>
                    <a:chOff x="3842709" y="1710520"/>
                    <a:chExt cx="4521752" cy="4514256"/>
                  </a:xfrm>
                </p:grpSpPr>
                <p:sp>
                  <p:nvSpPr>
                    <p:cNvPr id="53" name="Freeform 13">
                      <a:extLst>
                        <a:ext uri="{FF2B5EF4-FFF2-40B4-BE49-F238E27FC236}">
                          <a16:creationId xmlns:a16="http://schemas.microsoft.com/office/drawing/2014/main" id="{B32A04D0-1DB4-C335-EAFE-0FCCAB04652A}"/>
                        </a:ext>
                      </a:extLst>
                    </p:cNvPr>
                    <p:cNvSpPr>
                      <a:spLocks/>
                    </p:cNvSpPr>
                    <p:nvPr/>
                  </p:nvSpPr>
                  <p:spPr bwMode="auto">
                    <a:xfrm>
                      <a:off x="4145559" y="1710520"/>
                      <a:ext cx="3917553" cy="1418295"/>
                    </a:xfrm>
                    <a:custGeom>
                      <a:avLst/>
                      <a:gdLst>
                        <a:gd name="T0" fmla="*/ 1431 w 1431"/>
                        <a:gd name="T1" fmla="*/ 414 h 519"/>
                        <a:gd name="T2" fmla="*/ 1249 w 1431"/>
                        <a:gd name="T3" fmla="*/ 519 h 519"/>
                        <a:gd name="T4" fmla="*/ 715 w 1431"/>
                        <a:gd name="T5" fmla="*/ 211 h 519"/>
                        <a:gd name="T6" fmla="*/ 182 w 1431"/>
                        <a:gd name="T7" fmla="*/ 519 h 519"/>
                        <a:gd name="T8" fmla="*/ 0 w 1431"/>
                        <a:gd name="T9" fmla="*/ 413 h 519"/>
                        <a:gd name="T10" fmla="*/ 715 w 1431"/>
                        <a:gd name="T11" fmla="*/ 0 h 519"/>
                        <a:gd name="T12" fmla="*/ 1431 w 1431"/>
                        <a:gd name="T13" fmla="*/ 414 h 519"/>
                      </a:gdLst>
                      <a:ahLst/>
                      <a:cxnLst>
                        <a:cxn ang="0">
                          <a:pos x="T0" y="T1"/>
                        </a:cxn>
                        <a:cxn ang="0">
                          <a:pos x="T2" y="T3"/>
                        </a:cxn>
                        <a:cxn ang="0">
                          <a:pos x="T4" y="T5"/>
                        </a:cxn>
                        <a:cxn ang="0">
                          <a:pos x="T6" y="T7"/>
                        </a:cxn>
                        <a:cxn ang="0">
                          <a:pos x="T8" y="T9"/>
                        </a:cxn>
                        <a:cxn ang="0">
                          <a:pos x="T10" y="T11"/>
                        </a:cxn>
                        <a:cxn ang="0">
                          <a:pos x="T12" y="T13"/>
                        </a:cxn>
                      </a:cxnLst>
                      <a:rect l="0" t="0" r="r" b="b"/>
                      <a:pathLst>
                        <a:path w="1431" h="519">
                          <a:moveTo>
                            <a:pt x="1431" y="414"/>
                          </a:moveTo>
                          <a:cubicBezTo>
                            <a:pt x="1249" y="519"/>
                            <a:pt x="1249" y="519"/>
                            <a:pt x="1249" y="519"/>
                          </a:cubicBezTo>
                          <a:cubicBezTo>
                            <a:pt x="1142" y="335"/>
                            <a:pt x="943" y="211"/>
                            <a:pt x="715" y="211"/>
                          </a:cubicBezTo>
                          <a:cubicBezTo>
                            <a:pt x="488" y="211"/>
                            <a:pt x="289" y="335"/>
                            <a:pt x="182" y="519"/>
                          </a:cubicBezTo>
                          <a:cubicBezTo>
                            <a:pt x="0" y="413"/>
                            <a:pt x="0" y="413"/>
                            <a:pt x="0" y="413"/>
                          </a:cubicBezTo>
                          <a:cubicBezTo>
                            <a:pt x="143" y="167"/>
                            <a:pt x="410" y="0"/>
                            <a:pt x="715" y="0"/>
                          </a:cubicBezTo>
                          <a:cubicBezTo>
                            <a:pt x="1021" y="0"/>
                            <a:pt x="1288" y="167"/>
                            <a:pt x="1431" y="414"/>
                          </a:cubicBezTo>
                          <a:close/>
                        </a:path>
                      </a:pathLst>
                    </a:custGeom>
                    <a:solidFill>
                      <a:schemeClr val="bg2">
                        <a:lumMod val="10000"/>
                      </a:schemeClr>
                    </a:solidFill>
                    <a:ln w="28575">
                      <a:solidFill>
                        <a:srgbClr val="FFBB20"/>
                      </a:solidFill>
                    </a:ln>
                    <a:effectLst>
                      <a:outerShdw blurRad="50800" dist="38100" dir="10800000" algn="r" rotWithShape="0">
                        <a:prstClr val="black">
                          <a:alpha val="14000"/>
                        </a:prstClr>
                      </a:outerShdw>
                    </a:effectLst>
                  </p:spPr>
                  <p:txBody>
                    <a:bodyPr vert="horz" wrap="square" lIns="60960" tIns="30480" rIns="60960" bIns="30480" numCol="1" anchor="t" anchorCtr="0" compatLnSpc="1">
                      <a:prstTxWarp prst="textNoShape">
                        <a:avLst/>
                      </a:prstTxWarp>
                    </a:bodyPr>
                    <a:lstStyle/>
                    <a:p>
                      <a:endParaRPr lang="en-IN" sz="1867">
                        <a:latin typeface="Avenir Next" panose="020B0503020202020204" pitchFamily="34" charset="0"/>
                      </a:endParaRPr>
                    </a:p>
                  </p:txBody>
                </p:sp>
                <p:sp>
                  <p:nvSpPr>
                    <p:cNvPr id="56" name="Freeform 14">
                      <a:extLst>
                        <a:ext uri="{FF2B5EF4-FFF2-40B4-BE49-F238E27FC236}">
                          <a16:creationId xmlns:a16="http://schemas.microsoft.com/office/drawing/2014/main" id="{D37BD85D-BB17-01C6-C1E5-C9A95625B10E}"/>
                        </a:ext>
                      </a:extLst>
                    </p:cNvPr>
                    <p:cNvSpPr>
                      <a:spLocks/>
                    </p:cNvSpPr>
                    <p:nvPr/>
                  </p:nvSpPr>
                  <p:spPr bwMode="auto">
                    <a:xfrm>
                      <a:off x="3842709" y="2839459"/>
                      <a:ext cx="2260876" cy="3385317"/>
                    </a:xfrm>
                    <a:custGeom>
                      <a:avLst/>
                      <a:gdLst>
                        <a:gd name="T0" fmla="*/ 826 w 826"/>
                        <a:gd name="T1" fmla="*/ 1029 h 1239"/>
                        <a:gd name="T2" fmla="*/ 826 w 826"/>
                        <a:gd name="T3" fmla="*/ 1239 h 1239"/>
                        <a:gd name="T4" fmla="*/ 0 w 826"/>
                        <a:gd name="T5" fmla="*/ 413 h 1239"/>
                        <a:gd name="T6" fmla="*/ 111 w 826"/>
                        <a:gd name="T7" fmla="*/ 0 h 1239"/>
                        <a:gd name="T8" fmla="*/ 293 w 826"/>
                        <a:gd name="T9" fmla="*/ 106 h 1239"/>
                        <a:gd name="T10" fmla="*/ 211 w 826"/>
                        <a:gd name="T11" fmla="*/ 413 h 1239"/>
                        <a:gd name="T12" fmla="*/ 826 w 826"/>
                        <a:gd name="T13" fmla="*/ 1029 h 1239"/>
                      </a:gdLst>
                      <a:ahLst/>
                      <a:cxnLst>
                        <a:cxn ang="0">
                          <a:pos x="T0" y="T1"/>
                        </a:cxn>
                        <a:cxn ang="0">
                          <a:pos x="T2" y="T3"/>
                        </a:cxn>
                        <a:cxn ang="0">
                          <a:pos x="T4" y="T5"/>
                        </a:cxn>
                        <a:cxn ang="0">
                          <a:pos x="T6" y="T7"/>
                        </a:cxn>
                        <a:cxn ang="0">
                          <a:pos x="T8" y="T9"/>
                        </a:cxn>
                        <a:cxn ang="0">
                          <a:pos x="T10" y="T11"/>
                        </a:cxn>
                        <a:cxn ang="0">
                          <a:pos x="T12" y="T13"/>
                        </a:cxn>
                      </a:cxnLst>
                      <a:rect l="0" t="0" r="r" b="b"/>
                      <a:pathLst>
                        <a:path w="826" h="1239">
                          <a:moveTo>
                            <a:pt x="826" y="1029"/>
                          </a:moveTo>
                          <a:cubicBezTo>
                            <a:pt x="826" y="1239"/>
                            <a:pt x="826" y="1239"/>
                            <a:pt x="826" y="1239"/>
                          </a:cubicBezTo>
                          <a:cubicBezTo>
                            <a:pt x="370" y="1239"/>
                            <a:pt x="0" y="870"/>
                            <a:pt x="0" y="413"/>
                          </a:cubicBezTo>
                          <a:cubicBezTo>
                            <a:pt x="0" y="263"/>
                            <a:pt x="41" y="122"/>
                            <a:pt x="111" y="0"/>
                          </a:cubicBezTo>
                          <a:cubicBezTo>
                            <a:pt x="293" y="106"/>
                            <a:pt x="293" y="106"/>
                            <a:pt x="293" y="106"/>
                          </a:cubicBezTo>
                          <a:cubicBezTo>
                            <a:pt x="241" y="196"/>
                            <a:pt x="211" y="301"/>
                            <a:pt x="211" y="413"/>
                          </a:cubicBezTo>
                          <a:cubicBezTo>
                            <a:pt x="211" y="753"/>
                            <a:pt x="487" y="1029"/>
                            <a:pt x="826" y="1029"/>
                          </a:cubicBezTo>
                          <a:close/>
                        </a:path>
                      </a:pathLst>
                    </a:custGeom>
                    <a:solidFill>
                      <a:schemeClr val="bg2">
                        <a:lumMod val="10000"/>
                      </a:schemeClr>
                    </a:solidFill>
                    <a:ln w="28575">
                      <a:solidFill>
                        <a:srgbClr val="FFBB20"/>
                      </a:solidFill>
                    </a:ln>
                    <a:effectLst>
                      <a:outerShdw blurRad="50800" dist="38100" dir="10800000" algn="r" rotWithShape="0">
                        <a:prstClr val="black">
                          <a:alpha val="14000"/>
                        </a:prstClr>
                      </a:outerShdw>
                    </a:effectLst>
                  </p:spPr>
                  <p:txBody>
                    <a:bodyPr vert="horz" wrap="square" lIns="60960" tIns="30480" rIns="60960" bIns="30480" numCol="1" anchor="t" anchorCtr="0" compatLnSpc="1">
                      <a:prstTxWarp prst="textNoShape">
                        <a:avLst/>
                      </a:prstTxWarp>
                    </a:bodyPr>
                    <a:lstStyle/>
                    <a:p>
                      <a:endParaRPr lang="en-IN" sz="1867">
                        <a:latin typeface="Avenir Next" panose="020B0503020202020204" pitchFamily="34" charset="0"/>
                      </a:endParaRPr>
                    </a:p>
                  </p:txBody>
                </p:sp>
                <p:sp>
                  <p:nvSpPr>
                    <p:cNvPr id="57" name="Freeform 15">
                      <a:extLst>
                        <a:ext uri="{FF2B5EF4-FFF2-40B4-BE49-F238E27FC236}">
                          <a16:creationId xmlns:a16="http://schemas.microsoft.com/office/drawing/2014/main" id="{4C8DB88A-DBE5-CC7F-0C3D-7096BAD5A375}"/>
                        </a:ext>
                      </a:extLst>
                    </p:cNvPr>
                    <p:cNvSpPr>
                      <a:spLocks/>
                    </p:cNvSpPr>
                    <p:nvPr/>
                  </p:nvSpPr>
                  <p:spPr bwMode="auto">
                    <a:xfrm>
                      <a:off x="6103585" y="2842457"/>
                      <a:ext cx="2260876" cy="3382318"/>
                    </a:xfrm>
                    <a:custGeom>
                      <a:avLst/>
                      <a:gdLst>
                        <a:gd name="T0" fmla="*/ 826 w 826"/>
                        <a:gd name="T1" fmla="*/ 412 h 1238"/>
                        <a:gd name="T2" fmla="*/ 0 w 826"/>
                        <a:gd name="T3" fmla="*/ 1238 h 1238"/>
                        <a:gd name="T4" fmla="*/ 0 w 826"/>
                        <a:gd name="T5" fmla="*/ 1028 h 1238"/>
                        <a:gd name="T6" fmla="*/ 616 w 826"/>
                        <a:gd name="T7" fmla="*/ 412 h 1238"/>
                        <a:gd name="T8" fmla="*/ 534 w 826"/>
                        <a:gd name="T9" fmla="*/ 105 h 1238"/>
                        <a:gd name="T10" fmla="*/ 716 w 826"/>
                        <a:gd name="T11" fmla="*/ 0 h 1238"/>
                        <a:gd name="T12" fmla="*/ 826 w 826"/>
                        <a:gd name="T13" fmla="*/ 412 h 1238"/>
                      </a:gdLst>
                      <a:ahLst/>
                      <a:cxnLst>
                        <a:cxn ang="0">
                          <a:pos x="T0" y="T1"/>
                        </a:cxn>
                        <a:cxn ang="0">
                          <a:pos x="T2" y="T3"/>
                        </a:cxn>
                        <a:cxn ang="0">
                          <a:pos x="T4" y="T5"/>
                        </a:cxn>
                        <a:cxn ang="0">
                          <a:pos x="T6" y="T7"/>
                        </a:cxn>
                        <a:cxn ang="0">
                          <a:pos x="T8" y="T9"/>
                        </a:cxn>
                        <a:cxn ang="0">
                          <a:pos x="T10" y="T11"/>
                        </a:cxn>
                        <a:cxn ang="0">
                          <a:pos x="T12" y="T13"/>
                        </a:cxn>
                      </a:cxnLst>
                      <a:rect l="0" t="0" r="r" b="b"/>
                      <a:pathLst>
                        <a:path w="826" h="1238">
                          <a:moveTo>
                            <a:pt x="826" y="412"/>
                          </a:moveTo>
                          <a:cubicBezTo>
                            <a:pt x="826" y="869"/>
                            <a:pt x="457" y="1238"/>
                            <a:pt x="0" y="1238"/>
                          </a:cubicBezTo>
                          <a:cubicBezTo>
                            <a:pt x="0" y="1028"/>
                            <a:pt x="0" y="1028"/>
                            <a:pt x="0" y="1028"/>
                          </a:cubicBezTo>
                          <a:cubicBezTo>
                            <a:pt x="340" y="1028"/>
                            <a:pt x="616" y="752"/>
                            <a:pt x="616" y="412"/>
                          </a:cubicBezTo>
                          <a:cubicBezTo>
                            <a:pt x="616" y="300"/>
                            <a:pt x="586" y="195"/>
                            <a:pt x="534" y="105"/>
                          </a:cubicBezTo>
                          <a:cubicBezTo>
                            <a:pt x="716" y="0"/>
                            <a:pt x="716" y="0"/>
                            <a:pt x="716" y="0"/>
                          </a:cubicBezTo>
                          <a:cubicBezTo>
                            <a:pt x="786" y="121"/>
                            <a:pt x="826" y="262"/>
                            <a:pt x="826" y="412"/>
                          </a:cubicBezTo>
                          <a:close/>
                        </a:path>
                      </a:pathLst>
                    </a:custGeom>
                    <a:solidFill>
                      <a:schemeClr val="bg2">
                        <a:lumMod val="10000"/>
                      </a:schemeClr>
                    </a:solidFill>
                    <a:ln w="28575">
                      <a:solidFill>
                        <a:srgbClr val="FFBB20"/>
                      </a:solidFill>
                    </a:ln>
                    <a:effectLst>
                      <a:outerShdw blurRad="50800" dist="38100" dir="10800000" algn="r" rotWithShape="0">
                        <a:prstClr val="black">
                          <a:alpha val="14000"/>
                        </a:prstClr>
                      </a:outerShdw>
                    </a:effectLst>
                  </p:spPr>
                  <p:txBody>
                    <a:bodyPr vert="horz" wrap="square" lIns="60960" tIns="30480" rIns="60960" bIns="30480" numCol="1" anchor="t" anchorCtr="0" compatLnSpc="1">
                      <a:prstTxWarp prst="textNoShape">
                        <a:avLst/>
                      </a:prstTxWarp>
                    </a:bodyPr>
                    <a:lstStyle/>
                    <a:p>
                      <a:endParaRPr lang="en-IN" sz="1867">
                        <a:latin typeface="Avenir Next" panose="020B0503020202020204" pitchFamily="34" charset="0"/>
                      </a:endParaRPr>
                    </a:p>
                  </p:txBody>
                </p:sp>
              </p:grpSp>
              <p:sp>
                <p:nvSpPr>
                  <p:cNvPr id="16" name="Oval 15">
                    <a:extLst>
                      <a:ext uri="{FF2B5EF4-FFF2-40B4-BE49-F238E27FC236}">
                        <a16:creationId xmlns:a16="http://schemas.microsoft.com/office/drawing/2014/main" id="{BA51DD71-055F-356B-BE9F-8B414A8D967E}"/>
                      </a:ext>
                    </a:extLst>
                  </p:cNvPr>
                  <p:cNvSpPr/>
                  <p:nvPr/>
                </p:nvSpPr>
                <p:spPr>
                  <a:xfrm>
                    <a:off x="5683250" y="3551813"/>
                    <a:ext cx="855664" cy="855660"/>
                  </a:xfrm>
                  <a:prstGeom prst="ellipse">
                    <a:avLst/>
                  </a:prstGeom>
                  <a:solidFill>
                    <a:schemeClr val="tx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67">
                      <a:latin typeface="Avenir Next" panose="020B0503020202020204" pitchFamily="34" charset="0"/>
                    </a:endParaRPr>
                  </a:p>
                </p:txBody>
              </p:sp>
              <p:grpSp>
                <p:nvGrpSpPr>
                  <p:cNvPr id="17" name="Group 16">
                    <a:extLst>
                      <a:ext uri="{FF2B5EF4-FFF2-40B4-BE49-F238E27FC236}">
                        <a16:creationId xmlns:a16="http://schemas.microsoft.com/office/drawing/2014/main" id="{945128C4-3F32-946E-A97B-26E05DA726B3}"/>
                      </a:ext>
                    </a:extLst>
                  </p:cNvPr>
                  <p:cNvGrpSpPr/>
                  <p:nvPr/>
                </p:nvGrpSpPr>
                <p:grpSpPr>
                  <a:xfrm>
                    <a:off x="4580068" y="2455388"/>
                    <a:ext cx="3031493" cy="3023997"/>
                    <a:chOff x="4595335" y="1934244"/>
                    <a:chExt cx="3031493" cy="3023997"/>
                  </a:xfrm>
                </p:grpSpPr>
                <p:sp>
                  <p:nvSpPr>
                    <p:cNvPr id="43" name="Freeform 16">
                      <a:extLst>
                        <a:ext uri="{FF2B5EF4-FFF2-40B4-BE49-F238E27FC236}">
                          <a16:creationId xmlns:a16="http://schemas.microsoft.com/office/drawing/2014/main" id="{B5B925B9-3D98-1808-C9B9-4B6B8D1BAE26}"/>
                        </a:ext>
                      </a:extLst>
                    </p:cNvPr>
                    <p:cNvSpPr>
                      <a:spLocks/>
                    </p:cNvSpPr>
                    <p:nvPr/>
                  </p:nvSpPr>
                  <p:spPr bwMode="auto">
                    <a:xfrm>
                      <a:off x="4595335" y="2731847"/>
                      <a:ext cx="1439285" cy="2226394"/>
                    </a:xfrm>
                    <a:custGeom>
                      <a:avLst/>
                      <a:gdLst>
                        <a:gd name="T0" fmla="*/ 526 w 526"/>
                        <a:gd name="T1" fmla="*/ 582 h 815"/>
                        <a:gd name="T2" fmla="*/ 464 w 526"/>
                        <a:gd name="T3" fmla="*/ 688 h 815"/>
                        <a:gd name="T4" fmla="*/ 526 w 526"/>
                        <a:gd name="T5" fmla="*/ 815 h 815"/>
                        <a:gd name="T6" fmla="*/ 153 w 526"/>
                        <a:gd name="T7" fmla="*/ 644 h 815"/>
                        <a:gd name="T8" fmla="*/ 0 w 526"/>
                        <a:gd name="T9" fmla="*/ 262 h 815"/>
                        <a:gd name="T10" fmla="*/ 15 w 526"/>
                        <a:gd name="T11" fmla="*/ 130 h 815"/>
                        <a:gd name="T12" fmla="*/ 60 w 526"/>
                        <a:gd name="T13" fmla="*/ 10 h 815"/>
                        <a:gd name="T14" fmla="*/ 221 w 526"/>
                        <a:gd name="T15" fmla="*/ 0 h 815"/>
                        <a:gd name="T16" fmla="*/ 262 w 526"/>
                        <a:gd name="T17" fmla="*/ 126 h 815"/>
                        <a:gd name="T18" fmla="*/ 239 w 526"/>
                        <a:gd name="T19" fmla="*/ 191 h 815"/>
                        <a:gd name="T20" fmla="*/ 232 w 526"/>
                        <a:gd name="T21" fmla="*/ 262 h 815"/>
                        <a:gd name="T22" fmla="*/ 317 w 526"/>
                        <a:gd name="T23" fmla="*/ 480 h 815"/>
                        <a:gd name="T24" fmla="*/ 526 w 526"/>
                        <a:gd name="T25" fmla="*/ 582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26" h="815">
                          <a:moveTo>
                            <a:pt x="526" y="582"/>
                          </a:moveTo>
                          <a:cubicBezTo>
                            <a:pt x="464" y="688"/>
                            <a:pt x="464" y="688"/>
                            <a:pt x="464" y="688"/>
                          </a:cubicBezTo>
                          <a:cubicBezTo>
                            <a:pt x="526" y="815"/>
                            <a:pt x="526" y="815"/>
                            <a:pt x="526" y="815"/>
                          </a:cubicBezTo>
                          <a:cubicBezTo>
                            <a:pt x="379" y="808"/>
                            <a:pt x="248" y="744"/>
                            <a:pt x="153" y="644"/>
                          </a:cubicBezTo>
                          <a:cubicBezTo>
                            <a:pt x="58" y="545"/>
                            <a:pt x="0" y="410"/>
                            <a:pt x="0" y="262"/>
                          </a:cubicBezTo>
                          <a:cubicBezTo>
                            <a:pt x="0" y="216"/>
                            <a:pt x="5" y="172"/>
                            <a:pt x="15" y="130"/>
                          </a:cubicBezTo>
                          <a:cubicBezTo>
                            <a:pt x="26" y="88"/>
                            <a:pt x="41" y="47"/>
                            <a:pt x="60" y="10"/>
                          </a:cubicBezTo>
                          <a:cubicBezTo>
                            <a:pt x="221" y="0"/>
                            <a:pt x="221" y="0"/>
                            <a:pt x="221" y="0"/>
                          </a:cubicBezTo>
                          <a:cubicBezTo>
                            <a:pt x="262" y="126"/>
                            <a:pt x="262" y="126"/>
                            <a:pt x="262" y="126"/>
                          </a:cubicBezTo>
                          <a:cubicBezTo>
                            <a:pt x="252" y="146"/>
                            <a:pt x="245" y="168"/>
                            <a:pt x="239" y="191"/>
                          </a:cubicBezTo>
                          <a:cubicBezTo>
                            <a:pt x="234" y="214"/>
                            <a:pt x="232" y="237"/>
                            <a:pt x="232" y="262"/>
                          </a:cubicBezTo>
                          <a:cubicBezTo>
                            <a:pt x="232" y="346"/>
                            <a:pt x="264" y="423"/>
                            <a:pt x="317" y="480"/>
                          </a:cubicBezTo>
                          <a:cubicBezTo>
                            <a:pt x="370" y="537"/>
                            <a:pt x="443" y="575"/>
                            <a:pt x="526" y="582"/>
                          </a:cubicBezTo>
                          <a:close/>
                        </a:path>
                      </a:pathLst>
                    </a:custGeom>
                    <a:solidFill>
                      <a:schemeClr val="tx2">
                        <a:lumMod val="50000"/>
                      </a:schemeClr>
                    </a:solidFill>
                    <a:ln>
                      <a:solidFill>
                        <a:srgbClr val="FFBB20"/>
                      </a:solidFill>
                    </a:ln>
                    <a:effectLst>
                      <a:glow rad="71571">
                        <a:srgbClr val="FEDF49">
                          <a:alpha val="25000"/>
                        </a:srgbClr>
                      </a:glow>
                      <a:outerShdw blurRad="50800" dist="38100" dir="10800000" algn="r" rotWithShape="0">
                        <a:prstClr val="black">
                          <a:alpha val="14000"/>
                        </a:prstClr>
                      </a:outerShdw>
                    </a:effectLst>
                  </p:spPr>
                  <p:txBody>
                    <a:bodyPr vert="horz" wrap="square" lIns="60960" tIns="30480" rIns="60960" bIns="30480" numCol="1" anchor="t" anchorCtr="0" compatLnSpc="1">
                      <a:prstTxWarp prst="textNoShape">
                        <a:avLst/>
                      </a:prstTxWarp>
                    </a:bodyPr>
                    <a:lstStyle/>
                    <a:p>
                      <a:endParaRPr lang="en-IN" sz="1867">
                        <a:latin typeface="Avenir Next" panose="020B0503020202020204" pitchFamily="34" charset="0"/>
                      </a:endParaRPr>
                    </a:p>
                  </p:txBody>
                </p:sp>
                <p:sp>
                  <p:nvSpPr>
                    <p:cNvPr id="44" name="Freeform 17">
                      <a:extLst>
                        <a:ext uri="{FF2B5EF4-FFF2-40B4-BE49-F238E27FC236}">
                          <a16:creationId xmlns:a16="http://schemas.microsoft.com/office/drawing/2014/main" id="{878125A2-69CD-B66D-A618-EF55FD12BE43}"/>
                        </a:ext>
                      </a:extLst>
                    </p:cNvPr>
                    <p:cNvSpPr>
                      <a:spLocks/>
                    </p:cNvSpPr>
                    <p:nvPr/>
                  </p:nvSpPr>
                  <p:spPr bwMode="auto">
                    <a:xfrm>
                      <a:off x="4835216" y="1934244"/>
                      <a:ext cx="2548733" cy="1049478"/>
                    </a:xfrm>
                    <a:custGeom>
                      <a:avLst/>
                      <a:gdLst>
                        <a:gd name="T0" fmla="*/ 931 w 931"/>
                        <a:gd name="T1" fmla="*/ 253 h 384"/>
                        <a:gd name="T2" fmla="*/ 887 w 931"/>
                        <a:gd name="T3" fmla="*/ 384 h 384"/>
                        <a:gd name="T4" fmla="*/ 730 w 931"/>
                        <a:gd name="T5" fmla="*/ 369 h 384"/>
                        <a:gd name="T6" fmla="*/ 617 w 931"/>
                        <a:gd name="T7" fmla="*/ 269 h 384"/>
                        <a:gd name="T8" fmla="*/ 466 w 931"/>
                        <a:gd name="T9" fmla="*/ 232 h 384"/>
                        <a:gd name="T10" fmla="*/ 315 w 931"/>
                        <a:gd name="T11" fmla="*/ 269 h 384"/>
                        <a:gd name="T12" fmla="*/ 202 w 931"/>
                        <a:gd name="T13" fmla="*/ 369 h 384"/>
                        <a:gd name="T14" fmla="*/ 170 w 931"/>
                        <a:gd name="T15" fmla="*/ 250 h 384"/>
                        <a:gd name="T16" fmla="*/ 0 w 931"/>
                        <a:gd name="T17" fmla="*/ 253 h 384"/>
                        <a:gd name="T18" fmla="*/ 197 w 931"/>
                        <a:gd name="T19" fmla="*/ 69 h 384"/>
                        <a:gd name="T20" fmla="*/ 466 w 931"/>
                        <a:gd name="T21" fmla="*/ 0 h 384"/>
                        <a:gd name="T22" fmla="*/ 735 w 931"/>
                        <a:gd name="T23" fmla="*/ 69 h 384"/>
                        <a:gd name="T24" fmla="*/ 931 w 931"/>
                        <a:gd name="T25" fmla="*/ 253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31" h="384">
                          <a:moveTo>
                            <a:pt x="931" y="253"/>
                          </a:moveTo>
                          <a:cubicBezTo>
                            <a:pt x="887" y="384"/>
                            <a:pt x="887" y="384"/>
                            <a:pt x="887" y="384"/>
                          </a:cubicBezTo>
                          <a:cubicBezTo>
                            <a:pt x="730" y="369"/>
                            <a:pt x="730" y="369"/>
                            <a:pt x="730" y="369"/>
                          </a:cubicBezTo>
                          <a:cubicBezTo>
                            <a:pt x="700" y="328"/>
                            <a:pt x="662" y="293"/>
                            <a:pt x="617" y="269"/>
                          </a:cubicBezTo>
                          <a:cubicBezTo>
                            <a:pt x="572" y="245"/>
                            <a:pt x="520" y="232"/>
                            <a:pt x="466" y="232"/>
                          </a:cubicBezTo>
                          <a:cubicBezTo>
                            <a:pt x="411" y="232"/>
                            <a:pt x="360" y="245"/>
                            <a:pt x="315" y="269"/>
                          </a:cubicBezTo>
                          <a:cubicBezTo>
                            <a:pt x="270" y="293"/>
                            <a:pt x="231" y="328"/>
                            <a:pt x="202" y="369"/>
                          </a:cubicBezTo>
                          <a:cubicBezTo>
                            <a:pt x="170" y="250"/>
                            <a:pt x="170" y="250"/>
                            <a:pt x="170" y="250"/>
                          </a:cubicBezTo>
                          <a:cubicBezTo>
                            <a:pt x="0" y="253"/>
                            <a:pt x="0" y="253"/>
                            <a:pt x="0" y="253"/>
                          </a:cubicBezTo>
                          <a:cubicBezTo>
                            <a:pt x="50" y="177"/>
                            <a:pt x="117" y="113"/>
                            <a:pt x="197" y="69"/>
                          </a:cubicBezTo>
                          <a:cubicBezTo>
                            <a:pt x="276" y="25"/>
                            <a:pt x="368" y="0"/>
                            <a:pt x="466" y="0"/>
                          </a:cubicBezTo>
                          <a:cubicBezTo>
                            <a:pt x="563" y="0"/>
                            <a:pt x="655" y="25"/>
                            <a:pt x="735" y="69"/>
                          </a:cubicBezTo>
                          <a:cubicBezTo>
                            <a:pt x="814" y="113"/>
                            <a:pt x="882" y="177"/>
                            <a:pt x="931" y="253"/>
                          </a:cubicBezTo>
                          <a:close/>
                        </a:path>
                      </a:pathLst>
                    </a:custGeom>
                    <a:solidFill>
                      <a:schemeClr val="tx2">
                        <a:lumMod val="50000"/>
                      </a:schemeClr>
                    </a:solidFill>
                    <a:ln>
                      <a:solidFill>
                        <a:srgbClr val="FFBB20"/>
                      </a:solidFill>
                    </a:ln>
                    <a:effectLst>
                      <a:glow rad="71571">
                        <a:srgbClr val="FEDF49">
                          <a:alpha val="25000"/>
                        </a:srgbClr>
                      </a:glow>
                      <a:outerShdw blurRad="50800" dist="38100" dir="10800000" algn="r" rotWithShape="0">
                        <a:prstClr val="black">
                          <a:alpha val="14000"/>
                        </a:prstClr>
                      </a:outerShdw>
                    </a:effectLst>
                  </p:spPr>
                  <p:txBody>
                    <a:bodyPr vert="horz" wrap="square" lIns="60960" tIns="30480" rIns="60960" bIns="30480" numCol="1" anchor="t" anchorCtr="0" compatLnSpc="1">
                      <a:prstTxWarp prst="textNoShape">
                        <a:avLst/>
                      </a:prstTxWarp>
                    </a:bodyPr>
                    <a:lstStyle/>
                    <a:p>
                      <a:endParaRPr lang="en-IN" sz="1867">
                        <a:latin typeface="Avenir Next" panose="020B0503020202020204" pitchFamily="34" charset="0"/>
                      </a:endParaRPr>
                    </a:p>
                  </p:txBody>
                </p:sp>
                <p:sp>
                  <p:nvSpPr>
                    <p:cNvPr id="52" name="Freeform 18">
                      <a:extLst>
                        <a:ext uri="{FF2B5EF4-FFF2-40B4-BE49-F238E27FC236}">
                          <a16:creationId xmlns:a16="http://schemas.microsoft.com/office/drawing/2014/main" id="{99EA227E-0974-DDA3-2417-F04F498CA356}"/>
                        </a:ext>
                      </a:extLst>
                    </p:cNvPr>
                    <p:cNvSpPr>
                      <a:spLocks/>
                    </p:cNvSpPr>
                    <p:nvPr/>
                  </p:nvSpPr>
                  <p:spPr bwMode="auto">
                    <a:xfrm>
                      <a:off x="6015129" y="2760332"/>
                      <a:ext cx="1611699" cy="2197907"/>
                    </a:xfrm>
                    <a:custGeom>
                      <a:avLst/>
                      <a:gdLst>
                        <a:gd name="T0" fmla="*/ 589 w 589"/>
                        <a:gd name="T1" fmla="*/ 252 h 805"/>
                        <a:gd name="T2" fmla="*/ 436 w 589"/>
                        <a:gd name="T3" fmla="*/ 634 h 805"/>
                        <a:gd name="T4" fmla="*/ 63 w 589"/>
                        <a:gd name="T5" fmla="*/ 805 h 805"/>
                        <a:gd name="T6" fmla="*/ 0 w 589"/>
                        <a:gd name="T7" fmla="*/ 688 h 805"/>
                        <a:gd name="T8" fmla="*/ 63 w 589"/>
                        <a:gd name="T9" fmla="*/ 572 h 805"/>
                        <a:gd name="T10" fmla="*/ 271 w 589"/>
                        <a:gd name="T11" fmla="*/ 470 h 805"/>
                        <a:gd name="T12" fmla="*/ 357 w 589"/>
                        <a:gd name="T13" fmla="*/ 252 h 805"/>
                        <a:gd name="T14" fmla="*/ 349 w 589"/>
                        <a:gd name="T15" fmla="*/ 181 h 805"/>
                        <a:gd name="T16" fmla="*/ 327 w 589"/>
                        <a:gd name="T17" fmla="*/ 116 h 805"/>
                        <a:gd name="T18" fmla="*/ 474 w 589"/>
                        <a:gd name="T19" fmla="*/ 135 h 805"/>
                        <a:gd name="T20" fmla="*/ 528 w 589"/>
                        <a:gd name="T21" fmla="*/ 0 h 805"/>
                        <a:gd name="T22" fmla="*/ 573 w 589"/>
                        <a:gd name="T23" fmla="*/ 120 h 805"/>
                        <a:gd name="T24" fmla="*/ 589 w 589"/>
                        <a:gd name="T25" fmla="*/ 252 h 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9" h="805">
                          <a:moveTo>
                            <a:pt x="589" y="252"/>
                          </a:moveTo>
                          <a:cubicBezTo>
                            <a:pt x="589" y="400"/>
                            <a:pt x="530" y="535"/>
                            <a:pt x="436" y="634"/>
                          </a:cubicBezTo>
                          <a:cubicBezTo>
                            <a:pt x="341" y="734"/>
                            <a:pt x="209" y="798"/>
                            <a:pt x="63" y="805"/>
                          </a:cubicBezTo>
                          <a:cubicBezTo>
                            <a:pt x="0" y="688"/>
                            <a:pt x="0" y="688"/>
                            <a:pt x="0" y="688"/>
                          </a:cubicBezTo>
                          <a:cubicBezTo>
                            <a:pt x="63" y="572"/>
                            <a:pt x="63" y="572"/>
                            <a:pt x="63" y="572"/>
                          </a:cubicBezTo>
                          <a:cubicBezTo>
                            <a:pt x="145" y="565"/>
                            <a:pt x="219" y="527"/>
                            <a:pt x="271" y="470"/>
                          </a:cubicBezTo>
                          <a:cubicBezTo>
                            <a:pt x="324" y="413"/>
                            <a:pt x="357" y="336"/>
                            <a:pt x="357" y="252"/>
                          </a:cubicBezTo>
                          <a:cubicBezTo>
                            <a:pt x="357" y="227"/>
                            <a:pt x="354" y="204"/>
                            <a:pt x="349" y="181"/>
                          </a:cubicBezTo>
                          <a:cubicBezTo>
                            <a:pt x="344" y="158"/>
                            <a:pt x="336" y="136"/>
                            <a:pt x="327" y="116"/>
                          </a:cubicBezTo>
                          <a:cubicBezTo>
                            <a:pt x="474" y="135"/>
                            <a:pt x="474" y="135"/>
                            <a:pt x="474" y="135"/>
                          </a:cubicBezTo>
                          <a:cubicBezTo>
                            <a:pt x="528" y="0"/>
                            <a:pt x="528" y="0"/>
                            <a:pt x="528" y="0"/>
                          </a:cubicBezTo>
                          <a:cubicBezTo>
                            <a:pt x="547" y="37"/>
                            <a:pt x="563" y="78"/>
                            <a:pt x="573" y="120"/>
                          </a:cubicBezTo>
                          <a:cubicBezTo>
                            <a:pt x="583" y="162"/>
                            <a:pt x="589" y="206"/>
                            <a:pt x="589" y="252"/>
                          </a:cubicBezTo>
                          <a:close/>
                        </a:path>
                      </a:pathLst>
                    </a:custGeom>
                    <a:solidFill>
                      <a:schemeClr val="tx2">
                        <a:lumMod val="50000"/>
                      </a:schemeClr>
                    </a:solidFill>
                    <a:ln>
                      <a:solidFill>
                        <a:srgbClr val="FFBB20"/>
                      </a:solidFill>
                    </a:ln>
                    <a:effectLst>
                      <a:glow rad="71571">
                        <a:srgbClr val="FEDF49">
                          <a:alpha val="25000"/>
                        </a:srgbClr>
                      </a:glow>
                      <a:outerShdw blurRad="50800" dist="38100" dir="10800000" algn="r" rotWithShape="0">
                        <a:prstClr val="black">
                          <a:alpha val="14000"/>
                        </a:prstClr>
                      </a:outerShdw>
                    </a:effectLst>
                  </p:spPr>
                  <p:txBody>
                    <a:bodyPr vert="horz" wrap="square" lIns="60960" tIns="30480" rIns="60960" bIns="30480" numCol="1" anchor="t" anchorCtr="0" compatLnSpc="1">
                      <a:prstTxWarp prst="textNoShape">
                        <a:avLst/>
                      </a:prstTxWarp>
                    </a:bodyPr>
                    <a:lstStyle/>
                    <a:p>
                      <a:endParaRPr lang="en-IN" sz="1867">
                        <a:latin typeface="Avenir Next" panose="020B0503020202020204" pitchFamily="34" charset="0"/>
                      </a:endParaRPr>
                    </a:p>
                  </p:txBody>
                </p:sp>
              </p:grpSp>
              <p:sp>
                <p:nvSpPr>
                  <p:cNvPr id="18" name="TextBox 17">
                    <a:extLst>
                      <a:ext uri="{FF2B5EF4-FFF2-40B4-BE49-F238E27FC236}">
                        <a16:creationId xmlns:a16="http://schemas.microsoft.com/office/drawing/2014/main" id="{9702770D-E5D0-1A43-4E63-25DE38107682}"/>
                      </a:ext>
                    </a:extLst>
                  </p:cNvPr>
                  <p:cNvSpPr txBox="1"/>
                  <p:nvPr/>
                </p:nvSpPr>
                <p:spPr>
                  <a:xfrm rot="196139">
                    <a:off x="4904434" y="2827788"/>
                    <a:ext cx="2413296" cy="2013492"/>
                  </a:xfrm>
                  <a:prstGeom prst="rect">
                    <a:avLst/>
                  </a:prstGeom>
                  <a:noFill/>
                </p:spPr>
                <p:txBody>
                  <a:bodyPr wrap="square" rtlCol="0">
                    <a:prstTxWarp prst="textArchUp">
                      <a:avLst>
                        <a:gd name="adj" fmla="val 11663970"/>
                      </a:avLst>
                    </a:prstTxWarp>
                    <a:spAutoFit/>
                  </a:bodyPr>
                  <a:lstStyle/>
                  <a:p>
                    <a:pPr algn="ctr"/>
                    <a:r>
                      <a:rPr lang="en-GB" sz="1333" b="1">
                        <a:solidFill>
                          <a:schemeClr val="bg1"/>
                        </a:solidFill>
                        <a:latin typeface="Avenir Next" panose="020B0503020202020204" pitchFamily="34" charset="0"/>
                        <a:cs typeface="Arial" panose="020B0604020202020204" pitchFamily="34" charset="0"/>
                      </a:rPr>
                      <a:t>DETECTION</a:t>
                    </a:r>
                    <a:endParaRPr lang="en-IN" sz="1333" b="1">
                      <a:solidFill>
                        <a:schemeClr val="bg1"/>
                      </a:solidFill>
                      <a:latin typeface="Avenir Next" panose="020B0503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2218D1A0-10F3-D140-BA6F-0719EDA87306}"/>
                      </a:ext>
                    </a:extLst>
                  </p:cNvPr>
                  <p:cNvSpPr txBox="1"/>
                  <p:nvPr/>
                </p:nvSpPr>
                <p:spPr>
                  <a:xfrm rot="3424725">
                    <a:off x="4772353" y="2985628"/>
                    <a:ext cx="2413296" cy="2114462"/>
                  </a:xfrm>
                  <a:prstGeom prst="rect">
                    <a:avLst/>
                  </a:prstGeom>
                  <a:noFill/>
                </p:spPr>
                <p:txBody>
                  <a:bodyPr wrap="square" rtlCol="0">
                    <a:prstTxWarp prst="textArchDown">
                      <a:avLst>
                        <a:gd name="adj" fmla="val 16451028"/>
                      </a:avLst>
                    </a:prstTxWarp>
                    <a:spAutoFit/>
                  </a:bodyPr>
                  <a:lstStyle/>
                  <a:p>
                    <a:pPr algn="ctr"/>
                    <a:r>
                      <a:rPr lang="en-GB" sz="1333" b="1">
                        <a:solidFill>
                          <a:schemeClr val="bg1"/>
                        </a:solidFill>
                        <a:latin typeface="Avenir Next" panose="020B0503020202020204" pitchFamily="34" charset="0"/>
                        <a:cs typeface="Arial" panose="020B0604020202020204" pitchFamily="34" charset="0"/>
                      </a:rPr>
                      <a:t>ASSURANCE </a:t>
                    </a:r>
                    <a:endParaRPr lang="en-IN" sz="1333" b="1">
                      <a:solidFill>
                        <a:schemeClr val="bg1"/>
                      </a:solidFill>
                      <a:latin typeface="Avenir Next" panose="020B0503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EE5CBDB3-C19F-9E74-0E6E-8CDDB367BCFC}"/>
                      </a:ext>
                    </a:extLst>
                  </p:cNvPr>
                  <p:cNvSpPr txBox="1"/>
                  <p:nvPr/>
                </p:nvSpPr>
                <p:spPr>
                  <a:xfrm rot="7415121" flipH="1" flipV="1">
                    <a:off x="5031250" y="2981198"/>
                    <a:ext cx="2413296" cy="2114462"/>
                  </a:xfrm>
                  <a:prstGeom prst="rect">
                    <a:avLst/>
                  </a:prstGeom>
                  <a:noFill/>
                </p:spPr>
                <p:txBody>
                  <a:bodyPr wrap="square" rtlCol="0">
                    <a:prstTxWarp prst="textArchDown">
                      <a:avLst>
                        <a:gd name="adj" fmla="val 16451028"/>
                      </a:avLst>
                    </a:prstTxWarp>
                    <a:spAutoFit/>
                  </a:bodyPr>
                  <a:lstStyle/>
                  <a:p>
                    <a:pPr algn="ctr"/>
                    <a:r>
                      <a:rPr lang="en-GB" sz="1333" b="1">
                        <a:solidFill>
                          <a:schemeClr val="bg1"/>
                        </a:solidFill>
                        <a:latin typeface="Avenir Next" panose="020B0503020202020204" pitchFamily="34" charset="0"/>
                        <a:cs typeface="Arial" panose="020B0604020202020204" pitchFamily="34" charset="0"/>
                      </a:rPr>
                      <a:t>PREVENTION</a:t>
                    </a:r>
                    <a:endParaRPr lang="en-IN" sz="1333" b="1">
                      <a:solidFill>
                        <a:schemeClr val="bg1"/>
                      </a:solidFill>
                      <a:latin typeface="Avenir Next" panose="020B0503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73FA5D3E-303A-ABC6-724D-E9C840BB4699}"/>
                      </a:ext>
                    </a:extLst>
                  </p:cNvPr>
                  <p:cNvSpPr txBox="1"/>
                  <p:nvPr/>
                </p:nvSpPr>
                <p:spPr>
                  <a:xfrm rot="18670548">
                    <a:off x="4219413" y="2374630"/>
                    <a:ext cx="2413296" cy="1935654"/>
                  </a:xfrm>
                  <a:prstGeom prst="rect">
                    <a:avLst/>
                  </a:prstGeom>
                  <a:noFill/>
                </p:spPr>
                <p:txBody>
                  <a:bodyPr wrap="square" rtlCol="0">
                    <a:prstTxWarp prst="textArchUp">
                      <a:avLst>
                        <a:gd name="adj" fmla="val 8169033"/>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SOCAAS</a:t>
                    </a:r>
                  </a:p>
                </p:txBody>
              </p:sp>
              <p:sp>
                <p:nvSpPr>
                  <p:cNvPr id="22" name="TextBox 21">
                    <a:extLst>
                      <a:ext uri="{FF2B5EF4-FFF2-40B4-BE49-F238E27FC236}">
                        <a16:creationId xmlns:a16="http://schemas.microsoft.com/office/drawing/2014/main" id="{30D1C761-9D48-2FA6-BFA8-F4AFAA4E2191}"/>
                      </a:ext>
                    </a:extLst>
                  </p:cNvPr>
                  <p:cNvSpPr txBox="1"/>
                  <p:nvPr/>
                </p:nvSpPr>
                <p:spPr>
                  <a:xfrm rot="20371399">
                    <a:off x="4636748" y="2110856"/>
                    <a:ext cx="2413296" cy="1935654"/>
                  </a:xfrm>
                  <a:prstGeom prst="rect">
                    <a:avLst/>
                  </a:prstGeom>
                  <a:noFill/>
                </p:spPr>
                <p:txBody>
                  <a:bodyPr wrap="square" rtlCol="0">
                    <a:prstTxWarp prst="textArchUp">
                      <a:avLst>
                        <a:gd name="adj" fmla="val 8169033"/>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24/7 </a:t>
                    </a:r>
                  </a:p>
                  <a:p>
                    <a:pPr algn="ctr"/>
                    <a:r>
                      <a:rPr lang="en-GB" sz="800" b="1">
                        <a:solidFill>
                          <a:schemeClr val="bg1"/>
                        </a:solidFill>
                        <a:latin typeface="Avenir Next" panose="020B0503020202020204" pitchFamily="34" charset="0"/>
                        <a:cs typeface="Arial" panose="020B0604020202020204" pitchFamily="34" charset="0"/>
                      </a:rPr>
                      <a:t>THREAT HUNTING</a:t>
                    </a:r>
                  </a:p>
                </p:txBody>
              </p:sp>
              <p:sp>
                <p:nvSpPr>
                  <p:cNvPr id="23" name="TextBox 22">
                    <a:extLst>
                      <a:ext uri="{FF2B5EF4-FFF2-40B4-BE49-F238E27FC236}">
                        <a16:creationId xmlns:a16="http://schemas.microsoft.com/office/drawing/2014/main" id="{D748F619-DE7C-0A61-4EDE-4E353E7C7CD4}"/>
                      </a:ext>
                    </a:extLst>
                  </p:cNvPr>
                  <p:cNvSpPr txBox="1"/>
                  <p:nvPr/>
                </p:nvSpPr>
                <p:spPr>
                  <a:xfrm rot="999378">
                    <a:off x="5120170" y="2101851"/>
                    <a:ext cx="2413296" cy="1935654"/>
                  </a:xfrm>
                  <a:prstGeom prst="rect">
                    <a:avLst/>
                  </a:prstGeom>
                  <a:noFill/>
                </p:spPr>
                <p:txBody>
                  <a:bodyPr wrap="square" rtlCol="0">
                    <a:prstTxWarp prst="textArchUp">
                      <a:avLst>
                        <a:gd name="adj" fmla="val 8169033"/>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CASE </a:t>
                    </a:r>
                  </a:p>
                  <a:p>
                    <a:pPr algn="ctr"/>
                    <a:r>
                      <a:rPr lang="en-GB" sz="800" b="1">
                        <a:solidFill>
                          <a:schemeClr val="bg1"/>
                        </a:solidFill>
                        <a:latin typeface="Avenir Next" panose="020B0503020202020204" pitchFamily="34" charset="0"/>
                        <a:cs typeface="Arial" panose="020B0604020202020204" pitchFamily="34" charset="0"/>
                      </a:rPr>
                      <a:t>MANAGEMENT </a:t>
                    </a:r>
                  </a:p>
                </p:txBody>
              </p:sp>
              <p:sp>
                <p:nvSpPr>
                  <p:cNvPr id="24" name="TextBox 23">
                    <a:extLst>
                      <a:ext uri="{FF2B5EF4-FFF2-40B4-BE49-F238E27FC236}">
                        <a16:creationId xmlns:a16="http://schemas.microsoft.com/office/drawing/2014/main" id="{EE0D00D4-83D0-2883-17FA-E1462A7B9D63}"/>
                      </a:ext>
                    </a:extLst>
                  </p:cNvPr>
                  <p:cNvSpPr txBox="1"/>
                  <p:nvPr/>
                </p:nvSpPr>
                <p:spPr>
                  <a:xfrm rot="2870969">
                    <a:off x="5504898" y="2343338"/>
                    <a:ext cx="2413296" cy="1935654"/>
                  </a:xfrm>
                  <a:prstGeom prst="rect">
                    <a:avLst/>
                  </a:prstGeom>
                  <a:noFill/>
                </p:spPr>
                <p:txBody>
                  <a:bodyPr wrap="square" rtlCol="0">
                    <a:prstTxWarp prst="textArchUp">
                      <a:avLst>
                        <a:gd name="adj" fmla="val 8169033"/>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CYBER</a:t>
                    </a:r>
                    <a:br>
                      <a:rPr lang="en-GB" sz="800" b="1">
                        <a:solidFill>
                          <a:schemeClr val="bg1"/>
                        </a:solidFill>
                        <a:latin typeface="Avenir Next" panose="020B0503020202020204" pitchFamily="34" charset="0"/>
                        <a:cs typeface="Arial" panose="020B0604020202020204" pitchFamily="34" charset="0"/>
                      </a:rPr>
                    </a:br>
                    <a:r>
                      <a:rPr lang="en-GB" sz="800" b="1">
                        <a:solidFill>
                          <a:schemeClr val="bg1"/>
                        </a:solidFill>
                        <a:latin typeface="Avenir Next" panose="020B0503020202020204" pitchFamily="34" charset="0"/>
                        <a:cs typeface="Arial" panose="020B0604020202020204" pitchFamily="34" charset="0"/>
                      </a:rPr>
                      <a:t>REPORTING</a:t>
                    </a:r>
                  </a:p>
                </p:txBody>
              </p:sp>
              <p:sp>
                <p:nvSpPr>
                  <p:cNvPr id="25" name="TextBox 24">
                    <a:extLst>
                      <a:ext uri="{FF2B5EF4-FFF2-40B4-BE49-F238E27FC236}">
                        <a16:creationId xmlns:a16="http://schemas.microsoft.com/office/drawing/2014/main" id="{319E3042-AEF8-DA15-DF6E-263CF2B60D50}"/>
                      </a:ext>
                    </a:extLst>
                  </p:cNvPr>
                  <p:cNvSpPr txBox="1"/>
                  <p:nvPr/>
                </p:nvSpPr>
                <p:spPr>
                  <a:xfrm rot="6432501">
                    <a:off x="3966008" y="2790286"/>
                    <a:ext cx="2413296" cy="1935654"/>
                  </a:xfrm>
                  <a:prstGeom prst="rect">
                    <a:avLst/>
                  </a:prstGeom>
                  <a:noFill/>
                </p:spPr>
                <p:txBody>
                  <a:bodyPr wrap="square" rtlCol="0">
                    <a:prstTxWarp prst="textArchDown">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COMPROMISE</a:t>
                    </a:r>
                  </a:p>
                  <a:p>
                    <a:pPr algn="ctr"/>
                    <a:r>
                      <a:rPr lang="en-GB" sz="800" b="1">
                        <a:solidFill>
                          <a:schemeClr val="bg1"/>
                        </a:solidFill>
                        <a:latin typeface="Avenir Next" panose="020B0503020202020204" pitchFamily="34" charset="0"/>
                        <a:cs typeface="Arial" panose="020B0604020202020204" pitchFamily="34" charset="0"/>
                      </a:rPr>
                      <a:t>    ASSESSMENTS </a:t>
                    </a:r>
                  </a:p>
                </p:txBody>
              </p:sp>
              <p:sp>
                <p:nvSpPr>
                  <p:cNvPr id="26" name="TextBox 25">
                    <a:extLst>
                      <a:ext uri="{FF2B5EF4-FFF2-40B4-BE49-F238E27FC236}">
                        <a16:creationId xmlns:a16="http://schemas.microsoft.com/office/drawing/2014/main" id="{D1F2C5D9-FBFF-CC75-C974-80F7439453F4}"/>
                      </a:ext>
                    </a:extLst>
                  </p:cNvPr>
                  <p:cNvSpPr txBox="1"/>
                  <p:nvPr/>
                </p:nvSpPr>
                <p:spPr>
                  <a:xfrm rot="4221726">
                    <a:off x="3954816" y="3259642"/>
                    <a:ext cx="2413296" cy="1935654"/>
                  </a:xfrm>
                  <a:prstGeom prst="rect">
                    <a:avLst/>
                  </a:prstGeom>
                  <a:noFill/>
                </p:spPr>
                <p:txBody>
                  <a:bodyPr wrap="square" rtlCol="0">
                    <a:prstTxWarp prst="textArchDown">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CYBER STRATEGY</a:t>
                    </a:r>
                  </a:p>
                  <a:p>
                    <a:pPr algn="ctr"/>
                    <a:r>
                      <a:rPr lang="en-GB" sz="800" b="1">
                        <a:solidFill>
                          <a:schemeClr val="bg1"/>
                        </a:solidFill>
                        <a:latin typeface="Avenir Next" panose="020B0503020202020204" pitchFamily="34" charset="0"/>
                        <a:cs typeface="Arial" panose="020B0604020202020204" pitchFamily="34" charset="0"/>
                      </a:rPr>
                      <a:t>DEVELOPMENT</a:t>
                    </a:r>
                  </a:p>
                </p:txBody>
              </p:sp>
              <p:sp>
                <p:nvSpPr>
                  <p:cNvPr id="27" name="TextBox 26">
                    <a:extLst>
                      <a:ext uri="{FF2B5EF4-FFF2-40B4-BE49-F238E27FC236}">
                        <a16:creationId xmlns:a16="http://schemas.microsoft.com/office/drawing/2014/main" id="{3AC65C66-09F6-2EA3-71A5-7A7DE966A6D8}"/>
                      </a:ext>
                    </a:extLst>
                  </p:cNvPr>
                  <p:cNvSpPr txBox="1"/>
                  <p:nvPr/>
                </p:nvSpPr>
                <p:spPr>
                  <a:xfrm rot="2366269">
                    <a:off x="4209049" y="3671656"/>
                    <a:ext cx="2413296" cy="1935654"/>
                  </a:xfrm>
                  <a:prstGeom prst="rect">
                    <a:avLst/>
                  </a:prstGeom>
                  <a:noFill/>
                </p:spPr>
                <p:txBody>
                  <a:bodyPr wrap="square" rtlCol="0">
                    <a:prstTxWarp prst="textArchDown">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COMPLIANCE</a:t>
                    </a:r>
                  </a:p>
                  <a:p>
                    <a:pPr algn="ctr"/>
                    <a:r>
                      <a:rPr lang="en-GB" sz="800" b="1">
                        <a:solidFill>
                          <a:schemeClr val="bg1"/>
                        </a:solidFill>
                        <a:latin typeface="Avenir Next" panose="020B0503020202020204" pitchFamily="34" charset="0"/>
                        <a:cs typeface="Arial" panose="020B0604020202020204" pitchFamily="34" charset="0"/>
                      </a:rPr>
                      <a:t>AUTOMATION</a:t>
                    </a:r>
                  </a:p>
                </p:txBody>
              </p:sp>
              <p:sp>
                <p:nvSpPr>
                  <p:cNvPr id="32" name="TextBox 31">
                    <a:extLst>
                      <a:ext uri="{FF2B5EF4-FFF2-40B4-BE49-F238E27FC236}">
                        <a16:creationId xmlns:a16="http://schemas.microsoft.com/office/drawing/2014/main" id="{BD0C5E8E-0A00-0062-A4AD-B0E63953D029}"/>
                      </a:ext>
                    </a:extLst>
                  </p:cNvPr>
                  <p:cNvSpPr txBox="1"/>
                  <p:nvPr/>
                </p:nvSpPr>
                <p:spPr>
                  <a:xfrm rot="6044896" flipH="1" flipV="1">
                    <a:off x="5843361" y="3136228"/>
                    <a:ext cx="2413296" cy="1935654"/>
                  </a:xfrm>
                  <a:prstGeom prst="rect">
                    <a:avLst/>
                  </a:prstGeom>
                  <a:noFill/>
                </p:spPr>
                <p:txBody>
                  <a:bodyPr wrap="square" rtlCol="0">
                    <a:prstTxWarp prst="textArchDown">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  DECEPTION</a:t>
                    </a:r>
                  </a:p>
                  <a:p>
                    <a:pPr algn="ctr"/>
                    <a:r>
                      <a:rPr lang="en-GB" sz="800" b="1">
                        <a:solidFill>
                          <a:schemeClr val="bg1"/>
                        </a:solidFill>
                        <a:latin typeface="Avenir Next" panose="020B0503020202020204" pitchFamily="34" charset="0"/>
                        <a:cs typeface="Arial" panose="020B0604020202020204" pitchFamily="34" charset="0"/>
                      </a:rPr>
                      <a:t>HONEYPOTS</a:t>
                    </a:r>
                  </a:p>
                </p:txBody>
              </p:sp>
              <p:sp>
                <p:nvSpPr>
                  <p:cNvPr id="35" name="TextBox 34">
                    <a:extLst>
                      <a:ext uri="{FF2B5EF4-FFF2-40B4-BE49-F238E27FC236}">
                        <a16:creationId xmlns:a16="http://schemas.microsoft.com/office/drawing/2014/main" id="{2C23A702-FC42-34B6-885A-EE4CC589CB2C}"/>
                      </a:ext>
                    </a:extLst>
                  </p:cNvPr>
                  <p:cNvSpPr txBox="1"/>
                  <p:nvPr/>
                </p:nvSpPr>
                <p:spPr>
                  <a:xfrm rot="9517184" flipH="1" flipV="1">
                    <a:off x="5129141" y="3882940"/>
                    <a:ext cx="2413296" cy="1881707"/>
                  </a:xfrm>
                  <a:prstGeom prst="rect">
                    <a:avLst/>
                  </a:prstGeom>
                  <a:noFill/>
                </p:spPr>
                <p:txBody>
                  <a:bodyPr wrap="square" rtlCol="0">
                    <a:prstTxWarp prst="textArchDown">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SECURE ACCESS</a:t>
                    </a:r>
                  </a:p>
                  <a:p>
                    <a:pPr algn="ctr"/>
                    <a:r>
                      <a:rPr lang="en-GB" sz="800" b="1">
                        <a:solidFill>
                          <a:schemeClr val="bg1"/>
                        </a:solidFill>
                        <a:latin typeface="Avenir Next" panose="020B0503020202020204" pitchFamily="34" charset="0"/>
                        <a:cs typeface="Arial" panose="020B0604020202020204" pitchFamily="34" charset="0"/>
                      </a:rPr>
                      <a:t>SERVICE EDGE </a:t>
                    </a:r>
                  </a:p>
                  <a:p>
                    <a:pPr algn="ctr"/>
                    <a:r>
                      <a:rPr lang="en-GB" sz="800" b="1">
                        <a:solidFill>
                          <a:schemeClr val="bg1"/>
                        </a:solidFill>
                        <a:latin typeface="Avenir Next" panose="020B0503020202020204" pitchFamily="34" charset="0"/>
                        <a:cs typeface="Arial" panose="020B0604020202020204" pitchFamily="34" charset="0"/>
                      </a:rPr>
                      <a:t>( SASE)</a:t>
                    </a:r>
                  </a:p>
                </p:txBody>
              </p:sp>
              <p:sp>
                <p:nvSpPr>
                  <p:cNvPr id="36" name="TextBox 35">
                    <a:extLst>
                      <a:ext uri="{FF2B5EF4-FFF2-40B4-BE49-F238E27FC236}">
                        <a16:creationId xmlns:a16="http://schemas.microsoft.com/office/drawing/2014/main" id="{1E78160B-9424-6837-706F-FC585284EA1F}"/>
                      </a:ext>
                    </a:extLst>
                  </p:cNvPr>
                  <p:cNvSpPr txBox="1"/>
                  <p:nvPr/>
                </p:nvSpPr>
                <p:spPr>
                  <a:xfrm rot="4151748" flipH="1" flipV="1">
                    <a:off x="5753384" y="2832404"/>
                    <a:ext cx="2413296" cy="1935654"/>
                  </a:xfrm>
                  <a:prstGeom prst="rect">
                    <a:avLst/>
                  </a:prstGeom>
                  <a:noFill/>
                </p:spPr>
                <p:txBody>
                  <a:bodyPr wrap="square" rtlCol="0">
                    <a:prstTxWarp prst="textArchDown">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NETWORK</a:t>
                    </a:r>
                  </a:p>
                  <a:p>
                    <a:pPr algn="ctr"/>
                    <a:r>
                      <a:rPr lang="en-GB" sz="800" b="1">
                        <a:solidFill>
                          <a:schemeClr val="bg1"/>
                        </a:solidFill>
                        <a:latin typeface="Avenir Next" panose="020B0503020202020204" pitchFamily="34" charset="0"/>
                        <a:cs typeface="Arial" panose="020B0604020202020204" pitchFamily="34" charset="0"/>
                      </a:rPr>
                      <a:t>DETECTION</a:t>
                    </a:r>
                  </a:p>
                  <a:p>
                    <a:pPr algn="ctr"/>
                    <a:r>
                      <a:rPr lang="en-GB" sz="800" b="1">
                        <a:solidFill>
                          <a:schemeClr val="bg1"/>
                        </a:solidFill>
                        <a:latin typeface="Avenir Next" panose="020B0503020202020204" pitchFamily="34" charset="0"/>
                        <a:cs typeface="Arial" panose="020B0604020202020204" pitchFamily="34" charset="0"/>
                      </a:rPr>
                      <a:t>RESPONSE </a:t>
                    </a:r>
                  </a:p>
                  <a:p>
                    <a:pPr algn="ctr"/>
                    <a:endParaRPr lang="en-GB" sz="800" b="1">
                      <a:solidFill>
                        <a:schemeClr val="bg1"/>
                      </a:solidFill>
                      <a:latin typeface="Avenir Next" panose="020B0503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45EF6C1E-AF83-6EB2-2486-86C08BDCBD3C}"/>
                      </a:ext>
                    </a:extLst>
                  </p:cNvPr>
                  <p:cNvSpPr txBox="1"/>
                  <p:nvPr/>
                </p:nvSpPr>
                <p:spPr>
                  <a:xfrm rot="7693304" flipH="1" flipV="1">
                    <a:off x="5610621" y="3586805"/>
                    <a:ext cx="2413296" cy="1935654"/>
                  </a:xfrm>
                  <a:prstGeom prst="rect">
                    <a:avLst/>
                  </a:prstGeom>
                  <a:noFill/>
                </p:spPr>
                <p:txBody>
                  <a:bodyPr wrap="square" rtlCol="0">
                    <a:prstTxWarp prst="textArchDown">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INTRUSION</a:t>
                    </a:r>
                  </a:p>
                  <a:p>
                    <a:pPr algn="ctr"/>
                    <a:r>
                      <a:rPr lang="en-GB" sz="800" b="1">
                        <a:solidFill>
                          <a:schemeClr val="bg1"/>
                        </a:solidFill>
                        <a:latin typeface="Avenir Next" panose="020B0503020202020204" pitchFamily="34" charset="0"/>
                        <a:cs typeface="Arial" panose="020B0604020202020204" pitchFamily="34" charset="0"/>
                      </a:rPr>
                      <a:t>PREVENTION</a:t>
                    </a:r>
                  </a:p>
                </p:txBody>
              </p:sp>
              <p:grpSp>
                <p:nvGrpSpPr>
                  <p:cNvPr id="38" name="Group 37">
                    <a:extLst>
                      <a:ext uri="{FF2B5EF4-FFF2-40B4-BE49-F238E27FC236}">
                        <a16:creationId xmlns:a16="http://schemas.microsoft.com/office/drawing/2014/main" id="{831BCCF2-C615-AE01-5836-4D17FE11F234}"/>
                      </a:ext>
                    </a:extLst>
                  </p:cNvPr>
                  <p:cNvGrpSpPr/>
                  <p:nvPr/>
                </p:nvGrpSpPr>
                <p:grpSpPr>
                  <a:xfrm>
                    <a:off x="5592747" y="3489172"/>
                    <a:ext cx="987500" cy="1029852"/>
                    <a:chOff x="4991315" y="2120274"/>
                    <a:chExt cx="2306430" cy="2472874"/>
                  </a:xfrm>
                </p:grpSpPr>
                <p:pic>
                  <p:nvPicPr>
                    <p:cNvPr id="41" name="Graphic 40">
                      <a:extLst>
                        <a:ext uri="{FF2B5EF4-FFF2-40B4-BE49-F238E27FC236}">
                          <a16:creationId xmlns:a16="http://schemas.microsoft.com/office/drawing/2014/main" id="{6BB1A8FE-1BAF-0EA0-4316-D86CD5782F2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91315" y="2120274"/>
                      <a:ext cx="2306430" cy="2472874"/>
                    </a:xfrm>
                    <a:prstGeom prst="rect">
                      <a:avLst/>
                    </a:prstGeom>
                    <a:effectLst>
                      <a:outerShdw blurRad="660595" dist="162786" dir="2700000" algn="tl" rotWithShape="0">
                        <a:prstClr val="black">
                          <a:alpha val="39000"/>
                        </a:prstClr>
                      </a:outerShdw>
                    </a:effectLst>
                  </p:spPr>
                </p:pic>
                <p:pic>
                  <p:nvPicPr>
                    <p:cNvPr id="42" name="Picture 41" descr="Logo&#10;&#10;Description automatically generated">
                      <a:extLst>
                        <a:ext uri="{FF2B5EF4-FFF2-40B4-BE49-F238E27FC236}">
                          <a16:creationId xmlns:a16="http://schemas.microsoft.com/office/drawing/2014/main" id="{3A2F7961-18DB-FE9C-EBCB-113630D13753}"/>
                        </a:ext>
                      </a:extLst>
                    </p:cNvPr>
                    <p:cNvPicPr>
                      <a:picLocks noChangeAspect="1"/>
                    </p:cNvPicPr>
                    <p:nvPr/>
                  </p:nvPicPr>
                  <p:blipFill>
                    <a:blip r:embed="rId6"/>
                    <a:stretch>
                      <a:fillRect/>
                    </a:stretch>
                  </p:blipFill>
                  <p:spPr>
                    <a:xfrm>
                      <a:off x="5277332" y="2385031"/>
                      <a:ext cx="1772062" cy="1928420"/>
                    </a:xfrm>
                    <a:prstGeom prst="rect">
                      <a:avLst/>
                    </a:prstGeom>
                  </p:spPr>
                </p:pic>
              </p:grpSp>
              <p:sp>
                <p:nvSpPr>
                  <p:cNvPr id="40" name="TextBox 39">
                    <a:extLst>
                      <a:ext uri="{FF2B5EF4-FFF2-40B4-BE49-F238E27FC236}">
                        <a16:creationId xmlns:a16="http://schemas.microsoft.com/office/drawing/2014/main" id="{762B5A60-2F23-BE5B-E0F7-92A0C4F0DA07}"/>
                      </a:ext>
                    </a:extLst>
                  </p:cNvPr>
                  <p:cNvSpPr txBox="1"/>
                  <p:nvPr/>
                </p:nvSpPr>
                <p:spPr>
                  <a:xfrm rot="732219">
                    <a:off x="4630950" y="3906218"/>
                    <a:ext cx="2413296" cy="1935654"/>
                  </a:xfrm>
                  <a:prstGeom prst="rect">
                    <a:avLst/>
                  </a:prstGeom>
                  <a:noFill/>
                </p:spPr>
                <p:txBody>
                  <a:bodyPr wrap="square" rtlCol="0">
                    <a:prstTxWarp prst="textArchDown">
                      <a:avLst/>
                    </a:prstTxWarp>
                    <a:spAutoFit/>
                  </a:bodyPr>
                  <a:lstStyle/>
                  <a:p>
                    <a:pPr algn="ctr"/>
                    <a:r>
                      <a:rPr lang="en-GB" sz="800" b="1">
                        <a:solidFill>
                          <a:schemeClr val="bg1"/>
                        </a:solidFill>
                        <a:latin typeface="Avenir Next" panose="020B0503020202020204" pitchFamily="34" charset="0"/>
                        <a:cs typeface="Arial" panose="020B0604020202020204" pitchFamily="34" charset="0"/>
                      </a:rPr>
                      <a:t>THREAT </a:t>
                    </a:r>
                  </a:p>
                  <a:p>
                    <a:pPr algn="ctr"/>
                    <a:r>
                      <a:rPr lang="en-GB" sz="800" b="1">
                        <a:solidFill>
                          <a:schemeClr val="bg1"/>
                        </a:solidFill>
                        <a:latin typeface="Avenir Next" panose="020B0503020202020204" pitchFamily="34" charset="0"/>
                        <a:cs typeface="Arial" panose="020B0604020202020204" pitchFamily="34" charset="0"/>
                      </a:rPr>
                      <a:t>MANAGEMENT </a:t>
                    </a:r>
                  </a:p>
                </p:txBody>
              </p:sp>
            </p:grpSp>
          </p:grpSp>
          <p:pic>
            <p:nvPicPr>
              <p:cNvPr id="10" name="Picture 9" descr="A picture containing text, clipart, vector graphics&#10;&#10;Description automatically generated">
                <a:extLst>
                  <a:ext uri="{FF2B5EF4-FFF2-40B4-BE49-F238E27FC236}">
                    <a16:creationId xmlns:a16="http://schemas.microsoft.com/office/drawing/2014/main" id="{60D33724-AF0A-C8F6-2C34-B8E712B8FFAD}"/>
                  </a:ext>
                </a:extLst>
              </p:cNvPr>
              <p:cNvPicPr>
                <a:picLocks noChangeAspect="1"/>
              </p:cNvPicPr>
              <p:nvPr/>
            </p:nvPicPr>
            <p:blipFill>
              <a:blip r:embed="rId7"/>
              <a:stretch>
                <a:fillRect/>
              </a:stretch>
            </p:blipFill>
            <p:spPr>
              <a:xfrm rot="3182721">
                <a:off x="5198462" y="4179543"/>
                <a:ext cx="665422" cy="231666"/>
              </a:xfrm>
              <a:prstGeom prst="rect">
                <a:avLst/>
              </a:prstGeom>
            </p:spPr>
          </p:pic>
          <p:pic>
            <p:nvPicPr>
              <p:cNvPr id="11" name="Picture 10" descr="A picture containing text, clipart&#10;&#10;Description automatically generated">
                <a:extLst>
                  <a:ext uri="{FF2B5EF4-FFF2-40B4-BE49-F238E27FC236}">
                    <a16:creationId xmlns:a16="http://schemas.microsoft.com/office/drawing/2014/main" id="{FD984325-1C50-1513-AF19-B72DBB701AB0}"/>
                  </a:ext>
                </a:extLst>
              </p:cNvPr>
              <p:cNvPicPr>
                <a:picLocks noChangeAspect="1"/>
              </p:cNvPicPr>
              <p:nvPr/>
            </p:nvPicPr>
            <p:blipFill>
              <a:blip r:embed="rId8"/>
              <a:stretch>
                <a:fillRect/>
              </a:stretch>
            </p:blipFill>
            <p:spPr>
              <a:xfrm rot="18117200">
                <a:off x="6199801" y="4234969"/>
                <a:ext cx="805988" cy="209204"/>
              </a:xfrm>
              <a:prstGeom prst="rect">
                <a:avLst/>
              </a:prstGeom>
            </p:spPr>
          </p:pic>
          <p:pic>
            <p:nvPicPr>
              <p:cNvPr id="12" name="Picture 11" descr="A picture containing text, clipart&#10;&#10;Description automatically generated">
                <a:extLst>
                  <a:ext uri="{FF2B5EF4-FFF2-40B4-BE49-F238E27FC236}">
                    <a16:creationId xmlns:a16="http://schemas.microsoft.com/office/drawing/2014/main" id="{78629357-82E0-83D3-64A5-B9454CA9C9C0}"/>
                  </a:ext>
                </a:extLst>
              </p:cNvPr>
              <p:cNvPicPr>
                <a:picLocks noChangeAspect="1"/>
              </p:cNvPicPr>
              <p:nvPr/>
            </p:nvPicPr>
            <p:blipFill>
              <a:blip r:embed="rId9"/>
              <a:stretch>
                <a:fillRect/>
              </a:stretch>
            </p:blipFill>
            <p:spPr>
              <a:xfrm>
                <a:off x="5724874" y="3242621"/>
                <a:ext cx="742722" cy="185188"/>
              </a:xfrm>
              <a:prstGeom prst="rect">
                <a:avLst/>
              </a:prstGeom>
            </p:spPr>
          </p:pic>
        </p:grpSp>
        <p:sp>
          <p:nvSpPr>
            <p:cNvPr id="7" name="TextBox 6">
              <a:extLst>
                <a:ext uri="{FF2B5EF4-FFF2-40B4-BE49-F238E27FC236}">
                  <a16:creationId xmlns:a16="http://schemas.microsoft.com/office/drawing/2014/main" id="{FCA5D669-11DB-D7A9-B40C-DDA095E943A7}"/>
                </a:ext>
              </a:extLst>
            </p:cNvPr>
            <p:cNvSpPr txBox="1"/>
            <p:nvPr/>
          </p:nvSpPr>
          <p:spPr>
            <a:xfrm>
              <a:off x="1487799" y="2877258"/>
              <a:ext cx="4313751" cy="3512510"/>
            </a:xfrm>
            <a:prstGeom prst="rect">
              <a:avLst/>
            </a:prstGeom>
            <a:noFill/>
          </p:spPr>
          <p:txBody>
            <a:bodyPr wrap="square" rtlCol="0">
              <a:prstTxWarp prst="textArchDown">
                <a:avLst>
                  <a:gd name="adj" fmla="val 19307237"/>
                </a:avLst>
              </a:prstTxWarp>
              <a:spAutoFit/>
            </a:bodyPr>
            <a:lstStyle/>
            <a:p>
              <a:pPr algn="ctr"/>
              <a:r>
                <a:rPr lang="en-GB" sz="1333" b="1">
                  <a:solidFill>
                    <a:schemeClr val="bg1">
                      <a:lumMod val="95000"/>
                    </a:schemeClr>
                  </a:solidFill>
                  <a:latin typeface="Arial" panose="020B0604020202020204" pitchFamily="34" charset="0"/>
                  <a:cs typeface="Arial" panose="020B0604020202020204" pitchFamily="34" charset="0"/>
                </a:rPr>
                <a:t>CYBER THREAT INTELIGENCE </a:t>
              </a:r>
              <a:endParaRPr lang="en-IN" sz="1333" b="1">
                <a:solidFill>
                  <a:schemeClr val="bg1">
                    <a:lumMod val="95000"/>
                  </a:schemeClr>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9A4B8A2-1737-A39E-62F5-60D4C57AE8F2}"/>
                </a:ext>
              </a:extLst>
            </p:cNvPr>
            <p:cNvSpPr txBox="1"/>
            <p:nvPr/>
          </p:nvSpPr>
          <p:spPr>
            <a:xfrm>
              <a:off x="1754222" y="1509070"/>
              <a:ext cx="3733172" cy="2817024"/>
            </a:xfrm>
            <a:prstGeom prst="rect">
              <a:avLst/>
            </a:prstGeom>
            <a:noFill/>
          </p:spPr>
          <p:txBody>
            <a:bodyPr wrap="square" rtlCol="0">
              <a:prstTxWarp prst="textArchUp">
                <a:avLst>
                  <a:gd name="adj" fmla="val 8713831"/>
                </a:avLst>
              </a:prstTxWarp>
              <a:spAutoFit/>
            </a:bodyPr>
            <a:lstStyle/>
            <a:p>
              <a:pPr algn="ctr"/>
              <a:r>
                <a:rPr lang="en-US" sz="1333" b="1">
                  <a:solidFill>
                    <a:schemeClr val="bg1"/>
                  </a:solidFill>
                  <a:latin typeface="Avenir Next LT Pro" panose="020B0504020202020204" pitchFamily="34" charset="0"/>
                </a:rPr>
                <a:t>(SOAR)</a:t>
              </a:r>
            </a:p>
          </p:txBody>
        </p:sp>
      </p:grpSp>
    </p:spTree>
    <p:extLst>
      <p:ext uri="{BB962C8B-B14F-4D97-AF65-F5344CB8AC3E}">
        <p14:creationId xmlns:p14="http://schemas.microsoft.com/office/powerpoint/2010/main" val="849281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5">
            <a:extLst>
              <a:ext uri="{FF2B5EF4-FFF2-40B4-BE49-F238E27FC236}">
                <a16:creationId xmlns:a16="http://schemas.microsoft.com/office/drawing/2014/main" id="{1CF5B6C1-8205-DCF2-EB4F-FF0B4C0A5C2A}"/>
              </a:ext>
            </a:extLst>
          </p:cNvPr>
          <p:cNvSpPr>
            <a:spLocks/>
          </p:cNvSpPr>
          <p:nvPr/>
        </p:nvSpPr>
        <p:spPr>
          <a:xfrm>
            <a:off x="5" y="2"/>
            <a:ext cx="1219199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24" name="TextBox 23">
            <a:extLst>
              <a:ext uri="{FF2B5EF4-FFF2-40B4-BE49-F238E27FC236}">
                <a16:creationId xmlns:a16="http://schemas.microsoft.com/office/drawing/2014/main" id="{8A2C63B8-C5E5-F846-B92A-BB62C4A63503}"/>
              </a:ext>
            </a:extLst>
          </p:cNvPr>
          <p:cNvSpPr txBox="1"/>
          <p:nvPr/>
        </p:nvSpPr>
        <p:spPr>
          <a:xfrm>
            <a:off x="1601097" y="2503040"/>
            <a:ext cx="3192566" cy="448071"/>
          </a:xfrm>
          <a:prstGeom prst="rect">
            <a:avLst/>
          </a:prstGeom>
          <a:noFill/>
        </p:spPr>
        <p:txBody>
          <a:bodyPr wrap="square" rtlCol="0">
            <a:spAutoFit/>
          </a:bodyPr>
          <a:lstStyle/>
          <a:p>
            <a:pPr marL="171450" indent="-171450">
              <a:lnSpc>
                <a:spcPts val="1360"/>
              </a:lnSpc>
              <a:buFont typeface="Arial" panose="020B0604020202020204" pitchFamily="34" charset="0"/>
              <a:buChar char="•"/>
            </a:pPr>
            <a:r>
              <a:rPr lang="en-ZA" sz="1100" b="1" dirty="0">
                <a:solidFill>
                  <a:srgbClr val="1B252E"/>
                </a:solidFill>
                <a:latin typeface="Avenir Book" panose="02000503020000020003" pitchFamily="2" charset="0"/>
                <a:cs typeface="Calibri Light" panose="020F0302020204030204" pitchFamily="34" charset="0"/>
              </a:rPr>
              <a:t>Speak the Language of Business</a:t>
            </a:r>
          </a:p>
          <a:p>
            <a:pPr marL="171450" indent="-171450">
              <a:lnSpc>
                <a:spcPts val="1360"/>
              </a:lnSpc>
              <a:buFont typeface="Arial" panose="020B0604020202020204" pitchFamily="34" charset="0"/>
              <a:buChar char="•"/>
            </a:pPr>
            <a:r>
              <a:rPr lang="en-ZA" sz="1100" b="1" dirty="0">
                <a:solidFill>
                  <a:srgbClr val="1B252E"/>
                </a:solidFill>
                <a:latin typeface="Avenir Book" panose="02000503020000020003" pitchFamily="2" charset="0"/>
                <a:cs typeface="Calibri Light" panose="020F0302020204030204" pitchFamily="34" charset="0"/>
              </a:rPr>
              <a:t>Quantify the Risk</a:t>
            </a:r>
          </a:p>
        </p:txBody>
      </p:sp>
      <p:sp>
        <p:nvSpPr>
          <p:cNvPr id="27" name="Oval 26">
            <a:extLst>
              <a:ext uri="{FF2B5EF4-FFF2-40B4-BE49-F238E27FC236}">
                <a16:creationId xmlns:a16="http://schemas.microsoft.com/office/drawing/2014/main" id="{07AC6F17-5EB5-3247-AA74-8148D13924C6}"/>
              </a:ext>
            </a:extLst>
          </p:cNvPr>
          <p:cNvSpPr/>
          <p:nvPr/>
        </p:nvSpPr>
        <p:spPr>
          <a:xfrm>
            <a:off x="1129700" y="1964285"/>
            <a:ext cx="344930" cy="308133"/>
          </a:xfrm>
          <a:prstGeom prst="ellipse">
            <a:avLst/>
          </a:prstGeom>
          <a:solidFill>
            <a:srgbClr val="1B25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Calibri" panose="020F0502020204030204" pitchFamily="34" charset="0"/>
                <a:cs typeface="Calibri" panose="020F0502020204030204" pitchFamily="34" charset="0"/>
              </a:rPr>
              <a:t>1</a:t>
            </a:r>
          </a:p>
        </p:txBody>
      </p:sp>
      <p:sp>
        <p:nvSpPr>
          <p:cNvPr id="33" name="TextBox 32">
            <a:extLst>
              <a:ext uri="{FF2B5EF4-FFF2-40B4-BE49-F238E27FC236}">
                <a16:creationId xmlns:a16="http://schemas.microsoft.com/office/drawing/2014/main" id="{85E518B9-87FB-3249-9ABB-EE7BD6621421}"/>
              </a:ext>
            </a:extLst>
          </p:cNvPr>
          <p:cNvSpPr txBox="1"/>
          <p:nvPr/>
        </p:nvSpPr>
        <p:spPr>
          <a:xfrm>
            <a:off x="1601098" y="1733665"/>
            <a:ext cx="2876892" cy="923330"/>
          </a:xfrm>
          <a:prstGeom prst="rect">
            <a:avLst/>
          </a:prstGeom>
          <a:noFill/>
        </p:spPr>
        <p:txBody>
          <a:bodyPr wrap="square" rtlCol="0">
            <a:spAutoFit/>
          </a:bodyPr>
          <a:lstStyle>
            <a:defPPr>
              <a:defRPr lang="en-US"/>
            </a:defPPr>
            <a:lvl1pPr>
              <a:lnSpc>
                <a:spcPts val="1360"/>
              </a:lnSpc>
              <a:defRPr b="1">
                <a:effectLst/>
                <a:latin typeface="Avenir Next" panose="020B0503020202020204" pitchFamily="34" charset="0"/>
                <a:ea typeface="Arial" panose="020B0604020202020204" pitchFamily="34" charset="0"/>
                <a:cs typeface="Calibri Light" panose="020F0302020204030204" pitchFamily="34" charset="0"/>
              </a:defRPr>
            </a:lvl1pPr>
          </a:lstStyle>
          <a:p>
            <a:pPr>
              <a:lnSpc>
                <a:spcPct val="100000"/>
              </a:lnSpc>
            </a:pPr>
            <a:r>
              <a:rPr lang="en-ZA" b="1" i="0" u="none" strike="noStrike" dirty="0">
                <a:solidFill>
                  <a:srgbClr val="000000"/>
                </a:solidFill>
                <a:effectLst/>
              </a:rPr>
              <a:t>Align Cyber Risk with Organisational Objectives</a:t>
            </a:r>
            <a:endParaRPr lang="en-US" dirty="0"/>
          </a:p>
        </p:txBody>
      </p:sp>
      <p:sp>
        <p:nvSpPr>
          <p:cNvPr id="16" name="TextBox 15">
            <a:extLst>
              <a:ext uri="{FF2B5EF4-FFF2-40B4-BE49-F238E27FC236}">
                <a16:creationId xmlns:a16="http://schemas.microsoft.com/office/drawing/2014/main" id="{21D61013-DC7B-EC42-8250-FAFF13A4EB42}"/>
              </a:ext>
            </a:extLst>
          </p:cNvPr>
          <p:cNvSpPr txBox="1"/>
          <p:nvPr/>
        </p:nvSpPr>
        <p:spPr>
          <a:xfrm>
            <a:off x="898880" y="887885"/>
            <a:ext cx="3760325" cy="502702"/>
          </a:xfrm>
          <a:prstGeom prst="rect">
            <a:avLst/>
          </a:prstGeom>
          <a:noFill/>
        </p:spPr>
        <p:txBody>
          <a:bodyPr wrap="none" rtlCol="0">
            <a:spAutoFit/>
          </a:bodyPr>
          <a:lstStyle/>
          <a:p>
            <a:pPr>
              <a:lnSpc>
                <a:spcPts val="3200"/>
              </a:lnSpc>
            </a:pPr>
            <a:r>
              <a:rPr lang="en-US" sz="3001" b="1" dirty="0">
                <a:solidFill>
                  <a:srgbClr val="1B252E"/>
                </a:solidFill>
                <a:latin typeface="Calibri" panose="020F0502020204030204" pitchFamily="34" charset="0"/>
                <a:cs typeface="Calibri" panose="020F0502020204030204" pitchFamily="34" charset="0"/>
              </a:rPr>
              <a:t>How To Articulate Risk</a:t>
            </a:r>
          </a:p>
        </p:txBody>
      </p:sp>
      <p:sp>
        <p:nvSpPr>
          <p:cNvPr id="17" name="TextBox 16">
            <a:extLst>
              <a:ext uri="{FF2B5EF4-FFF2-40B4-BE49-F238E27FC236}">
                <a16:creationId xmlns:a16="http://schemas.microsoft.com/office/drawing/2014/main" id="{53B5ED00-40C8-D047-8651-347BB7EC070A}"/>
              </a:ext>
            </a:extLst>
          </p:cNvPr>
          <p:cNvSpPr txBox="1"/>
          <p:nvPr/>
        </p:nvSpPr>
        <p:spPr>
          <a:xfrm>
            <a:off x="4784398" y="2479853"/>
            <a:ext cx="3192566" cy="448071"/>
          </a:xfrm>
          <a:prstGeom prst="rect">
            <a:avLst/>
          </a:prstGeom>
          <a:noFill/>
        </p:spPr>
        <p:txBody>
          <a:bodyPr wrap="square" rtlCol="0">
            <a:spAutoFit/>
          </a:bodyPr>
          <a:lstStyle/>
          <a:p>
            <a:pPr marL="171450" indent="-171450">
              <a:lnSpc>
                <a:spcPts val="1360"/>
              </a:lnSpc>
              <a:buFont typeface="Arial" panose="020B0604020202020204" pitchFamily="34" charset="0"/>
              <a:buChar char="•"/>
            </a:pPr>
            <a:r>
              <a:rPr lang="en-ZA" sz="1100" b="1">
                <a:solidFill>
                  <a:srgbClr val="1B252E"/>
                </a:solidFill>
                <a:latin typeface="Avenir Book" panose="02000503020000020003" pitchFamily="2" charset="0"/>
                <a:cs typeface="Calibri Light" panose="020F0302020204030204" pitchFamily="34" charset="0"/>
              </a:rPr>
              <a:t>Focus on High-Impact Threats</a:t>
            </a:r>
          </a:p>
          <a:p>
            <a:pPr marL="171450" indent="-171450">
              <a:lnSpc>
                <a:spcPts val="1360"/>
              </a:lnSpc>
              <a:buFont typeface="Arial" panose="020B0604020202020204" pitchFamily="34" charset="0"/>
              <a:buChar char="•"/>
            </a:pPr>
            <a:r>
              <a:rPr lang="en-ZA" sz="1100" b="1">
                <a:solidFill>
                  <a:srgbClr val="1B252E"/>
                </a:solidFill>
                <a:latin typeface="Avenir Book" panose="02000503020000020003" pitchFamily="2" charset="0"/>
                <a:cs typeface="Calibri Light" panose="020F0302020204030204" pitchFamily="34" charset="0"/>
              </a:rPr>
              <a:t>Use Risk Scenarios </a:t>
            </a:r>
            <a:endParaRPr lang="en-US" sz="1100" b="1">
              <a:solidFill>
                <a:srgbClr val="1B252E"/>
              </a:solidFill>
              <a:latin typeface="Avenir Book" panose="02000503020000020003" pitchFamily="2" charset="0"/>
              <a:cs typeface="Calibri Light" panose="020F0302020204030204" pitchFamily="34" charset="0"/>
            </a:endParaRPr>
          </a:p>
        </p:txBody>
      </p:sp>
      <p:sp>
        <p:nvSpPr>
          <p:cNvPr id="18" name="Oval 17">
            <a:extLst>
              <a:ext uri="{FF2B5EF4-FFF2-40B4-BE49-F238E27FC236}">
                <a16:creationId xmlns:a16="http://schemas.microsoft.com/office/drawing/2014/main" id="{FE8F31BE-B575-FD4E-B3C9-0D35CAFD1F43}"/>
              </a:ext>
            </a:extLst>
          </p:cNvPr>
          <p:cNvSpPr/>
          <p:nvPr/>
        </p:nvSpPr>
        <p:spPr>
          <a:xfrm>
            <a:off x="4313002" y="1941101"/>
            <a:ext cx="344930" cy="308133"/>
          </a:xfrm>
          <a:prstGeom prst="ellipse">
            <a:avLst/>
          </a:prstGeom>
          <a:solidFill>
            <a:srgbClr val="1B25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Calibri" panose="020F0502020204030204" pitchFamily="34" charset="0"/>
                <a:cs typeface="Calibri" panose="020F0502020204030204" pitchFamily="34" charset="0"/>
              </a:rPr>
              <a:t>2</a:t>
            </a:r>
          </a:p>
        </p:txBody>
      </p:sp>
      <p:sp>
        <p:nvSpPr>
          <p:cNvPr id="20" name="TextBox 19">
            <a:extLst>
              <a:ext uri="{FF2B5EF4-FFF2-40B4-BE49-F238E27FC236}">
                <a16:creationId xmlns:a16="http://schemas.microsoft.com/office/drawing/2014/main" id="{BF95DB38-300B-6243-8C39-7D5515C5994B}"/>
              </a:ext>
            </a:extLst>
          </p:cNvPr>
          <p:cNvSpPr txBox="1"/>
          <p:nvPr/>
        </p:nvSpPr>
        <p:spPr>
          <a:xfrm>
            <a:off x="4784396" y="1710478"/>
            <a:ext cx="2112617" cy="646331"/>
          </a:xfrm>
          <a:prstGeom prst="rect">
            <a:avLst/>
          </a:prstGeom>
          <a:noFill/>
        </p:spPr>
        <p:txBody>
          <a:bodyPr wrap="square" rtlCol="0">
            <a:spAutoFit/>
          </a:bodyPr>
          <a:lstStyle>
            <a:defPPr>
              <a:defRPr lang="en-US"/>
            </a:defPPr>
            <a:lvl1pPr>
              <a:lnSpc>
                <a:spcPts val="1360"/>
              </a:lnSpc>
              <a:defRPr b="1">
                <a:effectLst/>
                <a:latin typeface="Avenir Next" panose="020B0503020202020204" pitchFamily="34" charset="0"/>
                <a:ea typeface="Arial" panose="020B0604020202020204" pitchFamily="34" charset="0"/>
                <a:cs typeface="Calibri Light" panose="020F0302020204030204" pitchFamily="34" charset="0"/>
              </a:defRPr>
            </a:lvl1pPr>
          </a:lstStyle>
          <a:p>
            <a:pPr>
              <a:lnSpc>
                <a:spcPct val="100000"/>
              </a:lnSpc>
            </a:pPr>
            <a:r>
              <a:rPr lang="en-ZA"/>
              <a:t>Prioritise Risks Based on Impact</a:t>
            </a:r>
            <a:endParaRPr lang="en-US"/>
          </a:p>
        </p:txBody>
      </p:sp>
      <p:sp>
        <p:nvSpPr>
          <p:cNvPr id="21" name="TextBox 20">
            <a:extLst>
              <a:ext uri="{FF2B5EF4-FFF2-40B4-BE49-F238E27FC236}">
                <a16:creationId xmlns:a16="http://schemas.microsoft.com/office/drawing/2014/main" id="{70CD2A57-3DC2-BD45-8246-3407819DC5C8}"/>
              </a:ext>
            </a:extLst>
          </p:cNvPr>
          <p:cNvSpPr txBox="1"/>
          <p:nvPr/>
        </p:nvSpPr>
        <p:spPr>
          <a:xfrm>
            <a:off x="8374878" y="2503040"/>
            <a:ext cx="3192566" cy="448071"/>
          </a:xfrm>
          <a:prstGeom prst="rect">
            <a:avLst/>
          </a:prstGeom>
          <a:noFill/>
        </p:spPr>
        <p:txBody>
          <a:bodyPr wrap="square" rtlCol="0">
            <a:spAutoFit/>
          </a:bodyPr>
          <a:lstStyle/>
          <a:p>
            <a:pPr marL="171450" indent="-171450">
              <a:lnSpc>
                <a:spcPts val="1360"/>
              </a:lnSpc>
              <a:buFont typeface="Arial" panose="020B0604020202020204" pitchFamily="34" charset="0"/>
              <a:buChar char="•"/>
            </a:pPr>
            <a:r>
              <a:rPr lang="en-ZA" sz="1100" b="1" i="0" u="none" strike="noStrike">
                <a:solidFill>
                  <a:srgbClr val="000000"/>
                </a:solidFill>
                <a:effectLst/>
                <a:latin typeface="Avenir Book" panose="02000503020000020003" pitchFamily="2" charset="0"/>
              </a:rPr>
              <a:t>Cost-benefit Analysis</a:t>
            </a:r>
          </a:p>
          <a:p>
            <a:pPr marL="171450" indent="-171450">
              <a:lnSpc>
                <a:spcPts val="1360"/>
              </a:lnSpc>
              <a:buFont typeface="Arial" panose="020B0604020202020204" pitchFamily="34" charset="0"/>
              <a:buChar char="•"/>
            </a:pPr>
            <a:r>
              <a:rPr lang="en-ZA" sz="1100" b="1" i="0" u="none" strike="noStrike">
                <a:solidFill>
                  <a:srgbClr val="000000"/>
                </a:solidFill>
                <a:effectLst/>
                <a:latin typeface="Avenir Book" panose="02000503020000020003" pitchFamily="2" charset="0"/>
              </a:rPr>
              <a:t>Competitive Edge</a:t>
            </a:r>
            <a:endParaRPr lang="en-US" sz="1100" b="1">
              <a:solidFill>
                <a:srgbClr val="1B252E"/>
              </a:solidFill>
              <a:latin typeface="Avenir Book" panose="02000503020000020003" pitchFamily="2" charset="0"/>
              <a:cs typeface="Calibri Light" panose="020F0302020204030204" pitchFamily="34" charset="0"/>
            </a:endParaRPr>
          </a:p>
        </p:txBody>
      </p:sp>
      <p:sp>
        <p:nvSpPr>
          <p:cNvPr id="22" name="Oval 21">
            <a:extLst>
              <a:ext uri="{FF2B5EF4-FFF2-40B4-BE49-F238E27FC236}">
                <a16:creationId xmlns:a16="http://schemas.microsoft.com/office/drawing/2014/main" id="{DADDD3E0-C8E3-354A-B7D5-EEB71FDE7E68}"/>
              </a:ext>
            </a:extLst>
          </p:cNvPr>
          <p:cNvSpPr/>
          <p:nvPr/>
        </p:nvSpPr>
        <p:spPr>
          <a:xfrm>
            <a:off x="7903482" y="1964288"/>
            <a:ext cx="344930" cy="308133"/>
          </a:xfrm>
          <a:prstGeom prst="ellipse">
            <a:avLst/>
          </a:prstGeom>
          <a:solidFill>
            <a:srgbClr val="1B25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Calibri" panose="020F0502020204030204" pitchFamily="34" charset="0"/>
                <a:cs typeface="Calibri" panose="020F0502020204030204" pitchFamily="34" charset="0"/>
              </a:rPr>
              <a:t>3</a:t>
            </a:r>
          </a:p>
        </p:txBody>
      </p:sp>
      <p:sp>
        <p:nvSpPr>
          <p:cNvPr id="23" name="TextBox 22">
            <a:extLst>
              <a:ext uri="{FF2B5EF4-FFF2-40B4-BE49-F238E27FC236}">
                <a16:creationId xmlns:a16="http://schemas.microsoft.com/office/drawing/2014/main" id="{6C1A2DFD-B41C-C941-B716-10D43F5CAD2F}"/>
              </a:ext>
            </a:extLst>
          </p:cNvPr>
          <p:cNvSpPr txBox="1"/>
          <p:nvPr/>
        </p:nvSpPr>
        <p:spPr>
          <a:xfrm>
            <a:off x="8374877" y="1733665"/>
            <a:ext cx="2876892" cy="646331"/>
          </a:xfrm>
          <a:prstGeom prst="rect">
            <a:avLst/>
          </a:prstGeom>
          <a:noFill/>
        </p:spPr>
        <p:txBody>
          <a:bodyPr wrap="square" rtlCol="0">
            <a:spAutoFit/>
          </a:bodyPr>
          <a:lstStyle/>
          <a:p>
            <a:r>
              <a:rPr lang="en-GB" sz="1800" b="1">
                <a:effectLst/>
                <a:latin typeface="Avenir Next" panose="020B0503020202020204" pitchFamily="34" charset="0"/>
                <a:ea typeface="Arial" panose="020B0604020202020204" pitchFamily="34" charset="0"/>
                <a:cs typeface="Calibri Light" panose="020F0302020204030204" pitchFamily="34" charset="0"/>
              </a:rPr>
              <a:t>Emphasize ROI and Competitive Advantage</a:t>
            </a:r>
            <a:endParaRPr lang="en-US" sz="1800" b="1">
              <a:effectLst/>
              <a:latin typeface="Avenir Next" panose="020B0503020202020204" pitchFamily="34" charset="0"/>
              <a:ea typeface="Arial" panose="020B0604020202020204" pitchFamily="34" charset="0"/>
              <a:cs typeface="Calibri Light" panose="020F0302020204030204" pitchFamily="34" charset="0"/>
            </a:endParaRPr>
          </a:p>
        </p:txBody>
      </p:sp>
      <p:sp>
        <p:nvSpPr>
          <p:cNvPr id="25" name="TextBox 24">
            <a:extLst>
              <a:ext uri="{FF2B5EF4-FFF2-40B4-BE49-F238E27FC236}">
                <a16:creationId xmlns:a16="http://schemas.microsoft.com/office/drawing/2014/main" id="{98A9B35E-E2DA-F34B-B3B6-62F6DD67F2F7}"/>
              </a:ext>
            </a:extLst>
          </p:cNvPr>
          <p:cNvSpPr txBox="1"/>
          <p:nvPr/>
        </p:nvSpPr>
        <p:spPr>
          <a:xfrm>
            <a:off x="1601097" y="4661587"/>
            <a:ext cx="3192566" cy="448071"/>
          </a:xfrm>
          <a:prstGeom prst="rect">
            <a:avLst/>
          </a:prstGeom>
          <a:noFill/>
        </p:spPr>
        <p:txBody>
          <a:bodyPr wrap="square" rtlCol="0">
            <a:spAutoFit/>
          </a:bodyPr>
          <a:lstStyle/>
          <a:p>
            <a:pPr marL="171450" indent="-171450">
              <a:lnSpc>
                <a:spcPts val="1360"/>
              </a:lnSpc>
              <a:buFont typeface="Arial" panose="020B0604020202020204" pitchFamily="34" charset="0"/>
              <a:buChar char="•"/>
            </a:pPr>
            <a:r>
              <a:rPr lang="en-ZA" sz="1100" b="1">
                <a:solidFill>
                  <a:srgbClr val="1B252E"/>
                </a:solidFill>
                <a:latin typeface="Avenir Book" panose="02000503020000020003" pitchFamily="2" charset="0"/>
                <a:cs typeface="Calibri Light" panose="020F0302020204030204" pitchFamily="34" charset="0"/>
              </a:rPr>
              <a:t>Avoid Jargon</a:t>
            </a:r>
          </a:p>
          <a:p>
            <a:pPr marL="171450" indent="-171450">
              <a:lnSpc>
                <a:spcPts val="1360"/>
              </a:lnSpc>
              <a:buFont typeface="Arial" panose="020B0604020202020204" pitchFamily="34" charset="0"/>
              <a:buChar char="•"/>
            </a:pPr>
            <a:r>
              <a:rPr lang="en-ZA" sz="1100" b="1">
                <a:solidFill>
                  <a:srgbClr val="1B252E"/>
                </a:solidFill>
                <a:latin typeface="Avenir Book" panose="02000503020000020003" pitchFamily="2" charset="0"/>
                <a:cs typeface="Calibri Light" panose="020F0302020204030204" pitchFamily="34" charset="0"/>
              </a:rPr>
              <a:t>Use Visuals</a:t>
            </a:r>
          </a:p>
        </p:txBody>
      </p:sp>
      <p:sp>
        <p:nvSpPr>
          <p:cNvPr id="37" name="Oval 36">
            <a:extLst>
              <a:ext uri="{FF2B5EF4-FFF2-40B4-BE49-F238E27FC236}">
                <a16:creationId xmlns:a16="http://schemas.microsoft.com/office/drawing/2014/main" id="{BECCDDB8-D808-0548-A7E0-FACE1D65544E}"/>
              </a:ext>
            </a:extLst>
          </p:cNvPr>
          <p:cNvSpPr/>
          <p:nvPr/>
        </p:nvSpPr>
        <p:spPr>
          <a:xfrm>
            <a:off x="1129700" y="4005735"/>
            <a:ext cx="344930" cy="308133"/>
          </a:xfrm>
          <a:prstGeom prst="ellipse">
            <a:avLst/>
          </a:prstGeom>
          <a:solidFill>
            <a:srgbClr val="1B25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Calibri" panose="020F0502020204030204" pitchFamily="34" charset="0"/>
                <a:cs typeface="Calibri" panose="020F0502020204030204" pitchFamily="34" charset="0"/>
              </a:rPr>
              <a:t>4</a:t>
            </a:r>
          </a:p>
        </p:txBody>
      </p:sp>
      <p:sp>
        <p:nvSpPr>
          <p:cNvPr id="38" name="TextBox 37">
            <a:extLst>
              <a:ext uri="{FF2B5EF4-FFF2-40B4-BE49-F238E27FC236}">
                <a16:creationId xmlns:a16="http://schemas.microsoft.com/office/drawing/2014/main" id="{5749F850-5015-404B-82CF-68F66B84BA57}"/>
              </a:ext>
            </a:extLst>
          </p:cNvPr>
          <p:cNvSpPr txBox="1"/>
          <p:nvPr/>
        </p:nvSpPr>
        <p:spPr>
          <a:xfrm>
            <a:off x="1601097" y="3892212"/>
            <a:ext cx="2505757" cy="646331"/>
          </a:xfrm>
          <a:prstGeom prst="rect">
            <a:avLst/>
          </a:prstGeom>
          <a:noFill/>
        </p:spPr>
        <p:txBody>
          <a:bodyPr wrap="square" rtlCol="0">
            <a:spAutoFit/>
          </a:bodyPr>
          <a:lstStyle>
            <a:defPPr>
              <a:defRPr lang="en-US"/>
            </a:defPPr>
            <a:lvl1pPr>
              <a:lnSpc>
                <a:spcPts val="1360"/>
              </a:lnSpc>
              <a:defRPr b="1">
                <a:effectLst/>
                <a:latin typeface="Avenir Next" panose="020B0503020202020204" pitchFamily="34" charset="0"/>
                <a:ea typeface="Arial" panose="020B0604020202020204" pitchFamily="34" charset="0"/>
                <a:cs typeface="Calibri Light" panose="020F0302020204030204" pitchFamily="34" charset="0"/>
              </a:defRPr>
            </a:lvl1pPr>
          </a:lstStyle>
          <a:p>
            <a:pPr>
              <a:lnSpc>
                <a:spcPct val="100000"/>
              </a:lnSpc>
            </a:pPr>
            <a:r>
              <a:rPr lang="en-ZA"/>
              <a:t>Simplify Communication</a:t>
            </a:r>
            <a:endParaRPr lang="en-US"/>
          </a:p>
        </p:txBody>
      </p:sp>
      <p:sp>
        <p:nvSpPr>
          <p:cNvPr id="39" name="TextBox 38">
            <a:extLst>
              <a:ext uri="{FF2B5EF4-FFF2-40B4-BE49-F238E27FC236}">
                <a16:creationId xmlns:a16="http://schemas.microsoft.com/office/drawing/2014/main" id="{AE92CA1F-A8DF-2A43-AC5A-8B7E225BD534}"/>
              </a:ext>
            </a:extLst>
          </p:cNvPr>
          <p:cNvSpPr txBox="1"/>
          <p:nvPr/>
        </p:nvSpPr>
        <p:spPr>
          <a:xfrm>
            <a:off x="4784398" y="4638400"/>
            <a:ext cx="3192566" cy="448071"/>
          </a:xfrm>
          <a:prstGeom prst="rect">
            <a:avLst/>
          </a:prstGeom>
          <a:noFill/>
        </p:spPr>
        <p:txBody>
          <a:bodyPr wrap="square" rtlCol="0">
            <a:spAutoFit/>
          </a:bodyPr>
          <a:lstStyle/>
          <a:p>
            <a:pPr marL="171450" indent="-171450">
              <a:lnSpc>
                <a:spcPts val="1360"/>
              </a:lnSpc>
              <a:buFont typeface="Arial" panose="020B0604020202020204" pitchFamily="34" charset="0"/>
              <a:buChar char="•"/>
            </a:pPr>
            <a:r>
              <a:rPr lang="en-ZA" sz="1100" b="1">
                <a:solidFill>
                  <a:srgbClr val="1B252E"/>
                </a:solidFill>
                <a:latin typeface="Avenir Book" panose="02000503020000020003" pitchFamily="2" charset="0"/>
                <a:cs typeface="Calibri Light" panose="020F0302020204030204" pitchFamily="34" charset="0"/>
              </a:rPr>
              <a:t>Present Solutions, Not Just Problems</a:t>
            </a:r>
          </a:p>
          <a:p>
            <a:pPr marL="171450" indent="-171450">
              <a:lnSpc>
                <a:spcPts val="1360"/>
              </a:lnSpc>
              <a:buFont typeface="Arial" panose="020B0604020202020204" pitchFamily="34" charset="0"/>
              <a:buChar char="•"/>
            </a:pPr>
            <a:r>
              <a:rPr lang="en-ZA" sz="1100" b="1">
                <a:solidFill>
                  <a:srgbClr val="1B252E"/>
                </a:solidFill>
                <a:latin typeface="Avenir Book" panose="02000503020000020003" pitchFamily="2" charset="0"/>
                <a:cs typeface="Calibri Light" panose="020F0302020204030204" pitchFamily="34" charset="0"/>
              </a:rPr>
              <a:t>Demonstrate Preparedness</a:t>
            </a:r>
            <a:endParaRPr lang="en-US" sz="1100" b="1">
              <a:solidFill>
                <a:srgbClr val="1B252E"/>
              </a:solidFill>
              <a:latin typeface="Avenir Book" panose="02000503020000020003" pitchFamily="2" charset="0"/>
              <a:cs typeface="Calibri Light" panose="020F0302020204030204" pitchFamily="34" charset="0"/>
            </a:endParaRPr>
          </a:p>
        </p:txBody>
      </p:sp>
      <p:sp>
        <p:nvSpPr>
          <p:cNvPr id="40" name="Oval 39">
            <a:extLst>
              <a:ext uri="{FF2B5EF4-FFF2-40B4-BE49-F238E27FC236}">
                <a16:creationId xmlns:a16="http://schemas.microsoft.com/office/drawing/2014/main" id="{3E5BE207-A73F-3D4D-9228-B4D6955A50F9}"/>
              </a:ext>
            </a:extLst>
          </p:cNvPr>
          <p:cNvSpPr/>
          <p:nvPr/>
        </p:nvSpPr>
        <p:spPr>
          <a:xfrm>
            <a:off x="4313002" y="3982551"/>
            <a:ext cx="344930" cy="308133"/>
          </a:xfrm>
          <a:prstGeom prst="ellipse">
            <a:avLst/>
          </a:prstGeom>
          <a:solidFill>
            <a:srgbClr val="1B25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Calibri" panose="020F0502020204030204" pitchFamily="34" charset="0"/>
                <a:cs typeface="Calibri" panose="020F0502020204030204" pitchFamily="34" charset="0"/>
              </a:rPr>
              <a:t>5</a:t>
            </a:r>
          </a:p>
        </p:txBody>
      </p:sp>
      <p:sp>
        <p:nvSpPr>
          <p:cNvPr id="41" name="TextBox 40">
            <a:extLst>
              <a:ext uri="{FF2B5EF4-FFF2-40B4-BE49-F238E27FC236}">
                <a16:creationId xmlns:a16="http://schemas.microsoft.com/office/drawing/2014/main" id="{536921BE-0436-914B-8D09-04F777A5010E}"/>
              </a:ext>
            </a:extLst>
          </p:cNvPr>
          <p:cNvSpPr txBox="1"/>
          <p:nvPr/>
        </p:nvSpPr>
        <p:spPr>
          <a:xfrm>
            <a:off x="4784396" y="3570532"/>
            <a:ext cx="3066102" cy="923330"/>
          </a:xfrm>
          <a:prstGeom prst="rect">
            <a:avLst/>
          </a:prstGeom>
          <a:noFill/>
        </p:spPr>
        <p:txBody>
          <a:bodyPr wrap="square" rtlCol="0">
            <a:spAutoFit/>
          </a:bodyPr>
          <a:lstStyle>
            <a:defPPr>
              <a:defRPr lang="en-US"/>
            </a:defPPr>
            <a:lvl1pPr>
              <a:lnSpc>
                <a:spcPts val="1360"/>
              </a:lnSpc>
              <a:defRPr b="1">
                <a:effectLst/>
                <a:latin typeface="Avenir Next" panose="020B0503020202020204" pitchFamily="34" charset="0"/>
                <a:ea typeface="Arial" panose="020B0604020202020204" pitchFamily="34" charset="0"/>
                <a:cs typeface="Calibri Light" panose="020F0302020204030204" pitchFamily="34" charset="0"/>
              </a:defRPr>
            </a:lvl1pPr>
          </a:lstStyle>
          <a:p>
            <a:pPr>
              <a:lnSpc>
                <a:spcPct val="100000"/>
              </a:lnSpc>
            </a:pPr>
            <a:r>
              <a:rPr lang="en-GB"/>
              <a:t> </a:t>
            </a:r>
            <a:endParaRPr lang="en-ZA"/>
          </a:p>
          <a:p>
            <a:pPr>
              <a:lnSpc>
                <a:spcPct val="100000"/>
              </a:lnSpc>
            </a:pPr>
            <a:r>
              <a:rPr lang="en-US"/>
              <a:t>Propose Clear, Actionable Plans</a:t>
            </a:r>
          </a:p>
        </p:txBody>
      </p:sp>
      <p:sp>
        <p:nvSpPr>
          <p:cNvPr id="42" name="TextBox 41">
            <a:extLst>
              <a:ext uri="{FF2B5EF4-FFF2-40B4-BE49-F238E27FC236}">
                <a16:creationId xmlns:a16="http://schemas.microsoft.com/office/drawing/2014/main" id="{52D3C66A-AA37-934E-BA4E-3AD2698061F3}"/>
              </a:ext>
            </a:extLst>
          </p:cNvPr>
          <p:cNvSpPr txBox="1"/>
          <p:nvPr/>
        </p:nvSpPr>
        <p:spPr>
          <a:xfrm>
            <a:off x="8374878" y="4661587"/>
            <a:ext cx="3192566" cy="448071"/>
          </a:xfrm>
          <a:prstGeom prst="rect">
            <a:avLst/>
          </a:prstGeom>
          <a:noFill/>
        </p:spPr>
        <p:txBody>
          <a:bodyPr wrap="square" rtlCol="0">
            <a:spAutoFit/>
          </a:bodyPr>
          <a:lstStyle/>
          <a:p>
            <a:pPr marL="171450" indent="-171450">
              <a:lnSpc>
                <a:spcPts val="1360"/>
              </a:lnSpc>
              <a:buFont typeface="Arial" panose="020B0604020202020204" pitchFamily="34" charset="0"/>
              <a:buChar char="•"/>
            </a:pPr>
            <a:r>
              <a:rPr lang="en-ZA" sz="1100" b="1">
                <a:solidFill>
                  <a:srgbClr val="1B252E"/>
                </a:solidFill>
                <a:latin typeface="Avenir Book" panose="02000503020000020003" pitchFamily="2" charset="0"/>
                <a:cs typeface="Calibri Light" panose="020F0302020204030204" pitchFamily="34" charset="0"/>
              </a:rPr>
              <a:t>Compliance Focus </a:t>
            </a:r>
          </a:p>
          <a:p>
            <a:pPr marL="171450" indent="-171450">
              <a:lnSpc>
                <a:spcPts val="1360"/>
              </a:lnSpc>
              <a:buFont typeface="Arial" panose="020B0604020202020204" pitchFamily="34" charset="0"/>
              <a:buChar char="•"/>
            </a:pPr>
            <a:r>
              <a:rPr lang="en-ZA" sz="1100" b="1">
                <a:solidFill>
                  <a:srgbClr val="1B252E"/>
                </a:solidFill>
                <a:latin typeface="Avenir Book" panose="02000503020000020003" pitchFamily="2" charset="0"/>
                <a:cs typeface="Calibri Light" panose="020F0302020204030204" pitchFamily="34" charset="0"/>
              </a:rPr>
              <a:t>Legal Risks</a:t>
            </a:r>
            <a:endParaRPr lang="en-US" sz="1100" b="1">
              <a:solidFill>
                <a:srgbClr val="1B252E"/>
              </a:solidFill>
              <a:latin typeface="Avenir Book" panose="02000503020000020003" pitchFamily="2" charset="0"/>
              <a:cs typeface="Calibri Light" panose="020F0302020204030204" pitchFamily="34" charset="0"/>
            </a:endParaRPr>
          </a:p>
        </p:txBody>
      </p:sp>
      <p:sp>
        <p:nvSpPr>
          <p:cNvPr id="43" name="Oval 42">
            <a:extLst>
              <a:ext uri="{FF2B5EF4-FFF2-40B4-BE49-F238E27FC236}">
                <a16:creationId xmlns:a16="http://schemas.microsoft.com/office/drawing/2014/main" id="{4114920E-8C8D-D34A-B5B0-B45536DE0EF1}"/>
              </a:ext>
            </a:extLst>
          </p:cNvPr>
          <p:cNvSpPr/>
          <p:nvPr/>
        </p:nvSpPr>
        <p:spPr>
          <a:xfrm>
            <a:off x="7903482" y="4005738"/>
            <a:ext cx="344930" cy="308133"/>
          </a:xfrm>
          <a:prstGeom prst="ellipse">
            <a:avLst/>
          </a:prstGeom>
          <a:solidFill>
            <a:srgbClr val="1B25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Calibri" panose="020F0502020204030204" pitchFamily="34" charset="0"/>
                <a:cs typeface="Calibri" panose="020F0502020204030204" pitchFamily="34" charset="0"/>
              </a:rPr>
              <a:t>6</a:t>
            </a:r>
          </a:p>
        </p:txBody>
      </p:sp>
      <p:sp>
        <p:nvSpPr>
          <p:cNvPr id="44" name="TextBox 43">
            <a:extLst>
              <a:ext uri="{FF2B5EF4-FFF2-40B4-BE49-F238E27FC236}">
                <a16:creationId xmlns:a16="http://schemas.microsoft.com/office/drawing/2014/main" id="{F7ED4336-BD41-A24D-8FA3-19E47ADDE8C6}"/>
              </a:ext>
            </a:extLst>
          </p:cNvPr>
          <p:cNvSpPr txBox="1"/>
          <p:nvPr/>
        </p:nvSpPr>
        <p:spPr>
          <a:xfrm>
            <a:off x="8374877" y="3784745"/>
            <a:ext cx="3066102" cy="646331"/>
          </a:xfrm>
          <a:prstGeom prst="rect">
            <a:avLst/>
          </a:prstGeom>
          <a:noFill/>
        </p:spPr>
        <p:txBody>
          <a:bodyPr wrap="square" rtlCol="0">
            <a:spAutoFit/>
          </a:bodyPr>
          <a:lstStyle>
            <a:defPPr>
              <a:defRPr lang="en-US"/>
            </a:defPPr>
            <a:lvl1pPr>
              <a:lnSpc>
                <a:spcPts val="1360"/>
              </a:lnSpc>
              <a:defRPr b="1">
                <a:effectLst/>
                <a:latin typeface="Avenir Next" panose="020B0503020202020204" pitchFamily="34" charset="0"/>
                <a:ea typeface="Arial" panose="020B0604020202020204" pitchFamily="34" charset="0"/>
                <a:cs typeface="Calibri Light" panose="020F0302020204030204" pitchFamily="34" charset="0"/>
              </a:defRPr>
            </a:lvl1pPr>
          </a:lstStyle>
          <a:p>
            <a:pPr>
              <a:lnSpc>
                <a:spcPct val="100000"/>
              </a:lnSpc>
            </a:pPr>
            <a:r>
              <a:rPr lang="en-US"/>
              <a:t>Highlight Regulatory and Legal Implications</a:t>
            </a:r>
          </a:p>
        </p:txBody>
      </p:sp>
      <p:pic>
        <p:nvPicPr>
          <p:cNvPr id="3" name="Picture 2">
            <a:extLst>
              <a:ext uri="{FF2B5EF4-FFF2-40B4-BE49-F238E27FC236}">
                <a16:creationId xmlns:a16="http://schemas.microsoft.com/office/drawing/2014/main" id="{A16DADB3-0590-3E70-5E67-006DC9B123B6}"/>
              </a:ext>
            </a:extLst>
          </p:cNvPr>
          <p:cNvPicPr>
            <a:picLocks noChangeAspect="1"/>
          </p:cNvPicPr>
          <p:nvPr/>
        </p:nvPicPr>
        <p:blipFill>
          <a:blip r:embed="rId3"/>
          <a:stretch>
            <a:fillRect/>
          </a:stretch>
        </p:blipFill>
        <p:spPr>
          <a:xfrm>
            <a:off x="5511657" y="309800"/>
            <a:ext cx="1168686" cy="318734"/>
          </a:xfrm>
          <a:prstGeom prst="rect">
            <a:avLst/>
          </a:prstGeom>
        </p:spPr>
      </p:pic>
    </p:spTree>
    <p:extLst>
      <p:ext uri="{BB962C8B-B14F-4D97-AF65-F5344CB8AC3E}">
        <p14:creationId xmlns:p14="http://schemas.microsoft.com/office/powerpoint/2010/main" val="3329310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8EC5E555-F784-0E4E-A562-B7C3E3EB4AE2}"/>
              </a:ext>
            </a:extLst>
          </p:cNvPr>
          <p:cNvSpPr>
            <a:spLocks/>
          </p:cNvSpPr>
          <p:nvPr/>
        </p:nvSpPr>
        <p:spPr>
          <a:xfrm>
            <a:off x="0" y="-209226"/>
            <a:ext cx="12192000" cy="70672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4" name="TextBox 3">
            <a:extLst>
              <a:ext uri="{FF2B5EF4-FFF2-40B4-BE49-F238E27FC236}">
                <a16:creationId xmlns:a16="http://schemas.microsoft.com/office/drawing/2014/main" id="{E1F488AF-3C52-F0C3-636D-BAB24AF83EA4}"/>
              </a:ext>
            </a:extLst>
          </p:cNvPr>
          <p:cNvSpPr txBox="1"/>
          <p:nvPr/>
        </p:nvSpPr>
        <p:spPr>
          <a:xfrm>
            <a:off x="462896" y="840127"/>
            <a:ext cx="5505867" cy="441916"/>
          </a:xfrm>
          <a:prstGeom prst="rect">
            <a:avLst/>
          </a:prstGeom>
          <a:noFill/>
        </p:spPr>
        <p:txBody>
          <a:bodyPr wrap="square" rtlCol="0">
            <a:spAutoFit/>
          </a:bodyPr>
          <a:lstStyle/>
          <a:p>
            <a:pPr>
              <a:lnSpc>
                <a:spcPts val="2500"/>
              </a:lnSpc>
            </a:pPr>
            <a:r>
              <a:rPr lang="en-US" sz="2500" b="1">
                <a:solidFill>
                  <a:srgbClr val="1B252E"/>
                </a:solidFill>
                <a:latin typeface="Avenir Black" panose="02000503020000020003" pitchFamily="2" charset="0"/>
                <a:cs typeface="Calibri" panose="020F0502020204030204" pitchFamily="34" charset="0"/>
              </a:rPr>
              <a:t>Thank You, Let’s Connect</a:t>
            </a:r>
          </a:p>
        </p:txBody>
      </p:sp>
      <p:sp>
        <p:nvSpPr>
          <p:cNvPr id="52" name="Oval 51">
            <a:extLst>
              <a:ext uri="{FF2B5EF4-FFF2-40B4-BE49-F238E27FC236}">
                <a16:creationId xmlns:a16="http://schemas.microsoft.com/office/drawing/2014/main" id="{FAAC6DD2-E953-52C0-FD0D-9089B00BDAC7}"/>
              </a:ext>
            </a:extLst>
          </p:cNvPr>
          <p:cNvSpPr/>
          <p:nvPr/>
        </p:nvSpPr>
        <p:spPr>
          <a:xfrm>
            <a:off x="9017283" y="-1619098"/>
            <a:ext cx="4358665" cy="4358665"/>
          </a:xfrm>
          <a:prstGeom prst="ellipse">
            <a:avLst/>
          </a:prstGeom>
          <a:solidFill>
            <a:srgbClr val="1B25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sp>
        <p:nvSpPr>
          <p:cNvPr id="53" name="Oval 52">
            <a:extLst>
              <a:ext uri="{FF2B5EF4-FFF2-40B4-BE49-F238E27FC236}">
                <a16:creationId xmlns:a16="http://schemas.microsoft.com/office/drawing/2014/main" id="{BD9AD91D-B0FB-A9D6-A73A-A1889F7D615D}"/>
              </a:ext>
            </a:extLst>
          </p:cNvPr>
          <p:cNvSpPr/>
          <p:nvPr/>
        </p:nvSpPr>
        <p:spPr>
          <a:xfrm>
            <a:off x="-1869022" y="5608405"/>
            <a:ext cx="3383680" cy="3383680"/>
          </a:xfrm>
          <a:prstGeom prst="ellipse">
            <a:avLst/>
          </a:prstGeom>
          <a:solidFill>
            <a:srgbClr val="1B25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1"/>
          </a:p>
        </p:txBody>
      </p:sp>
      <p:pic>
        <p:nvPicPr>
          <p:cNvPr id="5" name="Picture 4">
            <a:extLst>
              <a:ext uri="{FF2B5EF4-FFF2-40B4-BE49-F238E27FC236}">
                <a16:creationId xmlns:a16="http://schemas.microsoft.com/office/drawing/2014/main" id="{E38CA351-D106-77A1-0C54-723152972AA9}"/>
              </a:ext>
            </a:extLst>
          </p:cNvPr>
          <p:cNvPicPr>
            <a:picLocks noChangeAspect="1"/>
          </p:cNvPicPr>
          <p:nvPr/>
        </p:nvPicPr>
        <p:blipFill>
          <a:blip r:embed="rId2"/>
          <a:stretch>
            <a:fillRect/>
          </a:stretch>
        </p:blipFill>
        <p:spPr>
          <a:xfrm>
            <a:off x="5511657" y="309800"/>
            <a:ext cx="1168686" cy="318734"/>
          </a:xfrm>
          <a:prstGeom prst="rect">
            <a:avLst/>
          </a:prstGeom>
        </p:spPr>
      </p:pic>
      <p:pic>
        <p:nvPicPr>
          <p:cNvPr id="9" name="Picture 8" descr="A black and white circle with white dots&#10;&#10;Description automatically generated">
            <a:extLst>
              <a:ext uri="{FF2B5EF4-FFF2-40B4-BE49-F238E27FC236}">
                <a16:creationId xmlns:a16="http://schemas.microsoft.com/office/drawing/2014/main" id="{FD10B5DD-3E27-57BB-E457-B9A8F91A658B}"/>
              </a:ext>
            </a:extLst>
          </p:cNvPr>
          <p:cNvPicPr>
            <a:picLocks noChangeAspect="1"/>
          </p:cNvPicPr>
          <p:nvPr/>
        </p:nvPicPr>
        <p:blipFill>
          <a:blip r:embed="rId3"/>
          <a:stretch>
            <a:fillRect/>
          </a:stretch>
        </p:blipFill>
        <p:spPr>
          <a:xfrm>
            <a:off x="3043479" y="752958"/>
            <a:ext cx="6105041" cy="6105041"/>
          </a:xfrm>
          <a:prstGeom prst="rect">
            <a:avLst/>
          </a:prstGeom>
        </p:spPr>
      </p:pic>
    </p:spTree>
    <p:extLst>
      <p:ext uri="{BB962C8B-B14F-4D97-AF65-F5344CB8AC3E}">
        <p14:creationId xmlns:p14="http://schemas.microsoft.com/office/powerpoint/2010/main" val="15687893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18187</TotalTime>
  <Words>1704</Words>
  <Application>Microsoft Macintosh PowerPoint</Application>
  <PresentationFormat>Widescreen</PresentationFormat>
  <Paragraphs>195</Paragraphs>
  <Slides>10</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Aptos Display</vt:lpstr>
      <vt:lpstr>Arial</vt:lpstr>
      <vt:lpstr>Avenir Black</vt:lpstr>
      <vt:lpstr>Avenir Book</vt:lpstr>
      <vt:lpstr>Avenir Next</vt:lpstr>
      <vt:lpstr>Avenir Next LT Pro</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Dillon Peens</dc:creator>
  <cp:lastModifiedBy>Dillon Peens</cp:lastModifiedBy>
  <cp:revision>29</cp:revision>
  <dcterms:created xsi:type="dcterms:W3CDTF">2024-07-18T08:37:02Z</dcterms:created>
  <dcterms:modified xsi:type="dcterms:W3CDTF">2024-09-09T09:14:19Z</dcterms:modified>
</cp:coreProperties>
</file>