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363" r:id="rId2"/>
    <p:sldId id="369" r:id="rId3"/>
    <p:sldId id="375" r:id="rId4"/>
    <p:sldId id="280" r:id="rId5"/>
    <p:sldId id="259" r:id="rId6"/>
    <p:sldId id="370" r:id="rId7"/>
    <p:sldId id="260" r:id="rId8"/>
    <p:sldId id="274" r:id="rId9"/>
    <p:sldId id="371" r:id="rId10"/>
    <p:sldId id="268" r:id="rId11"/>
    <p:sldId id="261" r:id="rId12"/>
    <p:sldId id="366" r:id="rId13"/>
    <p:sldId id="275" r:id="rId14"/>
    <p:sldId id="372" r:id="rId15"/>
    <p:sldId id="373" r:id="rId16"/>
    <p:sldId id="3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43"/>
    <p:restoredTop sz="96061"/>
  </p:normalViewPr>
  <p:slideViewPr>
    <p:cSldViewPr snapToGrid="0" snapToObjects="1">
      <p:cViewPr varScale="1">
        <p:scale>
          <a:sx n="71" d="100"/>
          <a:sy n="71" d="100"/>
        </p:scale>
        <p:origin x="95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9097C6-F97F-9644-BE20-81AE9F93ADAF}" type="datetimeFigureOut">
              <a:rPr lang="en-US" smtClean="0"/>
              <a:t>9/9/2024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D4EE1F-C37C-A744-8AE0-DB64E34190E5}" type="slidenum">
              <a:rPr lang="en-US" smtClean="0"/>
              <a:t>‹#›</a:t>
            </a:fld>
            <a:endParaRPr lang="en-US"/>
          </a:p>
        </p:txBody>
      </p:sp>
    </p:spTree>
    <p:extLst>
      <p:ext uri="{BB962C8B-B14F-4D97-AF65-F5344CB8AC3E}">
        <p14:creationId xmlns:p14="http://schemas.microsoft.com/office/powerpoint/2010/main" val="369214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9A0FD-182B-BF83-7AFC-0B44BBAFEC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0D1005-D6C8-6AE1-66A9-DF3E057954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6F9BAB5-4D9E-5A2C-66AD-96263760D12D}"/>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5" name="Footer Placeholder 4">
            <a:extLst>
              <a:ext uri="{FF2B5EF4-FFF2-40B4-BE49-F238E27FC236}">
                <a16:creationId xmlns:a16="http://schemas.microsoft.com/office/drawing/2014/main" id="{E2B0C5C0-EEDD-502E-E1D1-D39ED51D1E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707D7B-141C-69D0-AFAF-53428400C762}"/>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899251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A33CF-C68C-1925-D492-6AE6102C5A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340208-079E-2F99-1345-E52B470CC1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152709-6DE4-D330-E222-8075D6F9E245}"/>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5" name="Footer Placeholder 4">
            <a:extLst>
              <a:ext uri="{FF2B5EF4-FFF2-40B4-BE49-F238E27FC236}">
                <a16:creationId xmlns:a16="http://schemas.microsoft.com/office/drawing/2014/main" id="{536E331B-84B8-82EA-358E-B74019858E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20586-33B6-E2AF-A087-3E2A79256A6B}"/>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1390160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6CA4E-5EC8-3408-D7E1-E2409B816D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061D7B-8B8D-FC5A-BFA7-4EBB561410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F0586F-FB14-CF7B-22FB-EF84D8DAEE40}"/>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5" name="Footer Placeholder 4">
            <a:extLst>
              <a:ext uri="{FF2B5EF4-FFF2-40B4-BE49-F238E27FC236}">
                <a16:creationId xmlns:a16="http://schemas.microsoft.com/office/drawing/2014/main" id="{19B21BBB-4807-CC2A-39DD-0C866CECEA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13F43D-C367-EE2D-71B6-8F3B0E040150}"/>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3711506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40BD-DEBB-D8F0-09F5-8F0AFD5134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8C71F9-4EB3-7B16-6E91-D5793FE7E9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F40CC-9BF2-8598-0A14-557079BBE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D34679-3174-C4C0-7B92-7BDD6D146995}"/>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6" name="Footer Placeholder 5">
            <a:extLst>
              <a:ext uri="{FF2B5EF4-FFF2-40B4-BE49-F238E27FC236}">
                <a16:creationId xmlns:a16="http://schemas.microsoft.com/office/drawing/2014/main" id="{B88757CC-AF64-3BF1-9994-F80F344BD6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B8401C-69A7-55DB-E335-0DC738B1FEB3}"/>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3057810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3A6F5-BE45-1638-0144-9F782D7347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44C11F-26EF-C247-CB4C-2728F21832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2D814C-6BFD-7D9F-952A-623E870531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543E43-6D7B-6012-31A1-B5F673124C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ED171AC-27A9-D915-D8F8-EFE6909AD4E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0D86E2-0B41-56AE-6B3B-FF6B90A74AC0}"/>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8" name="Footer Placeholder 7">
            <a:extLst>
              <a:ext uri="{FF2B5EF4-FFF2-40B4-BE49-F238E27FC236}">
                <a16:creationId xmlns:a16="http://schemas.microsoft.com/office/drawing/2014/main" id="{D6070F73-F4B9-23F9-A784-7D596A87875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DAD7A9-830A-9E56-4571-290676122370}"/>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14156138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24276-8390-3799-0FFD-BC09D94802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417E8A2-D1C7-5AA1-B76B-328ED02D5B1D}"/>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4" name="Footer Placeholder 3">
            <a:extLst>
              <a:ext uri="{FF2B5EF4-FFF2-40B4-BE49-F238E27FC236}">
                <a16:creationId xmlns:a16="http://schemas.microsoft.com/office/drawing/2014/main" id="{06E187A3-377A-B1B6-D795-4AF9201F89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0FC2E3-BA25-6CB1-D959-7752B315DBC9}"/>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3137925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B331EF-0B22-379C-F300-E4D2EB06E80F}"/>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3" name="Footer Placeholder 2">
            <a:extLst>
              <a:ext uri="{FF2B5EF4-FFF2-40B4-BE49-F238E27FC236}">
                <a16:creationId xmlns:a16="http://schemas.microsoft.com/office/drawing/2014/main" id="{E73F0BB1-BE30-B10C-7478-7E5F9FE0F4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96534F-AA35-A10D-19E4-8EE40E68DC93}"/>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1184461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54B89-F9AA-053E-AD35-AF0D65D0D0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21F816-7B6C-566E-49C1-7C7F0BF98F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63D0BBB-19F1-14EB-E398-C0CBDCB985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B380996-D8A8-94C9-A2BB-1900C2A08D59}"/>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6" name="Footer Placeholder 5">
            <a:extLst>
              <a:ext uri="{FF2B5EF4-FFF2-40B4-BE49-F238E27FC236}">
                <a16:creationId xmlns:a16="http://schemas.microsoft.com/office/drawing/2014/main" id="{298367CF-B1D2-86A4-AD30-FEF160EA82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869715-3328-94F0-66D4-7A5A4225D0B9}"/>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398722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E8BA9-BA9D-B9BA-2D27-12B6297DEE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D0E0CE-E797-98B7-F296-9BE94F0317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B6987D-D5E4-3225-D39E-54A1F9FCAA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8CEA1B-105A-2BDA-89DB-B84C57951EEF}"/>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6" name="Footer Placeholder 5">
            <a:extLst>
              <a:ext uri="{FF2B5EF4-FFF2-40B4-BE49-F238E27FC236}">
                <a16:creationId xmlns:a16="http://schemas.microsoft.com/office/drawing/2014/main" id="{C2CB0309-F875-3008-9279-1525D150C5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B31E31-BB7F-9756-A5C1-349A32DB81F1}"/>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117824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3CF95-4DD5-D0D7-1CD9-58A51D7E0C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C24022-464E-E11A-2317-D605AC9371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74A88B-18C9-5E19-6D90-1F20E024C42D}"/>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5" name="Footer Placeholder 4">
            <a:extLst>
              <a:ext uri="{FF2B5EF4-FFF2-40B4-BE49-F238E27FC236}">
                <a16:creationId xmlns:a16="http://schemas.microsoft.com/office/drawing/2014/main" id="{21E8F249-7BF8-112D-65BE-97E7DF35F4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4AB548-E7EF-EEE4-9EA8-1B6E9339C93E}"/>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4061482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46CED0-358D-16F3-A111-ACFC7EE3A0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5EAE6A-4A9A-B113-7D06-A5A0D31E85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26B47C-D236-3559-822B-0CE91878CCC4}"/>
              </a:ext>
            </a:extLst>
          </p:cNvPr>
          <p:cNvSpPr>
            <a:spLocks noGrp="1"/>
          </p:cNvSpPr>
          <p:nvPr>
            <p:ph type="dt" sz="half" idx="10"/>
          </p:nvPr>
        </p:nvSpPr>
        <p:spPr/>
        <p:txBody>
          <a:bodyPr/>
          <a:lstStyle/>
          <a:p>
            <a:fld id="{4E2959DA-FBC8-D549-A460-4BA8ED6E8149}" type="datetimeFigureOut">
              <a:rPr lang="en-US" smtClean="0"/>
              <a:t>9/9/2024</a:t>
            </a:fld>
            <a:endParaRPr lang="en-US"/>
          </a:p>
        </p:txBody>
      </p:sp>
      <p:sp>
        <p:nvSpPr>
          <p:cNvPr id="5" name="Footer Placeholder 4">
            <a:extLst>
              <a:ext uri="{FF2B5EF4-FFF2-40B4-BE49-F238E27FC236}">
                <a16:creationId xmlns:a16="http://schemas.microsoft.com/office/drawing/2014/main" id="{6224066E-A766-48E0-CA4E-096A8DD154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AA0723-8415-D23B-680F-F1F28D26F6EC}"/>
              </a:ext>
            </a:extLst>
          </p:cNvPr>
          <p:cNvSpPr>
            <a:spLocks noGrp="1"/>
          </p:cNvSpPr>
          <p:nvPr>
            <p:ph type="sldNum" sz="quarter" idx="12"/>
          </p:nvPr>
        </p:nvSpPr>
        <p:spPr/>
        <p:txBody>
          <a:bodyPr/>
          <a:lstStyle/>
          <a:p>
            <a:fld id="{54BA1DF4-70C6-1F45-BEC0-1C9DE689F776}" type="slidenum">
              <a:rPr lang="en-US" smtClean="0"/>
              <a:t>‹#›</a:t>
            </a:fld>
            <a:endParaRPr lang="en-US"/>
          </a:p>
        </p:txBody>
      </p:sp>
    </p:spTree>
    <p:extLst>
      <p:ext uri="{BB962C8B-B14F-4D97-AF65-F5344CB8AC3E}">
        <p14:creationId xmlns:p14="http://schemas.microsoft.com/office/powerpoint/2010/main" val="1573220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53852E-29D7-FA90-BF45-17CD54D815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144621-C628-85E3-1398-A366CEE1F1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43FB8-7764-F617-31AB-81EC6FA30E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2959DA-FBC8-D549-A460-4BA8ED6E8149}" type="datetimeFigureOut">
              <a:rPr lang="en-US" smtClean="0"/>
              <a:t>9/9/2024</a:t>
            </a:fld>
            <a:endParaRPr lang="en-US"/>
          </a:p>
        </p:txBody>
      </p:sp>
      <p:sp>
        <p:nvSpPr>
          <p:cNvPr id="5" name="Footer Placeholder 4">
            <a:extLst>
              <a:ext uri="{FF2B5EF4-FFF2-40B4-BE49-F238E27FC236}">
                <a16:creationId xmlns:a16="http://schemas.microsoft.com/office/drawing/2014/main" id="{F948B539-B111-332F-91C2-BFA4CAE41A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E4084E-6EF9-4E8F-53EA-140C78D57C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BA1DF4-70C6-1F45-BEC0-1C9DE689F776}" type="slidenum">
              <a:rPr lang="en-US" smtClean="0"/>
              <a:t>‹#›</a:t>
            </a:fld>
            <a:endParaRPr lang="en-US"/>
          </a:p>
        </p:txBody>
      </p:sp>
    </p:spTree>
    <p:extLst>
      <p:ext uri="{BB962C8B-B14F-4D97-AF65-F5344CB8AC3E}">
        <p14:creationId xmlns:p14="http://schemas.microsoft.com/office/powerpoint/2010/main" val="1326887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0.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Video 7" descr="Man Walking Touching Wheat Grass">
            <a:extLst>
              <a:ext uri="{FF2B5EF4-FFF2-40B4-BE49-F238E27FC236}">
                <a16:creationId xmlns:a16="http://schemas.microsoft.com/office/drawing/2014/main" id="{453F3125-2092-B0DE-C242-655D1545A72E}"/>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t="284" r="1" b="1"/>
          <a:stretch/>
        </p:blipFill>
        <p:spPr>
          <a:xfrm>
            <a:off x="1" y="0"/>
            <a:ext cx="12191999" cy="6857990"/>
          </a:xfrm>
          <a:prstGeom prst="rect">
            <a:avLst/>
          </a:prstGeom>
        </p:spPr>
      </p:pic>
      <p:sp>
        <p:nvSpPr>
          <p:cNvPr id="14" name="Rectangle 13">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89D88A79-6F62-0644-9DC2-1EDC698E8A6E}"/>
              </a:ext>
            </a:extLst>
          </p:cNvPr>
          <p:cNvSpPr>
            <a:spLocks noGrp="1"/>
          </p:cNvSpPr>
          <p:nvPr>
            <p:ph type="ctrTitle"/>
          </p:nvPr>
        </p:nvSpPr>
        <p:spPr>
          <a:xfrm>
            <a:off x="2470225" y="3007911"/>
            <a:ext cx="7457440" cy="1411128"/>
          </a:xfrm>
          <a:effectLst>
            <a:outerShdw blurRad="50800" dist="38100" dir="2700000" algn="tl" rotWithShape="0">
              <a:prstClr val="black">
                <a:alpha val="40000"/>
              </a:prstClr>
            </a:outerShdw>
          </a:effectLst>
        </p:spPr>
        <p:txBody>
          <a:bodyPr>
            <a:normAutofit fontScale="90000"/>
          </a:bodyPr>
          <a:lstStyle/>
          <a:p>
            <a:pPr marL="0" marR="0">
              <a:spcBef>
                <a:spcPts val="0"/>
              </a:spcBef>
              <a:spcAft>
                <a:spcPts val="0"/>
              </a:spcAft>
            </a:pPr>
            <a:r>
              <a:rPr lang="en-GB" sz="36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Namibia AI Readiness </a:t>
            </a:r>
            <a:br>
              <a:rPr lang="en-GB" sz="36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r>
              <a:rPr lang="en-GB" sz="27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AI Regulatory Frameworks, Promotion of AI Innovation, Opportunities for Youth and AI’s role in advancing Research, Science, Technology and Innovation </a:t>
            </a:r>
            <a:r>
              <a:rPr lang="en-GB" sz="2700" b="1" kern="100" dirty="0">
                <a:effectLst/>
                <a:latin typeface="Calibri" panose="020F0502020204030204" pitchFamily="34" charset="0"/>
                <a:ea typeface="Calibri" panose="020F0502020204030204" pitchFamily="34" charset="0"/>
                <a:cs typeface="Times New Roman" panose="02020603050405020304" pitchFamily="18" charset="0"/>
              </a:rPr>
              <a:t> </a:t>
            </a:r>
            <a:br>
              <a:rPr lang="en-US" sz="2700" b="1" kern="100" dirty="0">
                <a:effectLst/>
                <a:latin typeface="Calibri" panose="020F0502020204030204" pitchFamily="34" charset="0"/>
                <a:ea typeface="Calibri" panose="020F0502020204030204" pitchFamily="34" charset="0"/>
                <a:cs typeface="Times New Roman" panose="02020603050405020304" pitchFamily="18" charset="0"/>
              </a:rPr>
            </a:br>
            <a:r>
              <a:rPr lang="en-GB" sz="22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9 September 2024</a:t>
            </a:r>
            <a:br>
              <a:rPr lang="en-GB" sz="22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br>
              <a:rPr lang="en-US" sz="22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r>
              <a:rPr lang="en-US" sz="2200" b="1"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Namibia </a:t>
            </a:r>
            <a:r>
              <a:rPr lang="en-GB" sz="2200" b="1" kern="100" dirty="0">
                <a:solidFill>
                  <a:schemeClr val="bg1"/>
                </a:solidFill>
                <a:latin typeface="Calibri" panose="020F0502020204030204" pitchFamily="34" charset="0"/>
                <a:ea typeface="Calibri" panose="020F0502020204030204" pitchFamily="34" charset="0"/>
                <a:cs typeface="Times New Roman" panose="02020603050405020304" pitchFamily="18" charset="0"/>
              </a:rPr>
              <a:t>ICT Summit</a:t>
            </a:r>
            <a:br>
              <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br>
            <a:endParaRPr lang="en-US" sz="1800" kern="1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Subtitle 2">
            <a:extLst>
              <a:ext uri="{FF2B5EF4-FFF2-40B4-BE49-F238E27FC236}">
                <a16:creationId xmlns:a16="http://schemas.microsoft.com/office/drawing/2014/main" id="{42B58AA4-9A6B-83CB-F5AD-3565CE2B00DA}"/>
              </a:ext>
            </a:extLst>
          </p:cNvPr>
          <p:cNvSpPr>
            <a:spLocks noGrp="1"/>
          </p:cNvSpPr>
          <p:nvPr>
            <p:ph type="subTitle" idx="1"/>
          </p:nvPr>
        </p:nvSpPr>
        <p:spPr>
          <a:xfrm>
            <a:off x="976257" y="5169075"/>
            <a:ext cx="10668896" cy="1811681"/>
          </a:xfrm>
          <a:effectLst>
            <a:outerShdw blurRad="50800" dist="38100" dir="2700000" algn="tl" rotWithShape="0">
              <a:prstClr val="black">
                <a:alpha val="40000"/>
              </a:prstClr>
            </a:outerShdw>
          </a:effectLst>
        </p:spPr>
        <p:txBody>
          <a:bodyPr>
            <a:normAutofit/>
          </a:bodyPr>
          <a:lstStyle/>
          <a:p>
            <a:r>
              <a:rPr lang="en-US" sz="3200" b="1" dirty="0">
                <a:solidFill>
                  <a:schemeClr val="bg1"/>
                </a:solidFill>
              </a:rPr>
              <a:t>Prof. Anicia Peters </a:t>
            </a:r>
          </a:p>
          <a:p>
            <a:r>
              <a:rPr lang="en-US" sz="1800" b="1" dirty="0">
                <a:solidFill>
                  <a:schemeClr val="bg1"/>
                </a:solidFill>
              </a:rPr>
              <a:t>CEO: National Commission on Research, Science and Technology, Namibia </a:t>
            </a:r>
          </a:p>
          <a:p>
            <a:r>
              <a:rPr lang="en-US" sz="1800" b="1" dirty="0">
                <a:solidFill>
                  <a:schemeClr val="bg1"/>
                </a:solidFill>
              </a:rPr>
              <a:t>Co-Chair: </a:t>
            </a:r>
            <a:r>
              <a:rPr lang="en-US" sz="1700" b="1" dirty="0">
                <a:solidFill>
                  <a:schemeClr val="bg1"/>
                </a:solidFill>
              </a:rPr>
              <a:t>Africa 4IR Working Group – AU </a:t>
            </a:r>
            <a:r>
              <a:rPr lang="en-US" sz="1600" b="1" dirty="0">
                <a:solidFill>
                  <a:schemeClr val="bg1"/>
                </a:solidFill>
              </a:rPr>
              <a:t>Africa Scientific Research &amp; Innovation Council (ASRIC) </a:t>
            </a:r>
            <a:r>
              <a:rPr lang="en-US" sz="1700" b="1" dirty="0">
                <a:solidFill>
                  <a:schemeClr val="bg1"/>
                </a:solidFill>
              </a:rPr>
              <a:t>(2024-present)</a:t>
            </a:r>
          </a:p>
          <a:p>
            <a:pPr lvl="1"/>
            <a:r>
              <a:rPr lang="en-US" sz="1600" b="1" dirty="0">
                <a:solidFill>
                  <a:schemeClr val="bg1"/>
                </a:solidFill>
              </a:rPr>
              <a:t>Chair: Namibia Presidential Task Force on the Fourth Industrial Revolution (2021-2022) </a:t>
            </a:r>
          </a:p>
          <a:p>
            <a:pPr marL="742950" lvl="1" indent="-285750">
              <a:buFontTx/>
              <a:buChar char="-"/>
            </a:pPr>
            <a:endParaRPr lang="en-US" sz="1700" b="1" dirty="0">
              <a:solidFill>
                <a:schemeClr val="bg1"/>
              </a:solidFill>
            </a:endParaRPr>
          </a:p>
          <a:p>
            <a:endParaRPr lang="en-US" sz="1800" b="1" dirty="0">
              <a:solidFill>
                <a:schemeClr val="bg1"/>
              </a:solidFill>
            </a:endParaRPr>
          </a:p>
        </p:txBody>
      </p:sp>
    </p:spTree>
    <p:extLst>
      <p:ext uri="{BB962C8B-B14F-4D97-AF65-F5344CB8AC3E}">
        <p14:creationId xmlns:p14="http://schemas.microsoft.com/office/powerpoint/2010/main" val="4132086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9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8"/>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8"/>
                                        </p:tgtEl>
                                      </p:cBhvr>
                                    </p:cmd>
                                  </p:childTnLst>
                                </p:cTn>
                              </p:par>
                            </p:childTnLst>
                          </p:cTn>
                        </p:par>
                      </p:childTnLst>
                    </p:cTn>
                  </p:par>
                </p:childTnLst>
              </p:cTn>
              <p:nextCondLst>
                <p:cond evt="onClick" delay="0">
                  <p:tgtEl>
                    <p:spTgt spid="8"/>
                  </p:tgtEl>
                </p:cond>
              </p:nextCondLst>
            </p:seq>
            <p:video>
              <p:cMediaNode mute="1">
                <p:cTn id="12" repeatCount="indefinite" fill="hold" display="0">
                  <p:stCondLst>
                    <p:cond delay="indefinite"/>
                  </p:stCondLst>
                </p:cTn>
                <p:tgtEl>
                  <p:spTgt spid="8"/>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31"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erson with dark hair smiling&#10;&#10;Description automatically generated">
            <a:extLst>
              <a:ext uri="{FF2B5EF4-FFF2-40B4-BE49-F238E27FC236}">
                <a16:creationId xmlns:a16="http://schemas.microsoft.com/office/drawing/2014/main" id="{CDEB0098-EED0-52A2-19DA-3F02C852E59A}"/>
              </a:ext>
            </a:extLst>
          </p:cNvPr>
          <p:cNvPicPr>
            <a:picLocks noChangeAspect="1"/>
          </p:cNvPicPr>
          <p:nvPr/>
        </p:nvPicPr>
        <p:blipFill rotWithShape="1">
          <a:blip r:embed="rId2">
            <a:extLst>
              <a:ext uri="{BEBA8EAE-BF5A-486C-A8C5-ECC9F3942E4B}">
                <a14:imgProps xmlns:a14="http://schemas.microsoft.com/office/drawing/2010/main">
                  <a14:imgLayer r:embed="rId3">
                    <a14:imgEffect>
                      <a14:colorTemperature colorTemp="4700"/>
                    </a14:imgEffect>
                    <a14:imgEffect>
                      <a14:saturation sat="29000"/>
                    </a14:imgEffect>
                    <a14:imgEffect>
                      <a14:brightnessContrast contrast="20000"/>
                    </a14:imgEffect>
                  </a14:imgLayer>
                </a14:imgProps>
              </a:ext>
            </a:extLst>
          </a:blip>
          <a:srcRect l="23981" t="6556" r="4532" b="12319"/>
          <a:stretch/>
        </p:blipFill>
        <p:spPr>
          <a:xfrm>
            <a:off x="0" y="-2"/>
            <a:ext cx="3867665" cy="6858002"/>
          </a:xfrm>
          <a:prstGeom prst="rect">
            <a:avLst/>
          </a:prstGeom>
        </p:spPr>
      </p:pic>
      <p:sp useBgFill="1">
        <p:nvSpPr>
          <p:cNvPr id="24" name="Rectangle 23">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A0A99F-F5C4-790F-12AA-4149B0AE182A}"/>
              </a:ext>
            </a:extLst>
          </p:cNvPr>
          <p:cNvSpPr>
            <a:spLocks noGrp="1"/>
          </p:cNvSpPr>
          <p:nvPr>
            <p:ph type="title"/>
          </p:nvPr>
        </p:nvSpPr>
        <p:spPr>
          <a:xfrm>
            <a:off x="4396943" y="-176520"/>
            <a:ext cx="5410198" cy="1090920"/>
          </a:xfrm>
        </p:spPr>
        <p:txBody>
          <a:bodyPr>
            <a:normAutofit/>
          </a:bodyPr>
          <a:lstStyle/>
          <a:p>
            <a:r>
              <a:rPr lang="en-US" sz="4000" b="1" dirty="0"/>
              <a:t>Who am I?</a:t>
            </a:r>
          </a:p>
        </p:txBody>
      </p:sp>
      <p:sp>
        <p:nvSpPr>
          <p:cNvPr id="32" name="Content Placeholder 2">
            <a:extLst>
              <a:ext uri="{FF2B5EF4-FFF2-40B4-BE49-F238E27FC236}">
                <a16:creationId xmlns:a16="http://schemas.microsoft.com/office/drawing/2014/main" id="{39E7734D-0E32-AEBF-AC68-EEE6C2C114B5}"/>
              </a:ext>
            </a:extLst>
          </p:cNvPr>
          <p:cNvSpPr>
            <a:spLocks noGrp="1"/>
          </p:cNvSpPr>
          <p:nvPr>
            <p:ph idx="1"/>
          </p:nvPr>
        </p:nvSpPr>
        <p:spPr>
          <a:xfrm>
            <a:off x="4250724" y="1828799"/>
            <a:ext cx="7916564" cy="6858002"/>
          </a:xfrm>
        </p:spPr>
        <p:txBody>
          <a:bodyPr anchor="ctr">
            <a:normAutofit/>
          </a:bodyPr>
          <a:lstStyle/>
          <a:p>
            <a:r>
              <a:rPr lang="en-US" sz="1800" dirty="0"/>
              <a:t>CEO: NCRST</a:t>
            </a:r>
          </a:p>
          <a:p>
            <a:r>
              <a:rPr lang="en-US" sz="1800" dirty="0"/>
              <a:t>Chairperson: Namibia Presidential 4IR Task Force (2021-2022)</a:t>
            </a:r>
          </a:p>
          <a:p>
            <a:r>
              <a:rPr lang="en-US" sz="1800" dirty="0"/>
              <a:t>Co-Chair: AU-ASRIC 4IR Working Group: Africa 4IR Policy &amp; Strategy</a:t>
            </a:r>
          </a:p>
          <a:p>
            <a:r>
              <a:rPr lang="en-US" sz="1800" dirty="0"/>
              <a:t>Past: UNAM, NUST, Silicon Valley USA, Oregon State University, Iowa State University, Ministry of Finance</a:t>
            </a:r>
          </a:p>
          <a:p>
            <a:r>
              <a:rPr lang="en-US" sz="1800" dirty="0"/>
              <a:t>WHO &amp; World Bank: E-Health Strategy/Digital Health Curricula; E-GP Strategy</a:t>
            </a:r>
          </a:p>
          <a:p>
            <a:r>
              <a:rPr lang="en-US" sz="1800" dirty="0"/>
              <a:t>Founder of Africa Human Computer Interaction (</a:t>
            </a:r>
            <a:r>
              <a:rPr lang="en-US" sz="1800" dirty="0" err="1"/>
              <a:t>AfriCHI</a:t>
            </a:r>
            <a:r>
              <a:rPr lang="en-US" sz="1800" dirty="0"/>
              <a:t>)</a:t>
            </a:r>
          </a:p>
          <a:p>
            <a:r>
              <a:rPr lang="en-US" sz="1800" dirty="0"/>
              <a:t> ACM local Chapters for SIGCHI, Professional Chapter, past Women Chapter</a:t>
            </a:r>
          </a:p>
          <a:p>
            <a:r>
              <a:rPr lang="en-US" sz="1800" dirty="0"/>
              <a:t>Google Scholar 2012; Google Inclusion Awardee 2020; Google AI 2021 grant</a:t>
            </a:r>
          </a:p>
          <a:p>
            <a:r>
              <a:rPr lang="en-US" sz="1800" dirty="0"/>
              <a:t>Several Awards, e.g. Boeing, ISU, Africa Women </a:t>
            </a:r>
            <a:r>
              <a:rPr lang="en-US" sz="1800" dirty="0" err="1"/>
              <a:t>Rolemodel</a:t>
            </a:r>
            <a:r>
              <a:rPr lang="en-US" sz="1800" dirty="0"/>
              <a:t> in Tech, Namibia Business Hall of Fame</a:t>
            </a:r>
          </a:p>
          <a:p>
            <a:r>
              <a:rPr lang="en-US" sz="1800" dirty="0"/>
              <a:t>Inaugural Editorial Board member of African Scientific Journal</a:t>
            </a:r>
          </a:p>
          <a:p>
            <a:r>
              <a:rPr lang="en-US" sz="1800" dirty="0"/>
              <a:t>Editor for ‘AI for Scientific Discovery’ Proceedings, NASEM USA</a:t>
            </a:r>
          </a:p>
          <a:p>
            <a:r>
              <a:rPr lang="en-US" sz="1800" dirty="0"/>
              <a:t>Various international Committees</a:t>
            </a:r>
          </a:p>
          <a:p>
            <a:pPr marL="0" indent="0">
              <a:buNone/>
            </a:pPr>
            <a:endParaRPr lang="en-US" sz="1800" dirty="0"/>
          </a:p>
          <a:p>
            <a:r>
              <a:rPr lang="en-US" sz="1800" dirty="0"/>
              <a:t>Working on the intersection of Human Computer Interaction and AI (HCI-AI)</a:t>
            </a:r>
          </a:p>
          <a:p>
            <a:r>
              <a:rPr lang="en-US" sz="1800" dirty="0"/>
              <a:t>University of West-London: Supervision of PhD candidate in AI and XR</a:t>
            </a:r>
          </a:p>
          <a:p>
            <a:pPr marL="0" indent="0">
              <a:buNone/>
            </a:pPr>
            <a:endParaRPr lang="en-US" sz="18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p:txBody>
      </p:sp>
      <p:pic>
        <p:nvPicPr>
          <p:cNvPr id="28" name="Picture 27" descr="A logo of a science company&#10;&#10;Description automatically generated">
            <a:extLst>
              <a:ext uri="{FF2B5EF4-FFF2-40B4-BE49-F238E27FC236}">
                <a16:creationId xmlns:a16="http://schemas.microsoft.com/office/drawing/2014/main" id="{6A20C3B0-CB3C-616B-2FD8-281FA10432EC}"/>
              </a:ext>
            </a:extLst>
          </p:cNvPr>
          <p:cNvPicPr>
            <a:picLocks noChangeAspect="1"/>
          </p:cNvPicPr>
          <p:nvPr/>
        </p:nvPicPr>
        <p:blipFill rotWithShape="1">
          <a:blip r:embed="rId4"/>
          <a:srcRect l="18982" t="3008" r="18497" b="6928"/>
          <a:stretch/>
        </p:blipFill>
        <p:spPr>
          <a:xfrm>
            <a:off x="10820395" y="84285"/>
            <a:ext cx="1308840" cy="1137927"/>
          </a:xfrm>
          <a:prstGeom prst="rect">
            <a:avLst/>
          </a:prstGeom>
        </p:spPr>
      </p:pic>
    </p:spTree>
    <p:extLst>
      <p:ext uri="{BB962C8B-B14F-4D97-AF65-F5344CB8AC3E}">
        <p14:creationId xmlns:p14="http://schemas.microsoft.com/office/powerpoint/2010/main" val="3813996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9">
            <a:extLst>
              <a:ext uri="{FF2B5EF4-FFF2-40B4-BE49-F238E27FC236}">
                <a16:creationId xmlns:a16="http://schemas.microsoft.com/office/drawing/2014/main" id="{5C2702DD-9333-FD03-B206-FFBB914A6FE6}"/>
              </a:ext>
            </a:extLst>
          </p:cNvPr>
          <p:cNvSpPr>
            <a:spLocks noGrp="1"/>
          </p:cNvSpPr>
          <p:nvPr>
            <p:ph type="title"/>
          </p:nvPr>
        </p:nvSpPr>
        <p:spPr>
          <a:xfrm>
            <a:off x="4337222" y="12860"/>
            <a:ext cx="7444679" cy="778346"/>
          </a:xfrm>
        </p:spPr>
        <p:txBody>
          <a:bodyPr anchor="b">
            <a:normAutofit/>
          </a:bodyPr>
          <a:lstStyle/>
          <a:p>
            <a:pPr>
              <a:spcBef>
                <a:spcPct val="0"/>
              </a:spcBef>
              <a:spcAft>
                <a:spcPts val="600"/>
              </a:spcAft>
            </a:pPr>
            <a:r>
              <a:rPr lang="en-US" sz="2400" b="1" dirty="0"/>
              <a:t>National Commission on Research, Science and Technology</a:t>
            </a:r>
            <a:br>
              <a:rPr lang="en-US" sz="1800" b="1" dirty="0"/>
            </a:br>
            <a:endParaRPr lang="en-US" sz="1800" b="1" dirty="0"/>
          </a:p>
        </p:txBody>
      </p:sp>
      <p:pic>
        <p:nvPicPr>
          <p:cNvPr id="11" name="Picture 10" descr="A close-up of a cover&#10;&#10;Description automatically generated">
            <a:extLst>
              <a:ext uri="{FF2B5EF4-FFF2-40B4-BE49-F238E27FC236}">
                <a16:creationId xmlns:a16="http://schemas.microsoft.com/office/drawing/2014/main" id="{BC4E90D6-E752-02FC-7C46-C77DFEE57CC7}"/>
              </a:ext>
            </a:extLst>
          </p:cNvPr>
          <p:cNvPicPr>
            <a:picLocks noChangeAspect="1"/>
          </p:cNvPicPr>
          <p:nvPr/>
        </p:nvPicPr>
        <p:blipFill>
          <a:blip r:embed="rId2">
            <a:extLst>
              <a:ext uri="{28A0092B-C50C-407E-A947-70E740481C1C}">
                <a14:useLocalDpi xmlns:a14="http://schemas.microsoft.com/office/drawing/2010/main" val="0"/>
              </a:ext>
            </a:extLst>
          </a:blip>
          <a:srcRect r="10995"/>
          <a:stretch/>
        </p:blipFill>
        <p:spPr>
          <a:xfrm>
            <a:off x="1" y="10"/>
            <a:ext cx="4196496" cy="6857990"/>
          </a:xfrm>
          <a:prstGeom prst="rect">
            <a:avLst/>
          </a:prstGeom>
          <a:effectLst/>
        </p:spPr>
      </p:pic>
      <p:sp>
        <p:nvSpPr>
          <p:cNvPr id="8" name="Content Placeholder 7">
            <a:extLst>
              <a:ext uri="{FF2B5EF4-FFF2-40B4-BE49-F238E27FC236}">
                <a16:creationId xmlns:a16="http://schemas.microsoft.com/office/drawing/2014/main" id="{55DEA6CF-6838-065F-CC35-2D6EFB06BD53}"/>
              </a:ext>
            </a:extLst>
          </p:cNvPr>
          <p:cNvSpPr txBox="1">
            <a:spLocks noGrp="1"/>
          </p:cNvSpPr>
          <p:nvPr>
            <p:ph idx="1"/>
          </p:nvPr>
        </p:nvSpPr>
        <p:spPr>
          <a:xfrm>
            <a:off x="4470384" y="1814193"/>
            <a:ext cx="7444679" cy="5017836"/>
          </a:xfrm>
          <a:prstGeom prst="rect">
            <a:avLst/>
          </a:prstGeom>
        </p:spPr>
        <p:txBody>
          <a:bodyPr vert="horz" lIns="91440" tIns="45720" rIns="91440" bIns="45720" rtlCol="0">
            <a:normAutofit fontScale="92500" lnSpcReduction="20000"/>
          </a:bodyPr>
          <a:lstStyle/>
          <a:p>
            <a:pPr marL="342900" indent="-285750">
              <a:spcAft>
                <a:spcPts val="600"/>
              </a:spcAft>
            </a:pPr>
            <a:r>
              <a:rPr lang="en-US" sz="1800" dirty="0"/>
              <a:t>National Research, Science and Technology Fund</a:t>
            </a:r>
          </a:p>
          <a:p>
            <a:pPr marL="285750" indent="-228600">
              <a:spcAft>
                <a:spcPts val="600"/>
              </a:spcAft>
              <a:buFont typeface="Arial" panose="020B0604020202020204" pitchFamily="34" charset="0"/>
              <a:buChar char="•"/>
            </a:pPr>
            <a:r>
              <a:rPr lang="en-US" sz="1800" dirty="0"/>
              <a:t>National Programme on Research, Science, Technology &amp; Innovation</a:t>
            </a:r>
          </a:p>
          <a:p>
            <a:pPr marL="285750" indent="-228600">
              <a:spcAft>
                <a:spcPts val="600"/>
              </a:spcAft>
              <a:buFont typeface="Arial" panose="020B0604020202020204" pitchFamily="34" charset="0"/>
              <a:buChar char="•"/>
            </a:pPr>
            <a:r>
              <a:rPr lang="en-US" sz="1800" dirty="0"/>
              <a:t>Regulatory Functions (Register Research Institutes, GMO Permits, </a:t>
            </a:r>
            <a:r>
              <a:rPr lang="en-US" sz="1800" dirty="0" err="1"/>
              <a:t>etc</a:t>
            </a:r>
            <a:r>
              <a:rPr lang="en-US" sz="1800" dirty="0"/>
              <a:t>)</a:t>
            </a:r>
          </a:p>
          <a:p>
            <a:pPr marL="285750" indent="-228600">
              <a:spcAft>
                <a:spcPts val="600"/>
              </a:spcAft>
              <a:buFont typeface="Arial" panose="020B0604020202020204" pitchFamily="34" charset="0"/>
              <a:buChar char="•"/>
            </a:pPr>
            <a:r>
              <a:rPr lang="en-US" sz="1800" dirty="0"/>
              <a:t> Establishment of Thematic National Research Councils</a:t>
            </a:r>
          </a:p>
          <a:p>
            <a:pPr marL="742950" lvl="1" indent="-228600">
              <a:spcAft>
                <a:spcPts val="600"/>
              </a:spcAft>
              <a:buFont typeface="Arial" panose="020B0604020202020204" pitchFamily="34" charset="0"/>
              <a:buChar char="•"/>
            </a:pPr>
            <a:r>
              <a:rPr lang="en-US" sz="1800" dirty="0"/>
              <a:t>Biosafety Council (Biosafety Act No 7 of 2006)</a:t>
            </a:r>
          </a:p>
          <a:p>
            <a:pPr marL="742950" lvl="1" indent="-228600">
              <a:spcAft>
                <a:spcPts val="600"/>
              </a:spcAft>
              <a:buFont typeface="Arial" panose="020B0604020202020204" pitchFamily="34" charset="0"/>
              <a:buChar char="•"/>
            </a:pPr>
            <a:r>
              <a:rPr lang="en-US" sz="1800" dirty="0"/>
              <a:t>National Space Science Council</a:t>
            </a:r>
          </a:p>
          <a:p>
            <a:pPr marL="742950" lvl="1" indent="-228600">
              <a:spcAft>
                <a:spcPts val="600"/>
              </a:spcAft>
              <a:buFont typeface="Arial" panose="020B0604020202020204" pitchFamily="34" charset="0"/>
              <a:buChar char="•"/>
            </a:pPr>
            <a:r>
              <a:rPr lang="en-US" sz="1800" dirty="0"/>
              <a:t>Indigenous Knowledge Systems Council</a:t>
            </a:r>
          </a:p>
          <a:p>
            <a:pPr marL="285750" indent="-228600">
              <a:spcAft>
                <a:spcPts val="600"/>
              </a:spcAft>
              <a:buFont typeface="Arial" panose="020B0604020202020204" pitchFamily="34" charset="0"/>
              <a:buChar char="•"/>
            </a:pPr>
            <a:r>
              <a:rPr lang="en-US" sz="1800" dirty="0"/>
              <a:t>Policy Research, Advice and Briefs </a:t>
            </a:r>
          </a:p>
          <a:p>
            <a:pPr marL="285750" indent="-228600">
              <a:spcAft>
                <a:spcPts val="600"/>
              </a:spcAft>
              <a:buFont typeface="Arial" panose="020B0604020202020204" pitchFamily="34" charset="0"/>
              <a:buChar char="•"/>
            </a:pPr>
            <a:r>
              <a:rPr lang="en-US" sz="1800" dirty="0"/>
              <a:t>National Innovation Coordination (SAIC, Africa NIA Network)</a:t>
            </a:r>
          </a:p>
          <a:p>
            <a:pPr marL="285750" indent="-228600">
              <a:spcAft>
                <a:spcPts val="600"/>
              </a:spcAft>
              <a:buFont typeface="Arial" panose="020B0604020202020204" pitchFamily="34" charset="0"/>
              <a:buChar char="•"/>
            </a:pPr>
            <a:r>
              <a:rPr lang="en-US" sz="1800" dirty="0"/>
              <a:t>Science Promotion programmes (STEM promotion, Science Fairs, Math Olympiads, </a:t>
            </a:r>
            <a:r>
              <a:rPr lang="en-US" sz="1800" dirty="0" err="1"/>
              <a:t>etc</a:t>
            </a:r>
            <a:r>
              <a:rPr lang="en-US" sz="1800" dirty="0"/>
              <a:t>)</a:t>
            </a:r>
          </a:p>
          <a:p>
            <a:pPr marL="285750" indent="-228600">
              <a:spcAft>
                <a:spcPts val="600"/>
              </a:spcAft>
              <a:buFont typeface="Arial" panose="020B0604020202020204" pitchFamily="34" charset="0"/>
              <a:buChar char="•"/>
            </a:pPr>
            <a:r>
              <a:rPr lang="en-US" sz="1800" dirty="0"/>
              <a:t>Technology programmes (e.g. Applied Science, TT, Emerging Technologies)</a:t>
            </a:r>
          </a:p>
          <a:p>
            <a:pPr marL="285750" indent="-228600">
              <a:spcAft>
                <a:spcPts val="600"/>
              </a:spcAft>
              <a:buFont typeface="Arial" panose="020B0604020202020204" pitchFamily="34" charset="0"/>
              <a:buChar char="•"/>
            </a:pPr>
            <a:r>
              <a:rPr lang="en-US" sz="1800" dirty="0"/>
              <a:t>RSTI National Information Collection and Dissemination,  Systems plus Open Science</a:t>
            </a:r>
          </a:p>
          <a:p>
            <a:pPr marL="285750" indent="-228600">
              <a:spcAft>
                <a:spcPts val="600"/>
              </a:spcAft>
              <a:buFont typeface="Arial" panose="020B0604020202020204" pitchFamily="34" charset="0"/>
              <a:buChar char="•"/>
            </a:pPr>
            <a:endParaRPr lang="en-US" sz="1100" dirty="0"/>
          </a:p>
        </p:txBody>
      </p:sp>
      <p:sp>
        <p:nvSpPr>
          <p:cNvPr id="7" name="TextBox 6">
            <a:extLst>
              <a:ext uri="{FF2B5EF4-FFF2-40B4-BE49-F238E27FC236}">
                <a16:creationId xmlns:a16="http://schemas.microsoft.com/office/drawing/2014/main" id="{6C47025C-3ADA-7DC3-1001-37CA75C7232D}"/>
              </a:ext>
            </a:extLst>
          </p:cNvPr>
          <p:cNvSpPr txBox="1"/>
          <p:nvPr/>
        </p:nvSpPr>
        <p:spPr>
          <a:xfrm>
            <a:off x="1895234" y="469827"/>
            <a:ext cx="7106526" cy="1344366"/>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1500" b="1" i="1" kern="1200" dirty="0">
              <a:solidFill>
                <a:schemeClr val="tx1"/>
              </a:solidFill>
              <a:latin typeface="+mj-lt"/>
              <a:ea typeface="+mj-ea"/>
              <a:cs typeface="+mj-cs"/>
            </a:endParaRPr>
          </a:p>
        </p:txBody>
      </p:sp>
      <p:sp>
        <p:nvSpPr>
          <p:cNvPr id="17" name="TextBox 16">
            <a:extLst>
              <a:ext uri="{FF2B5EF4-FFF2-40B4-BE49-F238E27FC236}">
                <a16:creationId xmlns:a16="http://schemas.microsoft.com/office/drawing/2014/main" id="{A93FE8E2-20ED-ADA2-E79D-3B7622635258}"/>
              </a:ext>
            </a:extLst>
          </p:cNvPr>
          <p:cNvSpPr txBox="1"/>
          <p:nvPr/>
        </p:nvSpPr>
        <p:spPr>
          <a:xfrm>
            <a:off x="4337222" y="482938"/>
            <a:ext cx="7854778" cy="1200329"/>
          </a:xfrm>
          <a:prstGeom prst="rect">
            <a:avLst/>
          </a:prstGeom>
          <a:noFill/>
        </p:spPr>
        <p:txBody>
          <a:bodyPr wrap="square">
            <a:spAutoFit/>
          </a:bodyPr>
          <a:lstStyle/>
          <a:p>
            <a:br>
              <a:rPr lang="en-US" sz="1800" dirty="0"/>
            </a:br>
            <a:r>
              <a:rPr lang="en-US" sz="1800" b="1" kern="1200" dirty="0">
                <a:latin typeface="+mj-lt"/>
                <a:ea typeface="+mj-ea"/>
                <a:cs typeface="+mj-cs"/>
              </a:rPr>
              <a:t>Established by the Research, Science &amp; Technology Act No 23 of 2004</a:t>
            </a:r>
            <a:br>
              <a:rPr lang="en-US" sz="1800" b="1" kern="1200" dirty="0">
                <a:latin typeface="+mj-lt"/>
                <a:ea typeface="+mj-ea"/>
                <a:cs typeface="+mj-cs"/>
              </a:rPr>
            </a:br>
            <a:br>
              <a:rPr lang="en-US" sz="1800" kern="1200" dirty="0">
                <a:latin typeface="+mj-lt"/>
                <a:ea typeface="+mj-ea"/>
                <a:cs typeface="+mj-cs"/>
              </a:rPr>
            </a:br>
            <a:r>
              <a:rPr lang="en-US" sz="1800" b="1" i="1" kern="1200" dirty="0">
                <a:latin typeface="+mj-lt"/>
                <a:ea typeface="+mj-ea"/>
                <a:cs typeface="+mj-cs"/>
              </a:rPr>
              <a:t>Coordinate, Promote</a:t>
            </a:r>
            <a:r>
              <a:rPr lang="en-US" b="1" i="1" dirty="0">
                <a:latin typeface="+mj-lt"/>
                <a:ea typeface="+mj-ea"/>
                <a:cs typeface="+mj-cs"/>
              </a:rPr>
              <a:t> and </a:t>
            </a:r>
            <a:r>
              <a:rPr lang="en-US" sz="1800" b="1" i="1" kern="1200" dirty="0">
                <a:latin typeface="+mj-lt"/>
                <a:ea typeface="+mj-ea"/>
                <a:cs typeface="+mj-cs"/>
              </a:rPr>
              <a:t>Develop</a:t>
            </a:r>
            <a:r>
              <a:rPr lang="en-US" b="1" i="1" dirty="0">
                <a:latin typeface="+mj-lt"/>
                <a:ea typeface="+mj-ea"/>
                <a:cs typeface="+mj-cs"/>
              </a:rPr>
              <a:t> </a:t>
            </a:r>
            <a:r>
              <a:rPr lang="en-US" sz="1800" b="1" i="1" kern="1200" dirty="0">
                <a:latin typeface="+mj-lt"/>
                <a:ea typeface="+mj-ea"/>
                <a:cs typeface="+mj-cs"/>
              </a:rPr>
              <a:t>Research, Science &amp; Technology plus Innovation</a:t>
            </a:r>
            <a:endParaRPr lang="en-US" dirty="0"/>
          </a:p>
        </p:txBody>
      </p:sp>
    </p:spTree>
    <p:extLst>
      <p:ext uri="{BB962C8B-B14F-4D97-AF65-F5344CB8AC3E}">
        <p14:creationId xmlns:p14="http://schemas.microsoft.com/office/powerpoint/2010/main" val="63597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hand holding ball">
            <a:extLst>
              <a:ext uri="{FF2B5EF4-FFF2-40B4-BE49-F238E27FC236}">
                <a16:creationId xmlns:a16="http://schemas.microsoft.com/office/drawing/2014/main" id="{60CB718A-AA3B-46A1-7317-78240333629D}"/>
              </a:ext>
            </a:extLst>
          </p:cNvPr>
          <p:cNvPicPr>
            <a:picLocks noChangeAspect="1"/>
          </p:cNvPicPr>
          <p:nvPr/>
        </p:nvPicPr>
        <p:blipFill rotWithShape="1">
          <a:blip r:embed="rId2"/>
          <a:srcRect l="5261" r="975"/>
          <a:stretch/>
        </p:blipFill>
        <p:spPr>
          <a:xfrm>
            <a:off x="0" y="0"/>
            <a:ext cx="9669642" cy="6857990"/>
          </a:xfrm>
          <a:prstGeom prst="rect">
            <a:avLst/>
          </a:prstGeom>
        </p:spPr>
      </p:pic>
      <p:sp>
        <p:nvSpPr>
          <p:cNvPr id="66" name="Rectangle 65">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5669636-8600-B79C-41E5-4856B49F17C4}"/>
              </a:ext>
            </a:extLst>
          </p:cNvPr>
          <p:cNvSpPr>
            <a:spLocks noGrp="1"/>
          </p:cNvSpPr>
          <p:nvPr>
            <p:ph type="title"/>
          </p:nvPr>
        </p:nvSpPr>
        <p:spPr>
          <a:xfrm>
            <a:off x="6814918" y="105634"/>
            <a:ext cx="5121709" cy="1142398"/>
          </a:xfrm>
        </p:spPr>
        <p:txBody>
          <a:bodyPr>
            <a:normAutofit/>
          </a:bodyPr>
          <a:lstStyle/>
          <a:p>
            <a:r>
              <a:rPr lang="en-US" sz="4000" b="1" i="0" dirty="0">
                <a:effectLst/>
              </a:rPr>
              <a:t>Intertwined</a:t>
            </a:r>
            <a:r>
              <a:rPr lang="en-US" sz="4000" b="0" i="0" dirty="0">
                <a:effectLst/>
              </a:rPr>
              <a:t> </a:t>
            </a:r>
            <a:r>
              <a:rPr lang="en-US" sz="4000" b="1" i="0" dirty="0">
                <a:effectLst/>
              </a:rPr>
              <a:t>Concerns</a:t>
            </a:r>
            <a:endParaRPr lang="en-US" sz="4000" b="1" dirty="0"/>
          </a:p>
        </p:txBody>
      </p:sp>
      <p:sp>
        <p:nvSpPr>
          <p:cNvPr id="3" name="Content Placeholder 2">
            <a:extLst>
              <a:ext uri="{FF2B5EF4-FFF2-40B4-BE49-F238E27FC236}">
                <a16:creationId xmlns:a16="http://schemas.microsoft.com/office/drawing/2014/main" id="{048ACC98-7C01-6726-7DBC-E7C50D80E33F}"/>
              </a:ext>
            </a:extLst>
          </p:cNvPr>
          <p:cNvSpPr>
            <a:spLocks noGrp="1"/>
          </p:cNvSpPr>
          <p:nvPr>
            <p:ph idx="1"/>
          </p:nvPr>
        </p:nvSpPr>
        <p:spPr>
          <a:xfrm>
            <a:off x="6901414" y="1062682"/>
            <a:ext cx="5121709" cy="5114282"/>
          </a:xfrm>
        </p:spPr>
        <p:txBody>
          <a:bodyPr>
            <a:normAutofit fontScale="92500"/>
          </a:bodyPr>
          <a:lstStyle/>
          <a:p>
            <a:pPr>
              <a:buFont typeface="Arial" panose="020B0604020202020204" pitchFamily="34" charset="0"/>
              <a:buChar char="•"/>
            </a:pPr>
            <a:r>
              <a:rPr lang="en-US" sz="2400" i="0" dirty="0">
                <a:effectLst/>
                <a:latin typeface="Google Sans"/>
              </a:rPr>
              <a:t>Pressing concerns</a:t>
            </a:r>
          </a:p>
          <a:p>
            <a:pPr>
              <a:buFont typeface="Arial" panose="020B0604020202020204" pitchFamily="34" charset="0"/>
              <a:buChar char="•"/>
            </a:pPr>
            <a:endParaRPr lang="en-US" sz="2400" i="0" dirty="0">
              <a:effectLst/>
              <a:latin typeface="Google Sans"/>
            </a:endParaRPr>
          </a:p>
          <a:p>
            <a:pPr lvl="1"/>
            <a:r>
              <a:rPr lang="en-US" dirty="0">
                <a:latin typeface="Google Sans"/>
              </a:rPr>
              <a:t> Climate change and green </a:t>
            </a:r>
            <a:r>
              <a:rPr lang="en-US" dirty="0" err="1">
                <a:latin typeface="Google Sans"/>
              </a:rPr>
              <a:t>industrialisation</a:t>
            </a:r>
            <a:endParaRPr lang="en-US" dirty="0">
              <a:latin typeface="Google Sans"/>
            </a:endParaRPr>
          </a:p>
          <a:p>
            <a:pPr marL="457200" lvl="1" indent="0">
              <a:buNone/>
            </a:pPr>
            <a:endParaRPr lang="en-US" dirty="0">
              <a:latin typeface="Google Sans"/>
            </a:endParaRPr>
          </a:p>
          <a:p>
            <a:pPr lvl="1"/>
            <a:r>
              <a:rPr lang="en-US" dirty="0">
                <a:latin typeface="Google Sans"/>
              </a:rPr>
              <a:t>Water-Energy-Food Security Nexus</a:t>
            </a:r>
          </a:p>
          <a:p>
            <a:pPr marL="457200" lvl="1" indent="0">
              <a:buNone/>
            </a:pPr>
            <a:endParaRPr lang="en-US" dirty="0">
              <a:latin typeface="Google Sans"/>
            </a:endParaRPr>
          </a:p>
          <a:p>
            <a:pPr lvl="1"/>
            <a:r>
              <a:rPr lang="en-US" dirty="0">
                <a:latin typeface="Google Sans"/>
              </a:rPr>
              <a:t>One Health</a:t>
            </a:r>
          </a:p>
          <a:p>
            <a:pPr marL="457200" lvl="1" indent="0">
              <a:buNone/>
            </a:pPr>
            <a:endParaRPr lang="en-US" dirty="0">
              <a:latin typeface="Google Sans"/>
            </a:endParaRPr>
          </a:p>
          <a:p>
            <a:pPr marL="742950" lvl="1" indent="-285750">
              <a:buFont typeface="Arial" panose="020B0604020202020204" pitchFamily="34" charset="0"/>
              <a:buChar char="•"/>
            </a:pPr>
            <a:r>
              <a:rPr lang="en-US" b="1" i="0" dirty="0">
                <a:effectLst/>
                <a:latin typeface="Google Sans"/>
              </a:rPr>
              <a:t>4IR technology, esp. Artificial Intelligence </a:t>
            </a:r>
            <a:r>
              <a:rPr lang="en-US" b="0" i="0" dirty="0">
                <a:effectLst/>
                <a:latin typeface="Google Sans"/>
              </a:rPr>
              <a:t>as </a:t>
            </a:r>
            <a:r>
              <a:rPr lang="en-US" dirty="0">
                <a:latin typeface="Google Sans"/>
              </a:rPr>
              <a:t>enabler, driver</a:t>
            </a:r>
            <a:endParaRPr lang="en-US" b="0" i="0" dirty="0">
              <a:effectLst/>
              <a:latin typeface="Google Sans"/>
            </a:endParaRPr>
          </a:p>
          <a:p>
            <a:pPr marL="457200" lvl="1" indent="0">
              <a:buNone/>
            </a:pPr>
            <a:endParaRPr lang="en-US" b="0" i="0" dirty="0">
              <a:effectLst/>
              <a:latin typeface="Google Sans"/>
            </a:endParaRPr>
          </a:p>
          <a:p>
            <a:pPr>
              <a:buFont typeface="Arial" panose="020B0604020202020204" pitchFamily="34" charset="0"/>
              <a:buChar char="•"/>
            </a:pPr>
            <a:r>
              <a:rPr lang="en-US" sz="2400" i="0" dirty="0">
                <a:effectLst/>
                <a:latin typeface="Google Sans"/>
              </a:rPr>
              <a:t>      Geopolitical tensions impacting all</a:t>
            </a:r>
            <a:br>
              <a:rPr lang="en-US" sz="2400" dirty="0"/>
            </a:br>
            <a:endParaRPr lang="en-US" sz="2400" dirty="0"/>
          </a:p>
        </p:txBody>
      </p:sp>
      <p:pic>
        <p:nvPicPr>
          <p:cNvPr id="10" name="Picture 9" descr="A logo of a science company&#10;&#10;Description automatically generated">
            <a:extLst>
              <a:ext uri="{FF2B5EF4-FFF2-40B4-BE49-F238E27FC236}">
                <a16:creationId xmlns:a16="http://schemas.microsoft.com/office/drawing/2014/main" id="{99AB0F7C-1D04-8291-94B1-3594DC530455}"/>
              </a:ext>
            </a:extLst>
          </p:cNvPr>
          <p:cNvPicPr>
            <a:picLocks noChangeAspect="1"/>
          </p:cNvPicPr>
          <p:nvPr/>
        </p:nvPicPr>
        <p:blipFill rotWithShape="1">
          <a:blip r:embed="rId3"/>
          <a:srcRect l="18982" t="3008" r="18497" b="6928"/>
          <a:stretch/>
        </p:blipFill>
        <p:spPr>
          <a:xfrm>
            <a:off x="10883160" y="5720073"/>
            <a:ext cx="1308840" cy="1137927"/>
          </a:xfrm>
          <a:prstGeom prst="rect">
            <a:avLst/>
          </a:prstGeom>
        </p:spPr>
      </p:pic>
    </p:spTree>
    <p:extLst>
      <p:ext uri="{BB962C8B-B14F-4D97-AF65-F5344CB8AC3E}">
        <p14:creationId xmlns:p14="http://schemas.microsoft.com/office/powerpoint/2010/main" val="83410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AE217-F1AD-6F71-FEB8-9626AB5ADD76}"/>
              </a:ext>
            </a:extLst>
          </p:cNvPr>
          <p:cNvSpPr>
            <a:spLocks noGrp="1"/>
          </p:cNvSpPr>
          <p:nvPr>
            <p:ph type="title"/>
          </p:nvPr>
        </p:nvSpPr>
        <p:spPr>
          <a:xfrm>
            <a:off x="7086593" y="363989"/>
            <a:ext cx="5393360" cy="1325563"/>
          </a:xfrm>
        </p:spPr>
        <p:txBody>
          <a:bodyPr>
            <a:normAutofit/>
          </a:bodyPr>
          <a:lstStyle/>
          <a:p>
            <a:r>
              <a:rPr lang="en-US" b="0" i="0" dirty="0">
                <a:effectLst/>
                <a:latin typeface="Google Sans"/>
              </a:rPr>
              <a:t>The Rise of </a:t>
            </a:r>
            <a:r>
              <a:rPr lang="en-US" dirty="0">
                <a:latin typeface="Google Sans"/>
              </a:rPr>
              <a:t>AI</a:t>
            </a:r>
            <a:endParaRPr lang="en-US" dirty="0"/>
          </a:p>
        </p:txBody>
      </p:sp>
      <p:pic>
        <p:nvPicPr>
          <p:cNvPr id="2058" name="Picture 10" descr="GUIdebook &gt; Splashes &gt; Netscape">
            <a:extLst>
              <a:ext uri="{FF2B5EF4-FFF2-40B4-BE49-F238E27FC236}">
                <a16:creationId xmlns:a16="http://schemas.microsoft.com/office/drawing/2014/main" id="{3B600FD6-5FB8-E141-9D58-1C3FFE585D8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66038" y="636508"/>
            <a:ext cx="1842104" cy="2789984"/>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a:noFill/>
          <a:extLst>
            <a:ext uri="{909E8E84-426E-40DD-AFC4-6F175D3DCCD1}">
              <a14:hiddenFill xmlns:a14="http://schemas.microsoft.com/office/drawing/2010/main">
                <a:solidFill>
                  <a:srgbClr val="FFFFFF"/>
                </a:solidFill>
              </a14:hiddenFill>
            </a:ext>
          </a:extLst>
        </p:spPr>
      </p:pic>
      <p:pic>
        <p:nvPicPr>
          <p:cNvPr id="5" name="Picture 4" descr="A screen shot of a computer&#10;&#10;Description automatically generated">
            <a:extLst>
              <a:ext uri="{FF2B5EF4-FFF2-40B4-BE49-F238E27FC236}">
                <a16:creationId xmlns:a16="http://schemas.microsoft.com/office/drawing/2014/main" id="{622FE01E-CDF4-A182-12AB-71F172585FB2}"/>
              </a:ext>
            </a:extLst>
          </p:cNvPr>
          <p:cNvPicPr>
            <a:picLocks noChangeAspect="1"/>
          </p:cNvPicPr>
          <p:nvPr/>
        </p:nvPicPr>
        <p:blipFill rotWithShape="1">
          <a:blip r:embed="rId3"/>
          <a:srcRect l="14798" t="25695" r="13321" b="19869"/>
          <a:stretch/>
        </p:blipFill>
        <p:spPr>
          <a:xfrm>
            <a:off x="2931424" y="876028"/>
            <a:ext cx="3351463" cy="2513596"/>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p:spPr>
      </p:pic>
      <p:sp>
        <p:nvSpPr>
          <p:cNvPr id="3" name="Content Placeholder 2">
            <a:extLst>
              <a:ext uri="{FF2B5EF4-FFF2-40B4-BE49-F238E27FC236}">
                <a16:creationId xmlns:a16="http://schemas.microsoft.com/office/drawing/2014/main" id="{8D41143D-C19C-1BFF-FF1E-EEEDBCEB8D04}"/>
              </a:ext>
            </a:extLst>
          </p:cNvPr>
          <p:cNvSpPr>
            <a:spLocks noGrp="1"/>
          </p:cNvSpPr>
          <p:nvPr>
            <p:ph idx="1"/>
          </p:nvPr>
        </p:nvSpPr>
        <p:spPr>
          <a:xfrm>
            <a:off x="6495347" y="1555108"/>
            <a:ext cx="5530458" cy="4720825"/>
          </a:xfrm>
        </p:spPr>
        <p:txBody>
          <a:bodyPr>
            <a:normAutofit/>
          </a:bodyPr>
          <a:lstStyle/>
          <a:p>
            <a:pPr>
              <a:buFont typeface="Arial" panose="020B0604020202020204" pitchFamily="34" charset="0"/>
              <a:buChar char="•"/>
            </a:pPr>
            <a:r>
              <a:rPr lang="en-US" b="0" i="0" dirty="0">
                <a:effectLst/>
                <a:latin typeface="Google Sans"/>
              </a:rPr>
              <a:t>A transformative force, evolving rapidly</a:t>
            </a:r>
          </a:p>
          <a:p>
            <a:pPr>
              <a:buFont typeface="Arial" panose="020B0604020202020204" pitchFamily="34" charset="0"/>
              <a:buChar char="•"/>
            </a:pPr>
            <a:r>
              <a:rPr lang="en-US" b="0" i="0" dirty="0">
                <a:effectLst/>
                <a:latin typeface="Google Sans"/>
              </a:rPr>
              <a:t>Netscape moment for AI: Unleashing </a:t>
            </a:r>
            <a:r>
              <a:rPr lang="en-US" b="0" i="0" dirty="0" err="1">
                <a:effectLst/>
                <a:latin typeface="Google Sans"/>
              </a:rPr>
              <a:t>OpenAI's</a:t>
            </a:r>
            <a:r>
              <a:rPr lang="en-US" b="0" i="0" dirty="0">
                <a:effectLst/>
                <a:latin typeface="Google Sans"/>
              </a:rPr>
              <a:t> </a:t>
            </a:r>
            <a:r>
              <a:rPr lang="en-US" b="0" i="0" dirty="0" err="1">
                <a:effectLst/>
                <a:latin typeface="Google Sans"/>
              </a:rPr>
              <a:t>ChatGPT</a:t>
            </a:r>
            <a:r>
              <a:rPr lang="en-US" b="0" i="0" dirty="0">
                <a:effectLst/>
                <a:latin typeface="Google Sans"/>
              </a:rPr>
              <a:t> </a:t>
            </a:r>
          </a:p>
          <a:p>
            <a:pPr>
              <a:buFont typeface="Arial" panose="020B0604020202020204" pitchFamily="34" charset="0"/>
              <a:buChar char="•"/>
            </a:pPr>
            <a:r>
              <a:rPr lang="en-US" b="0" i="0" dirty="0">
                <a:effectLst/>
                <a:latin typeface="Google Sans"/>
              </a:rPr>
              <a:t>Dilemma: Desire for human-like AI vs resistance and ethical concerns </a:t>
            </a:r>
          </a:p>
          <a:p>
            <a:pPr>
              <a:buFont typeface="Arial" panose="020B0604020202020204" pitchFamily="34" charset="0"/>
              <a:buChar char="•"/>
            </a:pPr>
            <a:r>
              <a:rPr lang="en-US" b="0" i="0" dirty="0">
                <a:effectLst/>
                <a:latin typeface="Google Sans"/>
              </a:rPr>
              <a:t>Human control must remain paramount</a:t>
            </a:r>
          </a:p>
          <a:p>
            <a:pPr marL="0" indent="0">
              <a:buNone/>
            </a:pPr>
            <a:endParaRPr lang="en-US" dirty="0"/>
          </a:p>
        </p:txBody>
      </p:sp>
      <p:sp>
        <p:nvSpPr>
          <p:cNvPr id="89" name="TextBox 88">
            <a:extLst>
              <a:ext uri="{FF2B5EF4-FFF2-40B4-BE49-F238E27FC236}">
                <a16:creationId xmlns:a16="http://schemas.microsoft.com/office/drawing/2014/main" id="{6C71DAF8-74BF-8D5C-8AC0-093365EE5A54}"/>
              </a:ext>
            </a:extLst>
          </p:cNvPr>
          <p:cNvSpPr txBox="1"/>
          <p:nvPr/>
        </p:nvSpPr>
        <p:spPr>
          <a:xfrm>
            <a:off x="3558935" y="3389624"/>
            <a:ext cx="1842104" cy="200055"/>
          </a:xfrm>
          <a:prstGeom prst="rect">
            <a:avLst/>
          </a:prstGeom>
          <a:noFill/>
        </p:spPr>
        <p:txBody>
          <a:bodyPr wrap="square">
            <a:spAutoFit/>
          </a:bodyPr>
          <a:lstStyle/>
          <a:p>
            <a:r>
              <a:rPr lang="en-US" sz="700" dirty="0"/>
              <a:t>https://</a:t>
            </a:r>
            <a:r>
              <a:rPr lang="en-US" sz="700" dirty="0" err="1"/>
              <a:t>chat.openai.com</a:t>
            </a:r>
            <a:r>
              <a:rPr lang="en-US" sz="700" dirty="0"/>
              <a:t>/</a:t>
            </a:r>
          </a:p>
        </p:txBody>
      </p:sp>
      <p:pic>
        <p:nvPicPr>
          <p:cNvPr id="2060" name="Picture 12" descr="AMECA Humanoid Robot: Features and Specifications — Eightify">
            <a:extLst>
              <a:ext uri="{FF2B5EF4-FFF2-40B4-BE49-F238E27FC236}">
                <a16:creationId xmlns:a16="http://schemas.microsoft.com/office/drawing/2014/main" id="{BAE016C3-75C5-6E9C-5AA9-2FA04D4814C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644" r="4359" b="12828"/>
          <a:stretch/>
        </p:blipFill>
        <p:spPr bwMode="auto">
          <a:xfrm>
            <a:off x="1474343" y="4275114"/>
            <a:ext cx="3975698" cy="2292385"/>
          </a:xfrm>
          <a:prstGeom prst="rect">
            <a:avLst/>
          </a:prstGeom>
          <a:noFill/>
          <a:extLst>
            <a:ext uri="{909E8E84-426E-40DD-AFC4-6F175D3DCCD1}">
              <a14:hiddenFill xmlns:a14="http://schemas.microsoft.com/office/drawing/2010/main">
                <a:solidFill>
                  <a:srgbClr val="FFFFFF"/>
                </a:solidFill>
              </a14:hiddenFill>
            </a:ext>
          </a:extLst>
        </p:spPr>
      </p:pic>
      <p:sp>
        <p:nvSpPr>
          <p:cNvPr id="92" name="TextBox 91">
            <a:extLst>
              <a:ext uri="{FF2B5EF4-FFF2-40B4-BE49-F238E27FC236}">
                <a16:creationId xmlns:a16="http://schemas.microsoft.com/office/drawing/2014/main" id="{C91F96A1-575B-FDEA-C5AB-CD93ABB8DB5E}"/>
              </a:ext>
            </a:extLst>
          </p:cNvPr>
          <p:cNvSpPr txBox="1"/>
          <p:nvPr/>
        </p:nvSpPr>
        <p:spPr>
          <a:xfrm>
            <a:off x="3481991" y="6435750"/>
            <a:ext cx="1842104" cy="184666"/>
          </a:xfrm>
          <a:prstGeom prst="rect">
            <a:avLst/>
          </a:prstGeom>
          <a:noFill/>
        </p:spPr>
        <p:txBody>
          <a:bodyPr wrap="square">
            <a:spAutoFit/>
          </a:bodyPr>
          <a:lstStyle/>
          <a:p>
            <a:r>
              <a:rPr lang="en-US" sz="600" dirty="0"/>
              <a:t>http://</a:t>
            </a:r>
            <a:r>
              <a:rPr lang="en-US" sz="600" dirty="0" err="1"/>
              <a:t>bit.ly</a:t>
            </a:r>
            <a:r>
              <a:rPr lang="en-US" sz="600" dirty="0"/>
              <a:t>/3u09K5h</a:t>
            </a:r>
          </a:p>
        </p:txBody>
      </p:sp>
      <p:sp>
        <p:nvSpPr>
          <p:cNvPr id="94" name="TextBox 93">
            <a:extLst>
              <a:ext uri="{FF2B5EF4-FFF2-40B4-BE49-F238E27FC236}">
                <a16:creationId xmlns:a16="http://schemas.microsoft.com/office/drawing/2014/main" id="{2ADEFCB7-2EE1-A6A1-D2EC-8B7951D72DE1}"/>
              </a:ext>
            </a:extLst>
          </p:cNvPr>
          <p:cNvSpPr txBox="1"/>
          <p:nvPr/>
        </p:nvSpPr>
        <p:spPr>
          <a:xfrm>
            <a:off x="906905" y="3389624"/>
            <a:ext cx="2140434" cy="184666"/>
          </a:xfrm>
          <a:prstGeom prst="rect">
            <a:avLst/>
          </a:prstGeom>
          <a:noFill/>
        </p:spPr>
        <p:txBody>
          <a:bodyPr wrap="square">
            <a:spAutoFit/>
          </a:bodyPr>
          <a:lstStyle/>
          <a:p>
            <a:r>
              <a:rPr lang="en-US" sz="600" dirty="0"/>
              <a:t>https://</a:t>
            </a:r>
            <a:r>
              <a:rPr lang="en-US" sz="600" dirty="0" err="1"/>
              <a:t>guidebookgallery.org</a:t>
            </a:r>
            <a:r>
              <a:rPr lang="en-US" sz="600" dirty="0"/>
              <a:t>/splashes/</a:t>
            </a:r>
            <a:r>
              <a:rPr lang="en-US" sz="600" dirty="0" err="1"/>
              <a:t>netscape</a:t>
            </a:r>
            <a:endParaRPr lang="en-US" sz="600" dirty="0"/>
          </a:p>
        </p:txBody>
      </p:sp>
      <p:pic>
        <p:nvPicPr>
          <p:cNvPr id="95" name="Picture 94" descr="A logo of a science company&#10;&#10;Description automatically generated">
            <a:extLst>
              <a:ext uri="{FF2B5EF4-FFF2-40B4-BE49-F238E27FC236}">
                <a16:creationId xmlns:a16="http://schemas.microsoft.com/office/drawing/2014/main" id="{FCA4EDD9-7413-612B-A4B3-0D57E1793DD0}"/>
              </a:ext>
            </a:extLst>
          </p:cNvPr>
          <p:cNvPicPr>
            <a:picLocks noChangeAspect="1"/>
          </p:cNvPicPr>
          <p:nvPr/>
        </p:nvPicPr>
        <p:blipFill rotWithShape="1">
          <a:blip r:embed="rId5"/>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2182738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7"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1" name="Picture 60" descr="Digital financial graphs in 3D">
            <a:extLst>
              <a:ext uri="{FF2B5EF4-FFF2-40B4-BE49-F238E27FC236}">
                <a16:creationId xmlns:a16="http://schemas.microsoft.com/office/drawing/2014/main" id="{CD65D3BE-589D-7C74-CB03-EA4506039B19}"/>
              </a:ext>
            </a:extLst>
          </p:cNvPr>
          <p:cNvPicPr>
            <a:picLocks noChangeAspect="1"/>
          </p:cNvPicPr>
          <p:nvPr/>
        </p:nvPicPr>
        <p:blipFill>
          <a:blip r:embed="rId2"/>
          <a:srcRect l="32131" r="6532" b="-2"/>
          <a:stretch/>
        </p:blipFill>
        <p:spPr>
          <a:xfrm>
            <a:off x="-1" y="-2"/>
            <a:ext cx="5410198" cy="6858002"/>
          </a:xfrm>
          <a:prstGeom prst="rect">
            <a:avLst/>
          </a:prstGeom>
        </p:spPr>
      </p:pic>
      <p:sp useBgFill="1">
        <p:nvSpPr>
          <p:cNvPr id="79" name="Rectangle 78">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669636-8600-B79C-41E5-4856B49F17C4}"/>
              </a:ext>
            </a:extLst>
          </p:cNvPr>
          <p:cNvSpPr>
            <a:spLocks noGrp="1"/>
          </p:cNvSpPr>
          <p:nvPr>
            <p:ph type="title"/>
          </p:nvPr>
        </p:nvSpPr>
        <p:spPr>
          <a:xfrm>
            <a:off x="5410195" y="-10269"/>
            <a:ext cx="6562716" cy="978271"/>
          </a:xfrm>
        </p:spPr>
        <p:txBody>
          <a:bodyPr>
            <a:normAutofit fontScale="90000"/>
          </a:bodyPr>
          <a:lstStyle/>
          <a:p>
            <a:r>
              <a:rPr lang="en-US" sz="4000" b="1" dirty="0"/>
              <a:t>Examples: AI Strategic Direction</a:t>
            </a:r>
          </a:p>
        </p:txBody>
      </p:sp>
      <p:sp>
        <p:nvSpPr>
          <p:cNvPr id="3" name="Content Placeholder 2">
            <a:extLst>
              <a:ext uri="{FF2B5EF4-FFF2-40B4-BE49-F238E27FC236}">
                <a16:creationId xmlns:a16="http://schemas.microsoft.com/office/drawing/2014/main" id="{048ACC98-7C01-6726-7DBC-E7C50D80E33F}"/>
              </a:ext>
            </a:extLst>
          </p:cNvPr>
          <p:cNvSpPr>
            <a:spLocks noGrp="1"/>
          </p:cNvSpPr>
          <p:nvPr>
            <p:ph idx="1"/>
          </p:nvPr>
        </p:nvSpPr>
        <p:spPr>
          <a:xfrm>
            <a:off x="5466193" y="598343"/>
            <a:ext cx="6669809" cy="6629316"/>
          </a:xfrm>
        </p:spPr>
        <p:txBody>
          <a:bodyPr anchor="ctr">
            <a:normAutofit/>
          </a:bodyPr>
          <a:lstStyle/>
          <a:p>
            <a:pPr>
              <a:buFont typeface="Arial" panose="020B0604020202020204" pitchFamily="34" charset="0"/>
              <a:buChar char="•"/>
            </a:pPr>
            <a:r>
              <a:rPr lang="en-US" sz="2000" dirty="0"/>
              <a:t>Hiroshima Process International Code of Conduct for </a:t>
            </a:r>
            <a:r>
              <a:rPr lang="en-US" sz="2000" dirty="0" err="1"/>
              <a:t>Organisations</a:t>
            </a:r>
            <a:r>
              <a:rPr lang="en-US" sz="2000" dirty="0"/>
              <a:t> Developing Advanced AI Systems </a:t>
            </a:r>
          </a:p>
          <a:p>
            <a:pPr>
              <a:buFont typeface="Arial" panose="020B0604020202020204" pitchFamily="34" charset="0"/>
              <a:buChar char="•"/>
            </a:pPr>
            <a:r>
              <a:rPr lang="en-US" sz="2000" dirty="0"/>
              <a:t>UNESCO Ethics of AI </a:t>
            </a:r>
          </a:p>
          <a:p>
            <a:pPr>
              <a:buFont typeface="Arial" panose="020B0604020202020204" pitchFamily="34" charset="0"/>
              <a:buChar char="•"/>
            </a:pPr>
            <a:r>
              <a:rPr lang="en-US" sz="2000" dirty="0"/>
              <a:t>USA Executive Order on AI </a:t>
            </a:r>
          </a:p>
          <a:p>
            <a:pPr>
              <a:buFont typeface="Arial" panose="020B0604020202020204" pitchFamily="34" charset="0"/>
              <a:buChar char="•"/>
            </a:pPr>
            <a:r>
              <a:rPr lang="en-US" sz="2000" dirty="0"/>
              <a:t>Europe:  </a:t>
            </a:r>
          </a:p>
          <a:p>
            <a:pPr lvl="1"/>
            <a:r>
              <a:rPr lang="en-US" sz="2000" dirty="0"/>
              <a:t>AI Act</a:t>
            </a:r>
          </a:p>
          <a:p>
            <a:pPr lvl="1"/>
            <a:r>
              <a:rPr lang="en-US" sz="2000" dirty="0"/>
              <a:t>EU 5-year AI Vision (Research, Science and Tech)</a:t>
            </a:r>
          </a:p>
          <a:p>
            <a:pPr>
              <a:buFont typeface="Arial" panose="020B0604020202020204" pitchFamily="34" charset="0"/>
              <a:buChar char="•"/>
            </a:pPr>
            <a:r>
              <a:rPr lang="en-US" sz="2000" dirty="0"/>
              <a:t>Africa</a:t>
            </a:r>
          </a:p>
          <a:p>
            <a:pPr lvl="1"/>
            <a:r>
              <a:rPr lang="en-US" sz="2000" dirty="0"/>
              <a:t>AU Continental AI Strategy</a:t>
            </a:r>
          </a:p>
          <a:p>
            <a:pPr lvl="1"/>
            <a:r>
              <a:rPr lang="en-US" sz="2000" dirty="0"/>
              <a:t>UNESCO Windhoek Statement on AI in Southern Africa</a:t>
            </a:r>
          </a:p>
          <a:p>
            <a:pPr lvl="1"/>
            <a:r>
              <a:rPr lang="en-US" sz="1600" dirty="0"/>
              <a:t>Africa 4IR Policy and Strategy (in dev)</a:t>
            </a:r>
          </a:p>
          <a:p>
            <a:pPr>
              <a:buFont typeface="Arial" panose="020B0604020202020204" pitchFamily="34" charset="0"/>
              <a:buChar char="•"/>
            </a:pPr>
            <a:r>
              <a:rPr lang="en-US" sz="2000" dirty="0"/>
              <a:t>Namibia</a:t>
            </a:r>
          </a:p>
          <a:p>
            <a:pPr lvl="1"/>
            <a:r>
              <a:rPr lang="en-US" sz="2000" dirty="0"/>
              <a:t>4IR Task Force – 13 Recommendations</a:t>
            </a:r>
          </a:p>
          <a:p>
            <a:pPr lvl="1"/>
            <a:r>
              <a:rPr lang="en-US" sz="2000" dirty="0"/>
              <a:t>National Programme on RSTI</a:t>
            </a:r>
          </a:p>
          <a:p>
            <a:pPr lvl="1"/>
            <a:r>
              <a:rPr lang="en-US" sz="2000" dirty="0"/>
              <a:t>Draft UNESCO AI Readiness Assessment</a:t>
            </a:r>
          </a:p>
          <a:p>
            <a:pPr lvl="1"/>
            <a:r>
              <a:rPr lang="en-US" sz="2000" dirty="0"/>
              <a:t>National AI Working Group</a:t>
            </a:r>
            <a:br>
              <a:rPr lang="en-US" sz="2000" dirty="0"/>
            </a:br>
            <a:endParaRPr lang="en-US" sz="2000" dirty="0"/>
          </a:p>
        </p:txBody>
      </p:sp>
      <p:pic>
        <p:nvPicPr>
          <p:cNvPr id="16" name="Picture 15" descr="A logo of a science company&#10;&#10;Description automatically generated">
            <a:extLst>
              <a:ext uri="{FF2B5EF4-FFF2-40B4-BE49-F238E27FC236}">
                <a16:creationId xmlns:a16="http://schemas.microsoft.com/office/drawing/2014/main" id="{6B4D4B8F-542D-2EA2-130C-010787175C6F}"/>
              </a:ext>
            </a:extLst>
          </p:cNvPr>
          <p:cNvPicPr>
            <a:picLocks noChangeAspect="1"/>
          </p:cNvPicPr>
          <p:nvPr/>
        </p:nvPicPr>
        <p:blipFill rotWithShape="1">
          <a:blip r:embed="rId3"/>
          <a:srcRect l="18982" t="3008" r="18497" b="6928"/>
          <a:stretch/>
        </p:blipFill>
        <p:spPr>
          <a:xfrm>
            <a:off x="10874425" y="5720073"/>
            <a:ext cx="1308840" cy="1137927"/>
          </a:xfrm>
          <a:prstGeom prst="rect">
            <a:avLst/>
          </a:prstGeom>
        </p:spPr>
      </p:pic>
    </p:spTree>
    <p:extLst>
      <p:ext uri="{BB962C8B-B14F-4D97-AF65-F5344CB8AC3E}">
        <p14:creationId xmlns:p14="http://schemas.microsoft.com/office/powerpoint/2010/main" val="3657468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1E4AD-8D28-1ADB-4419-21D1B800A2C4}"/>
              </a:ext>
            </a:extLst>
          </p:cNvPr>
          <p:cNvSpPr>
            <a:spLocks noGrp="1"/>
          </p:cNvSpPr>
          <p:nvPr>
            <p:ph type="title"/>
          </p:nvPr>
        </p:nvSpPr>
        <p:spPr>
          <a:xfrm>
            <a:off x="7458614" y="120335"/>
            <a:ext cx="4733365" cy="1189841"/>
          </a:xfrm>
        </p:spPr>
        <p:txBody>
          <a:bodyPr anchor="b">
            <a:normAutofit/>
          </a:bodyPr>
          <a:lstStyle/>
          <a:p>
            <a:r>
              <a:rPr lang="en-US" sz="3600" b="1" dirty="0"/>
              <a:t>Africa and AI: </a:t>
            </a:r>
            <a:br>
              <a:rPr lang="en-US" sz="3600" b="1" dirty="0"/>
            </a:br>
            <a:r>
              <a:rPr lang="en-US" sz="3600" b="1" dirty="0"/>
              <a:t>Promise &amp; Peril</a:t>
            </a:r>
          </a:p>
        </p:txBody>
      </p:sp>
      <p:sp>
        <p:nvSpPr>
          <p:cNvPr id="64" name="Rectangle 63">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8" name="Rectangle 67">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a:extLst>
              <a:ext uri="{FF2B5EF4-FFF2-40B4-BE49-F238E27FC236}">
                <a16:creationId xmlns:a16="http://schemas.microsoft.com/office/drawing/2014/main" id="{4DB2D018-5B01-CC4C-F89D-DCF6AF34B0C7}"/>
              </a:ext>
            </a:extLst>
          </p:cNvPr>
          <p:cNvSpPr>
            <a:spLocks noGrp="1"/>
          </p:cNvSpPr>
          <p:nvPr>
            <p:ph idx="1"/>
          </p:nvPr>
        </p:nvSpPr>
        <p:spPr>
          <a:xfrm>
            <a:off x="7390262" y="1310176"/>
            <a:ext cx="4801717" cy="4715559"/>
          </a:xfrm>
        </p:spPr>
        <p:txBody>
          <a:bodyPr anchor="t">
            <a:normAutofit fontScale="92500" lnSpcReduction="10000"/>
          </a:bodyPr>
          <a:lstStyle/>
          <a:p>
            <a:pPr marL="0" indent="0">
              <a:buNone/>
            </a:pP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kern="100" dirty="0">
                <a:effectLst/>
                <a:latin typeface="Calibri" panose="020F0502020204030204" pitchFamily="34" charset="0"/>
                <a:ea typeface="Calibri" panose="020F0502020204030204" pitchFamily="34" charset="0"/>
                <a:cs typeface="Times New Roman" panose="02020603050405020304" pitchFamily="18" charset="0"/>
              </a:rPr>
              <a:t>Potential</a:t>
            </a:r>
            <a:r>
              <a:rPr lang="en-US" kern="100" dirty="0">
                <a:latin typeface="Calibri" panose="020F0502020204030204" pitchFamily="34" charset="0"/>
                <a:ea typeface="Calibri" panose="020F0502020204030204" pitchFamily="34" charset="0"/>
                <a:cs typeface="Times New Roman" panose="02020603050405020304" pitchFamily="18" charset="0"/>
              </a:rPr>
              <a:t> </a:t>
            </a:r>
            <a:r>
              <a:rPr lang="en-US" kern="100" dirty="0">
                <a:effectLst/>
                <a:latin typeface="Calibri" panose="020F0502020204030204" pitchFamily="34" charset="0"/>
                <a:ea typeface="Calibri" panose="020F0502020204030204" pitchFamily="34" charset="0"/>
                <a:cs typeface="Times New Roman" panose="02020603050405020304" pitchFamily="18" charset="0"/>
              </a:rPr>
              <a:t>to </a:t>
            </a:r>
            <a:r>
              <a:rPr lang="en-US" kern="100" dirty="0" err="1">
                <a:effectLst/>
                <a:latin typeface="Calibri" panose="020F0502020204030204" pitchFamily="34" charset="0"/>
                <a:ea typeface="Calibri" panose="020F0502020204030204" pitchFamily="34" charset="0"/>
                <a:cs typeface="Times New Roman" panose="02020603050405020304" pitchFamily="18" charset="0"/>
              </a:rPr>
              <a:t>revolutionise</a:t>
            </a:r>
            <a:r>
              <a:rPr lang="en-US" kern="100" dirty="0">
                <a:effectLst/>
                <a:latin typeface="Calibri" panose="020F0502020204030204" pitchFamily="34" charset="0"/>
                <a:ea typeface="Calibri" panose="020F0502020204030204" pitchFamily="34" charset="0"/>
                <a:cs typeface="Times New Roman" panose="02020603050405020304" pitchFamily="18" charset="0"/>
              </a:rPr>
              <a:t> various sectors and alleviate many of Africa's challenges</a:t>
            </a:r>
          </a:p>
          <a:p>
            <a:pPr marL="0" marR="0" indent="0">
              <a:spcBef>
                <a:spcPts val="0"/>
              </a:spcBef>
              <a:spcAft>
                <a:spcPts val="0"/>
              </a:spcAft>
              <a:buNone/>
            </a:pP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0">
              <a:spcBef>
                <a:spcPts val="0"/>
              </a:spcBef>
            </a:pPr>
            <a:r>
              <a:rPr lang="en-US" kern="100" dirty="0">
                <a:effectLst/>
                <a:latin typeface="Calibri" panose="020F0502020204030204" pitchFamily="34" charset="0"/>
                <a:ea typeface="Calibri" panose="020F0502020204030204" pitchFamily="34" charset="0"/>
                <a:cs typeface="Times New Roman" panose="02020603050405020304" pitchFamily="18" charset="0"/>
              </a:rPr>
              <a:t>Own AI solutions </a:t>
            </a:r>
            <a:r>
              <a:rPr lang="en-US" kern="100" dirty="0">
                <a:latin typeface="Calibri" panose="020F0502020204030204" pitchFamily="34" charset="0"/>
                <a:ea typeface="Calibri" panose="020F0502020204030204" pitchFamily="34" charset="0"/>
                <a:cs typeface="Times New Roman" panose="02020603050405020304" pitchFamily="18" charset="0"/>
              </a:rPr>
              <a:t>underdeveloped, overreliances on imported AI research and technologies, skills, infrastructure, financing, conductive regulatory framework</a:t>
            </a:r>
          </a:p>
          <a:p>
            <a:pPr marL="0" marR="0" indent="0">
              <a:spcBef>
                <a:spcPts val="0"/>
              </a:spcBef>
              <a:spcAft>
                <a:spcPts val="0"/>
              </a:spcAft>
              <a:buNone/>
            </a:pP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kern="100" dirty="0">
                <a:latin typeface="Calibri" panose="020F0502020204030204" pitchFamily="34" charset="0"/>
                <a:ea typeface="Calibri" panose="020F0502020204030204" pitchFamily="34" charset="0"/>
                <a:cs typeface="Times New Roman" panose="02020603050405020304" pitchFamily="18" charset="0"/>
              </a:rPr>
              <a:t>N</a:t>
            </a:r>
            <a:r>
              <a:rPr lang="en-US" kern="100" dirty="0">
                <a:effectLst/>
                <a:latin typeface="Calibri" panose="020F0502020204030204" pitchFamily="34" charset="0"/>
                <a:ea typeface="Calibri" panose="020F0502020204030204" pitchFamily="34" charset="0"/>
                <a:cs typeface="Times New Roman" panose="02020603050405020304" pitchFamily="18" charset="0"/>
              </a:rPr>
              <a:t>egative and unintended consequences</a:t>
            </a:r>
          </a:p>
          <a:p>
            <a:pPr marL="0" marR="0">
              <a:spcBef>
                <a:spcPts val="0"/>
              </a:spcBef>
              <a:spcAft>
                <a:spcPts val="0"/>
              </a:spcAft>
            </a:pPr>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marL="0" marR="0" indent="0">
              <a:spcBef>
                <a:spcPts val="0"/>
              </a:spcBef>
              <a:spcAft>
                <a:spcPts val="0"/>
              </a:spcAft>
              <a:buNone/>
            </a:pP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kern="100" dirty="0">
              <a:latin typeface="Calibri" panose="020F0502020204030204" pitchFamily="34" charset="0"/>
              <a:ea typeface="Calibri" panose="020F0502020204030204" pitchFamily="34" charset="0"/>
              <a:cs typeface="Times New Roman" panose="02020603050405020304" pitchFamily="18" charset="0"/>
            </a:endParaRPr>
          </a:p>
          <a:p>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8" name="Picture 4" descr="Stones balancing on a wood">
            <a:extLst>
              <a:ext uri="{FF2B5EF4-FFF2-40B4-BE49-F238E27FC236}">
                <a16:creationId xmlns:a16="http://schemas.microsoft.com/office/drawing/2014/main" id="{372CD7C9-8044-A624-5BB0-95BC572BC22F}"/>
              </a:ext>
            </a:extLst>
          </p:cNvPr>
          <p:cNvPicPr>
            <a:picLocks noChangeAspect="1"/>
          </p:cNvPicPr>
          <p:nvPr/>
        </p:nvPicPr>
        <p:blipFill rotWithShape="1">
          <a:blip r:embed="rId2"/>
          <a:srcRect t="6239"/>
          <a:stretch/>
        </p:blipFill>
        <p:spPr>
          <a:xfrm>
            <a:off x="685600" y="1435845"/>
            <a:ext cx="6704662" cy="3787527"/>
          </a:xfrm>
          <a:prstGeom prst="rect">
            <a:avLst/>
          </a:prstGeom>
        </p:spPr>
      </p:pic>
      <p:pic>
        <p:nvPicPr>
          <p:cNvPr id="9" name="Picture 8" descr="A logo of a science company&#10;&#10;Description automatically generated">
            <a:extLst>
              <a:ext uri="{FF2B5EF4-FFF2-40B4-BE49-F238E27FC236}">
                <a16:creationId xmlns:a16="http://schemas.microsoft.com/office/drawing/2014/main" id="{91C3AACF-BE17-E2B1-25B5-7E0B6A3E7A40}"/>
              </a:ext>
            </a:extLst>
          </p:cNvPr>
          <p:cNvPicPr>
            <a:picLocks noChangeAspect="1"/>
          </p:cNvPicPr>
          <p:nvPr/>
        </p:nvPicPr>
        <p:blipFill rotWithShape="1">
          <a:blip r:embed="rId3"/>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35831556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5EF2C-7413-4C79-80A7-24E251FA47AC}"/>
              </a:ext>
            </a:extLst>
          </p:cNvPr>
          <p:cNvSpPr>
            <a:spLocks noGrp="1"/>
          </p:cNvSpPr>
          <p:nvPr>
            <p:ph type="title"/>
          </p:nvPr>
        </p:nvSpPr>
        <p:spPr>
          <a:xfrm>
            <a:off x="6096000" y="197982"/>
            <a:ext cx="4869688" cy="996054"/>
          </a:xfrm>
        </p:spPr>
        <p:txBody>
          <a:bodyPr anchor="b">
            <a:normAutofit/>
          </a:bodyPr>
          <a:lstStyle/>
          <a:p>
            <a:r>
              <a:rPr lang="en-US" sz="3200" b="1" dirty="0"/>
              <a:t>Unintended Consequences</a:t>
            </a:r>
          </a:p>
        </p:txBody>
      </p:sp>
      <p:pic>
        <p:nvPicPr>
          <p:cNvPr id="7" name="Picture 6" descr="A group of pictures on a wall&#10;&#10;Description automatically generated">
            <a:extLst>
              <a:ext uri="{FF2B5EF4-FFF2-40B4-BE49-F238E27FC236}">
                <a16:creationId xmlns:a16="http://schemas.microsoft.com/office/drawing/2014/main" id="{6F5196DC-1769-EB3B-0091-7BD98CAEFD29}"/>
              </a:ext>
            </a:extLst>
          </p:cNvPr>
          <p:cNvPicPr>
            <a:picLocks noChangeAspect="1"/>
          </p:cNvPicPr>
          <p:nvPr/>
        </p:nvPicPr>
        <p:blipFill rotWithShape="1">
          <a:blip r:embed="rId2"/>
          <a:srcRect l="31346" t="18686" r="-2" b="7587"/>
          <a:stretch/>
        </p:blipFill>
        <p:spPr>
          <a:xfrm>
            <a:off x="0" y="3720"/>
            <a:ext cx="5181600" cy="6827358"/>
          </a:xfrm>
          <a:prstGeom prst="rect">
            <a:avLst/>
          </a:prstGeom>
        </p:spPr>
      </p:pic>
      <p:sp>
        <p:nvSpPr>
          <p:cNvPr id="29" name="Rectangle 23">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5">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8" name="Rectangle 27">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Content Placeholder 2">
            <a:extLst>
              <a:ext uri="{FF2B5EF4-FFF2-40B4-BE49-F238E27FC236}">
                <a16:creationId xmlns:a16="http://schemas.microsoft.com/office/drawing/2014/main" id="{34A6FFF9-0C91-D998-E450-E6062776EEE7}"/>
              </a:ext>
            </a:extLst>
          </p:cNvPr>
          <p:cNvSpPr>
            <a:spLocks noGrp="1"/>
          </p:cNvSpPr>
          <p:nvPr>
            <p:ph idx="1"/>
          </p:nvPr>
        </p:nvSpPr>
        <p:spPr>
          <a:xfrm>
            <a:off x="5943601" y="1361440"/>
            <a:ext cx="6248380" cy="5146176"/>
          </a:xfrm>
        </p:spPr>
        <p:txBody>
          <a:bodyPr anchor="t">
            <a:normAutofit fontScale="92500"/>
          </a:bodyPr>
          <a:lstStyle/>
          <a:p>
            <a:r>
              <a:rPr lang="en-US" sz="2400" kern="100" dirty="0">
                <a:effectLst/>
                <a:latin typeface="Calibri" panose="020F0502020204030204" pitchFamily="34" charset="0"/>
                <a:ea typeface="Calibri" panose="020F0502020204030204" pitchFamily="34" charset="0"/>
                <a:cs typeface="Times New Roman" panose="02020603050405020304" pitchFamily="18" charset="0"/>
              </a:rPr>
              <a:t>Deepening digital divide</a:t>
            </a:r>
          </a:p>
          <a:p>
            <a:r>
              <a:rPr lang="en-US" sz="2400" kern="100" dirty="0">
                <a:latin typeface="Calibri" panose="020F0502020204030204" pitchFamily="34" charset="0"/>
                <a:ea typeface="Calibri" panose="020F0502020204030204" pitchFamily="34" charset="0"/>
                <a:cs typeface="Times New Roman" panose="02020603050405020304" pitchFamily="18" charset="0"/>
              </a:rPr>
              <a:t>Deepening of </a:t>
            </a:r>
            <a:r>
              <a:rPr lang="en-US" sz="2400" kern="100" dirty="0">
                <a:effectLst/>
                <a:latin typeface="Calibri" panose="020F0502020204030204" pitchFamily="34" charset="0"/>
                <a:ea typeface="Calibri" panose="020F0502020204030204" pitchFamily="34" charset="0"/>
                <a:cs typeface="Times New Roman" panose="02020603050405020304" pitchFamily="18" charset="0"/>
              </a:rPr>
              <a:t>inequalities and biases</a:t>
            </a:r>
          </a:p>
          <a:p>
            <a:r>
              <a:rPr lang="en-US" sz="2400" kern="100" dirty="0">
                <a:latin typeface="Calibri" panose="020F0502020204030204" pitchFamily="34" charset="0"/>
                <a:ea typeface="Calibri" panose="020F0502020204030204" pitchFamily="34" charset="0"/>
                <a:cs typeface="Times New Roman" panose="02020603050405020304" pitchFamily="18" charset="0"/>
              </a:rPr>
              <a:t>Exclusion of Africa/Namibia due to data poverty</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400" kern="100" dirty="0">
                <a:latin typeface="Calibri" panose="020F0502020204030204" pitchFamily="34" charset="0"/>
                <a:ea typeface="Calibri" panose="020F0502020204030204" pitchFamily="34" charset="0"/>
                <a:cs typeface="Times New Roman" panose="02020603050405020304" pitchFamily="18" charset="0"/>
              </a:rPr>
              <a:t>Future of Work / Job losses</a:t>
            </a:r>
          </a:p>
          <a:p>
            <a:r>
              <a:rPr lang="en-US" sz="2400" kern="100" dirty="0">
                <a:latin typeface="Calibri" panose="020F0502020204030204" pitchFamily="34" charset="0"/>
                <a:ea typeface="Calibri" panose="020F0502020204030204" pitchFamily="34" charset="0"/>
                <a:cs typeface="Times New Roman" panose="02020603050405020304" pitchFamily="18" charset="0"/>
              </a:rPr>
              <a:t>Unequal development of legislation</a:t>
            </a:r>
          </a:p>
          <a:p>
            <a:r>
              <a:rPr lang="en-US" sz="2400" kern="100" dirty="0">
                <a:effectLst/>
                <a:latin typeface="Calibri" panose="020F0502020204030204" pitchFamily="34" charset="0"/>
                <a:ea typeface="Calibri" panose="020F0502020204030204" pitchFamily="34" charset="0"/>
                <a:cs typeface="Times New Roman" panose="02020603050405020304" pitchFamily="18" charset="0"/>
              </a:rPr>
              <a:t>Weaponization of AI</a:t>
            </a:r>
          </a:p>
          <a:p>
            <a:r>
              <a:rPr lang="en-US" sz="2400" kern="100" dirty="0">
                <a:latin typeface="Calibri" panose="020F0502020204030204" pitchFamily="34" charset="0"/>
                <a:ea typeface="Calibri" panose="020F0502020204030204" pitchFamily="34" charset="0"/>
                <a:cs typeface="Times New Roman" panose="02020603050405020304" pitchFamily="18" charset="0"/>
              </a:rPr>
              <a:t>Exclusion of Africa’s values, indigenous knowledge in AI solutions</a:t>
            </a:r>
          </a:p>
          <a:p>
            <a:r>
              <a:rPr lang="en-US" sz="2400" kern="100" dirty="0">
                <a:latin typeface="Calibri" panose="020F0502020204030204" pitchFamily="34" charset="0"/>
                <a:ea typeface="Calibri" panose="020F0502020204030204" pitchFamily="34" charset="0"/>
                <a:cs typeface="Times New Roman" panose="02020603050405020304" pitchFamily="18" charset="0"/>
              </a:rPr>
              <a:t>Unethical and irresponsible development of AI</a:t>
            </a:r>
          </a:p>
          <a:p>
            <a:r>
              <a:rPr lang="en-US" sz="2400" kern="100" dirty="0">
                <a:effectLst/>
                <a:latin typeface="Calibri" panose="020F0502020204030204" pitchFamily="34" charset="0"/>
                <a:ea typeface="Calibri" panose="020F0502020204030204" pitchFamily="34" charset="0"/>
                <a:cs typeface="Times New Roman" panose="02020603050405020304" pitchFamily="18" charset="0"/>
              </a:rPr>
              <a:t>Human-centered AI</a:t>
            </a:r>
          </a:p>
          <a:p>
            <a:r>
              <a:rPr lang="en-US" sz="2400" kern="100" dirty="0">
                <a:latin typeface="Calibri" panose="020F0502020204030204" pitchFamily="34" charset="0"/>
                <a:ea typeface="Calibri" panose="020F0502020204030204" pitchFamily="34" charset="0"/>
                <a:cs typeface="Times New Roman" panose="02020603050405020304" pitchFamily="18" charset="0"/>
              </a:rPr>
              <a:t>Potential loss of indigenous languages</a:t>
            </a:r>
          </a:p>
          <a:p>
            <a:r>
              <a:rPr lang="en-US" sz="2400" kern="100" dirty="0" err="1">
                <a:latin typeface="Calibri" panose="020F0502020204030204" pitchFamily="34" charset="0"/>
                <a:ea typeface="Calibri" panose="020F0502020204030204" pitchFamily="34" charset="0"/>
                <a:cs typeface="Times New Roman" panose="02020603050405020304" pitchFamily="18" charset="0"/>
              </a:rPr>
              <a:t>E</a:t>
            </a:r>
            <a:r>
              <a:rPr lang="en-US" sz="2400" kern="100" dirty="0" err="1">
                <a:effectLst/>
                <a:latin typeface="Calibri" panose="020F0502020204030204" pitchFamily="34" charset="0"/>
                <a:ea typeface="Calibri" panose="020F0502020204030204" pitchFamily="34" charset="0"/>
                <a:cs typeface="Times New Roman" panose="02020603050405020304" pitchFamily="18" charset="0"/>
              </a:rPr>
              <a:t>tc</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400" dirty="0"/>
          </a:p>
          <a:p>
            <a:endParaRPr lang="en-US" sz="2400" dirty="0"/>
          </a:p>
        </p:txBody>
      </p:sp>
      <p:pic>
        <p:nvPicPr>
          <p:cNvPr id="9" name="Picture 8" descr="A logo of a science company&#10;&#10;Description automatically generated">
            <a:extLst>
              <a:ext uri="{FF2B5EF4-FFF2-40B4-BE49-F238E27FC236}">
                <a16:creationId xmlns:a16="http://schemas.microsoft.com/office/drawing/2014/main" id="{A9A90253-0ACE-A168-FC8D-D0D99B25E9D3}"/>
              </a:ext>
            </a:extLst>
          </p:cNvPr>
          <p:cNvPicPr>
            <a:picLocks noChangeAspect="1"/>
          </p:cNvPicPr>
          <p:nvPr/>
        </p:nvPicPr>
        <p:blipFill rotWithShape="1">
          <a:blip r:embed="rId3"/>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1166197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walking towards solar panels&#10;&#10;Description automatically generated">
            <a:extLst>
              <a:ext uri="{FF2B5EF4-FFF2-40B4-BE49-F238E27FC236}">
                <a16:creationId xmlns:a16="http://schemas.microsoft.com/office/drawing/2014/main" id="{6D9F2B17-B0F6-6548-3E34-DB40E4B4E6CF}"/>
              </a:ext>
            </a:extLst>
          </p:cNvPr>
          <p:cNvPicPr>
            <a:picLocks noChangeAspect="1"/>
          </p:cNvPicPr>
          <p:nvPr/>
        </p:nvPicPr>
        <p:blipFill rotWithShape="1">
          <a:blip r:embed="rId2"/>
          <a:srcRect r="21111"/>
          <a:stretch/>
        </p:blipFill>
        <p:spPr>
          <a:xfrm>
            <a:off x="-1" y="-2"/>
            <a:ext cx="5410198" cy="6858002"/>
          </a:xfrm>
          <a:prstGeom prst="rect">
            <a:avLst/>
          </a:prstGeom>
        </p:spPr>
      </p:pic>
      <p:sp useBgFill="1">
        <p:nvSpPr>
          <p:cNvPr id="14" name="Rectangle 13">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00C8AE-A369-EA13-6F23-53BDA6FBC1C0}"/>
              </a:ext>
            </a:extLst>
          </p:cNvPr>
          <p:cNvSpPr>
            <a:spLocks noGrp="1"/>
          </p:cNvSpPr>
          <p:nvPr>
            <p:ph type="title"/>
          </p:nvPr>
        </p:nvSpPr>
        <p:spPr>
          <a:xfrm>
            <a:off x="5514631" y="170644"/>
            <a:ext cx="5464968" cy="897039"/>
          </a:xfrm>
        </p:spPr>
        <p:txBody>
          <a:bodyPr>
            <a:normAutofit/>
          </a:bodyPr>
          <a:lstStyle/>
          <a:p>
            <a:r>
              <a:rPr lang="en-US" sz="4000" b="1" dirty="0"/>
              <a:t>Namibia AI Opportunities</a:t>
            </a:r>
          </a:p>
        </p:txBody>
      </p:sp>
      <p:sp>
        <p:nvSpPr>
          <p:cNvPr id="3" name="Content Placeholder 2">
            <a:extLst>
              <a:ext uri="{FF2B5EF4-FFF2-40B4-BE49-F238E27FC236}">
                <a16:creationId xmlns:a16="http://schemas.microsoft.com/office/drawing/2014/main" id="{DBCD35A4-A8D5-1494-1DAF-A2D689E697DE}"/>
              </a:ext>
            </a:extLst>
          </p:cNvPr>
          <p:cNvSpPr>
            <a:spLocks noGrp="1"/>
          </p:cNvSpPr>
          <p:nvPr>
            <p:ph idx="1"/>
          </p:nvPr>
        </p:nvSpPr>
        <p:spPr>
          <a:xfrm>
            <a:off x="5410198" y="926757"/>
            <a:ext cx="6781802" cy="5742214"/>
          </a:xfrm>
        </p:spPr>
        <p:txBody>
          <a:bodyPr anchor="ctr">
            <a:normAutofit lnSpcReduction="10000"/>
          </a:bodyPr>
          <a:lstStyle/>
          <a:p>
            <a:pPr>
              <a:buFont typeface="Arial" panose="020B0604020202020204" pitchFamily="34" charset="0"/>
              <a:buChar char="•"/>
            </a:pPr>
            <a:endParaRPr lang="en-US" sz="2000" b="0" i="0" dirty="0">
              <a:effectLst/>
              <a:latin typeface="Söhne"/>
            </a:endParaRPr>
          </a:p>
          <a:p>
            <a:pPr>
              <a:buFont typeface="Arial" panose="020B0604020202020204" pitchFamily="34" charset="0"/>
              <a:buChar char="•"/>
            </a:pPr>
            <a:r>
              <a:rPr lang="en-US" sz="2000" b="0" i="0" dirty="0">
                <a:effectLst/>
                <a:latin typeface="Söhne"/>
              </a:rPr>
              <a:t>Namibia's youthful population and emerging startup ecosystem provide a fertile ground for technological innovation and AI development.</a:t>
            </a:r>
          </a:p>
          <a:p>
            <a:pPr>
              <a:buFont typeface="Arial" panose="020B0604020202020204" pitchFamily="34" charset="0"/>
              <a:buChar char="•"/>
            </a:pPr>
            <a:r>
              <a:rPr lang="en-US" sz="2000" dirty="0">
                <a:latin typeface="Söhne"/>
              </a:rPr>
              <a:t>T</a:t>
            </a:r>
            <a:r>
              <a:rPr lang="en-US" sz="2000" b="0" i="0" dirty="0">
                <a:effectLst/>
                <a:latin typeface="Söhne"/>
              </a:rPr>
              <a:t>echnological leapfrogging</a:t>
            </a:r>
          </a:p>
          <a:p>
            <a:pPr>
              <a:buFont typeface="Arial" panose="020B0604020202020204" pitchFamily="34" charset="0"/>
              <a:buChar char="•"/>
            </a:pPr>
            <a:r>
              <a:rPr lang="en-US" sz="2000" dirty="0">
                <a:latin typeface="Söhne"/>
              </a:rPr>
              <a:t>Plenty of challenges to be solved, e.g.</a:t>
            </a:r>
          </a:p>
          <a:p>
            <a:pPr lvl="1"/>
            <a:r>
              <a:rPr lang="en-US" sz="2000" dirty="0">
                <a:latin typeface="Söhne"/>
              </a:rPr>
              <a:t>Climate Adaptation, Mitigation &amp; Resilience</a:t>
            </a:r>
          </a:p>
          <a:p>
            <a:pPr lvl="1"/>
            <a:r>
              <a:rPr lang="en-US" sz="2000" dirty="0">
                <a:latin typeface="Söhne"/>
              </a:rPr>
              <a:t>Clean water and sanitation </a:t>
            </a:r>
          </a:p>
          <a:p>
            <a:pPr lvl="1"/>
            <a:r>
              <a:rPr lang="en-US" sz="2000" dirty="0">
                <a:latin typeface="Söhne"/>
              </a:rPr>
              <a:t>Energy</a:t>
            </a:r>
          </a:p>
          <a:p>
            <a:pPr lvl="1"/>
            <a:r>
              <a:rPr lang="en-US" sz="2000" dirty="0">
                <a:latin typeface="Söhne"/>
              </a:rPr>
              <a:t>Food security</a:t>
            </a:r>
          </a:p>
          <a:p>
            <a:pPr lvl="1"/>
            <a:r>
              <a:rPr lang="en-US" sz="2000" dirty="0">
                <a:latin typeface="Söhne"/>
              </a:rPr>
              <a:t>One Health</a:t>
            </a:r>
          </a:p>
          <a:p>
            <a:pPr lvl="1"/>
            <a:r>
              <a:rPr lang="en-US" sz="2000" dirty="0">
                <a:latin typeface="Söhne"/>
              </a:rPr>
              <a:t>Education and Skills</a:t>
            </a:r>
          </a:p>
          <a:p>
            <a:pPr lvl="1"/>
            <a:r>
              <a:rPr lang="en-US" sz="2000" dirty="0">
                <a:latin typeface="Söhne"/>
              </a:rPr>
              <a:t>Space Science and Technologies</a:t>
            </a:r>
          </a:p>
          <a:p>
            <a:pPr lvl="1"/>
            <a:r>
              <a:rPr lang="en-US" sz="2000" dirty="0">
                <a:latin typeface="Söhne"/>
              </a:rPr>
              <a:t>Innovation and Manufacturing</a:t>
            </a:r>
          </a:p>
          <a:p>
            <a:pPr lvl="1"/>
            <a:r>
              <a:rPr lang="en-US" sz="2000" dirty="0">
                <a:latin typeface="Söhne"/>
              </a:rPr>
              <a:t>Indigenous Knowledge Management</a:t>
            </a:r>
          </a:p>
          <a:p>
            <a:r>
              <a:rPr lang="en-US" sz="2000" dirty="0">
                <a:latin typeface="Söhne"/>
              </a:rPr>
              <a:t>E</a:t>
            </a:r>
            <a:r>
              <a:rPr lang="en-US" sz="2000" b="0" i="0" dirty="0">
                <a:effectLst/>
                <a:latin typeface="Söhne"/>
              </a:rPr>
              <a:t>thics, responsible, trustworthy, human-centered AI development</a:t>
            </a:r>
          </a:p>
          <a:p>
            <a:endParaRPr lang="en-US" sz="2000" b="0" i="0" dirty="0">
              <a:effectLst/>
              <a:latin typeface="Google Sans"/>
            </a:endParaRPr>
          </a:p>
          <a:p>
            <a:endParaRPr lang="en-US" sz="2000" dirty="0"/>
          </a:p>
        </p:txBody>
      </p:sp>
      <p:pic>
        <p:nvPicPr>
          <p:cNvPr id="10" name="Picture 9" descr="A screenshot of a computer screen&#10;&#10;Description automatically generated">
            <a:extLst>
              <a:ext uri="{FF2B5EF4-FFF2-40B4-BE49-F238E27FC236}">
                <a16:creationId xmlns:a16="http://schemas.microsoft.com/office/drawing/2014/main" id="{A27A0E52-49D6-26DE-74BE-7A1D100B03D8}"/>
              </a:ext>
            </a:extLst>
          </p:cNvPr>
          <p:cNvPicPr>
            <a:picLocks noChangeAspect="1"/>
          </p:cNvPicPr>
          <p:nvPr/>
        </p:nvPicPr>
        <p:blipFill rotWithShape="1">
          <a:blip r:embed="rId3"/>
          <a:srcRect l="12306" t="14407" r="12448" b="56181"/>
          <a:stretch/>
        </p:blipFill>
        <p:spPr>
          <a:xfrm rot="19334666">
            <a:off x="-144505" y="2713804"/>
            <a:ext cx="3518502" cy="893962"/>
          </a:xfrm>
          <a:prstGeom prst="rect">
            <a:avLst/>
          </a:prstGeom>
        </p:spPr>
      </p:pic>
      <p:pic>
        <p:nvPicPr>
          <p:cNvPr id="11" name="Picture 10" descr="A logo of a science company&#10;&#10;Description automatically generated">
            <a:extLst>
              <a:ext uri="{FF2B5EF4-FFF2-40B4-BE49-F238E27FC236}">
                <a16:creationId xmlns:a16="http://schemas.microsoft.com/office/drawing/2014/main" id="{0157A550-E4ED-2E27-90A5-51E062CE83BE}"/>
              </a:ext>
            </a:extLst>
          </p:cNvPr>
          <p:cNvPicPr>
            <a:picLocks noChangeAspect="1"/>
          </p:cNvPicPr>
          <p:nvPr/>
        </p:nvPicPr>
        <p:blipFill rotWithShape="1">
          <a:blip r:embed="rId4"/>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213250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4" descr="Transparent padlock">
            <a:extLst>
              <a:ext uri="{FF2B5EF4-FFF2-40B4-BE49-F238E27FC236}">
                <a16:creationId xmlns:a16="http://schemas.microsoft.com/office/drawing/2014/main" id="{9CCD38DA-268A-EC62-8725-C8FF3694F3D8}"/>
              </a:ext>
            </a:extLst>
          </p:cNvPr>
          <p:cNvPicPr>
            <a:picLocks noChangeAspect="1"/>
          </p:cNvPicPr>
          <p:nvPr/>
        </p:nvPicPr>
        <p:blipFill rotWithShape="1">
          <a:blip r:embed="rId2"/>
          <a:srcRect r="7648" b="2"/>
          <a:stretch/>
        </p:blipFill>
        <p:spPr>
          <a:xfrm>
            <a:off x="0" y="-111765"/>
            <a:ext cx="9669642" cy="6857990"/>
          </a:xfrm>
          <a:prstGeom prst="rect">
            <a:avLst/>
          </a:prstGeom>
        </p:spPr>
      </p:pic>
      <p:sp>
        <p:nvSpPr>
          <p:cNvPr id="21" name="Rectangle 2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A4AAC69-AFDE-5923-0200-357E931E1B1B}"/>
              </a:ext>
            </a:extLst>
          </p:cNvPr>
          <p:cNvSpPr>
            <a:spLocks noGrp="1"/>
          </p:cNvSpPr>
          <p:nvPr>
            <p:ph type="title"/>
          </p:nvPr>
        </p:nvSpPr>
        <p:spPr>
          <a:xfrm>
            <a:off x="6579868" y="-111765"/>
            <a:ext cx="5534770" cy="1899912"/>
          </a:xfrm>
        </p:spPr>
        <p:txBody>
          <a:bodyPr>
            <a:normAutofit/>
          </a:bodyPr>
          <a:lstStyle/>
          <a:p>
            <a:r>
              <a:rPr lang="en-US" sz="4000" b="1" dirty="0"/>
              <a:t>Namibia AI Challenges </a:t>
            </a:r>
          </a:p>
        </p:txBody>
      </p:sp>
      <p:sp>
        <p:nvSpPr>
          <p:cNvPr id="3" name="Content Placeholder 2">
            <a:extLst>
              <a:ext uri="{FF2B5EF4-FFF2-40B4-BE49-F238E27FC236}">
                <a16:creationId xmlns:a16="http://schemas.microsoft.com/office/drawing/2014/main" id="{D3551128-CCD1-CEA7-35DA-C61E3B3299B7}"/>
              </a:ext>
            </a:extLst>
          </p:cNvPr>
          <p:cNvSpPr>
            <a:spLocks noGrp="1"/>
          </p:cNvSpPr>
          <p:nvPr>
            <p:ph idx="1"/>
          </p:nvPr>
        </p:nvSpPr>
        <p:spPr>
          <a:xfrm>
            <a:off x="6571830" y="1455553"/>
            <a:ext cx="5659665" cy="4617104"/>
          </a:xfrm>
        </p:spPr>
        <p:txBody>
          <a:bodyPr>
            <a:normAutofit fontScale="92500" lnSpcReduction="20000"/>
          </a:bodyPr>
          <a:lstStyle/>
          <a:p>
            <a:pPr marL="0" indent="0">
              <a:buNone/>
            </a:pPr>
            <a:r>
              <a:rPr lang="en-US" dirty="0"/>
              <a:t>Includes:</a:t>
            </a:r>
          </a:p>
          <a:p>
            <a:r>
              <a:rPr lang="en-US" dirty="0" err="1"/>
              <a:t>Specialised</a:t>
            </a:r>
            <a:r>
              <a:rPr lang="en-US" dirty="0"/>
              <a:t> skills</a:t>
            </a:r>
          </a:p>
          <a:p>
            <a:r>
              <a:rPr lang="en-US" dirty="0"/>
              <a:t>Educational Reform</a:t>
            </a:r>
          </a:p>
          <a:p>
            <a:r>
              <a:rPr lang="en-US" dirty="0"/>
              <a:t>Legislative and regulatory framework</a:t>
            </a:r>
          </a:p>
          <a:p>
            <a:r>
              <a:rPr lang="en-US" dirty="0"/>
              <a:t>Infrastructure (data centers, energy, equipment, telecommunications, </a:t>
            </a:r>
            <a:r>
              <a:rPr lang="en-US" dirty="0" err="1"/>
              <a:t>etc</a:t>
            </a:r>
            <a:r>
              <a:rPr lang="en-US" dirty="0"/>
              <a:t>)</a:t>
            </a:r>
          </a:p>
          <a:p>
            <a:r>
              <a:rPr lang="en-US" dirty="0"/>
              <a:t>Funding</a:t>
            </a:r>
          </a:p>
          <a:p>
            <a:r>
              <a:rPr lang="en-US" dirty="0"/>
              <a:t>Data poverty</a:t>
            </a:r>
          </a:p>
          <a:p>
            <a:r>
              <a:rPr lang="en-US" dirty="0"/>
              <a:t>Cybersecurity</a:t>
            </a:r>
          </a:p>
          <a:p>
            <a:r>
              <a:rPr lang="en-US" dirty="0"/>
              <a:t>Ethics </a:t>
            </a:r>
          </a:p>
          <a:p>
            <a:r>
              <a:rPr lang="en-US" dirty="0"/>
              <a:t>Human centered AI</a:t>
            </a:r>
          </a:p>
        </p:txBody>
      </p:sp>
      <p:pic>
        <p:nvPicPr>
          <p:cNvPr id="8" name="Picture 7" descr="A logo of a science company&#10;&#10;Description automatically generated">
            <a:extLst>
              <a:ext uri="{FF2B5EF4-FFF2-40B4-BE49-F238E27FC236}">
                <a16:creationId xmlns:a16="http://schemas.microsoft.com/office/drawing/2014/main" id="{EAF177CA-C744-F2F6-8162-98C1F516DA1C}"/>
              </a:ext>
            </a:extLst>
          </p:cNvPr>
          <p:cNvPicPr>
            <a:picLocks noChangeAspect="1"/>
          </p:cNvPicPr>
          <p:nvPr/>
        </p:nvPicPr>
        <p:blipFill rotWithShape="1">
          <a:blip r:embed="rId3"/>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280078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lide Background">
            <a:extLst>
              <a:ext uri="{FF2B5EF4-FFF2-40B4-BE49-F238E27FC236}">
                <a16:creationId xmlns:a16="http://schemas.microsoft.com/office/drawing/2014/main" id="{7DE220E6-BA55-4F04-B3C4-F4985F3E7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tint">
            <a:extLst>
              <a:ext uri="{FF2B5EF4-FFF2-40B4-BE49-F238E27FC236}">
                <a16:creationId xmlns:a16="http://schemas.microsoft.com/office/drawing/2014/main" id="{5AE190BC-D2FD-433E-AB89-0DF68EFD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5644" y="0"/>
            <a:ext cx="1046356"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20" name="Rectangle 19">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16444" y="0"/>
            <a:ext cx="6075554" cy="6858000"/>
          </a:xfrm>
          <a:prstGeom prst="rect">
            <a:avLst/>
          </a:prstGeom>
          <a:ln>
            <a:noFill/>
          </a:ln>
          <a:effectLst>
            <a:outerShdw blurRad="508000" dist="190500" dir="546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4CFB40-4F37-9FF3-C22F-320B4A8571C7}"/>
              </a:ext>
            </a:extLst>
          </p:cNvPr>
          <p:cNvSpPr>
            <a:spLocks noGrp="1"/>
          </p:cNvSpPr>
          <p:nvPr>
            <p:ph type="title"/>
          </p:nvPr>
        </p:nvSpPr>
        <p:spPr>
          <a:xfrm>
            <a:off x="5770078" y="43249"/>
            <a:ext cx="6421920" cy="1062681"/>
          </a:xfrm>
        </p:spPr>
        <p:txBody>
          <a:bodyPr anchor="ctr">
            <a:normAutofit/>
          </a:bodyPr>
          <a:lstStyle/>
          <a:p>
            <a:r>
              <a:rPr lang="en-US" sz="4000" b="1" dirty="0"/>
              <a:t>Namibia: Initiatives</a:t>
            </a:r>
          </a:p>
        </p:txBody>
      </p:sp>
      <p:pic>
        <p:nvPicPr>
          <p:cNvPr id="7" name="Content Placeholder 30" descr="A screenshot of a computer&#10;&#10;Description automatically generated">
            <a:extLst>
              <a:ext uri="{FF2B5EF4-FFF2-40B4-BE49-F238E27FC236}">
                <a16:creationId xmlns:a16="http://schemas.microsoft.com/office/drawing/2014/main" id="{1CEE8C68-BF64-503C-479F-28552C30AFDE}"/>
              </a:ext>
            </a:extLst>
          </p:cNvPr>
          <p:cNvPicPr>
            <a:picLocks noChangeAspect="1"/>
          </p:cNvPicPr>
          <p:nvPr/>
        </p:nvPicPr>
        <p:blipFill rotWithShape="1">
          <a:blip r:embed="rId2"/>
          <a:srcRect l="27604" t="18235" r="27719" b="9931"/>
          <a:stretch/>
        </p:blipFill>
        <p:spPr>
          <a:xfrm>
            <a:off x="-3" y="0"/>
            <a:ext cx="5658783" cy="6858000"/>
          </a:xfrm>
          <a:prstGeom prst="rect">
            <a:avLst/>
          </a:prstGeom>
        </p:spPr>
      </p:pic>
      <p:sp>
        <p:nvSpPr>
          <p:cNvPr id="3" name="Content Placeholder 2">
            <a:extLst>
              <a:ext uri="{FF2B5EF4-FFF2-40B4-BE49-F238E27FC236}">
                <a16:creationId xmlns:a16="http://schemas.microsoft.com/office/drawing/2014/main" id="{D03DC5F7-9164-BAA5-3A0D-F2EB6271C838}"/>
              </a:ext>
            </a:extLst>
          </p:cNvPr>
          <p:cNvSpPr>
            <a:spLocks noGrp="1"/>
          </p:cNvSpPr>
          <p:nvPr>
            <p:ph idx="1"/>
          </p:nvPr>
        </p:nvSpPr>
        <p:spPr>
          <a:xfrm>
            <a:off x="5788877" y="902043"/>
            <a:ext cx="6384322" cy="5721095"/>
          </a:xfrm>
        </p:spPr>
        <p:txBody>
          <a:bodyPr anchor="ctr">
            <a:normAutofit/>
          </a:bodyPr>
          <a:lstStyle/>
          <a:p>
            <a:pPr marL="0" indent="0">
              <a:buNone/>
            </a:pPr>
            <a:endParaRPr lang="en-US" sz="1600" dirty="0"/>
          </a:p>
          <a:p>
            <a:r>
              <a:rPr lang="en-US" sz="2000" dirty="0"/>
              <a:t>Draft Overarching ICT Policy (&amp; related ones)</a:t>
            </a:r>
          </a:p>
          <a:p>
            <a:r>
              <a:rPr lang="en-US" sz="2000" dirty="0"/>
              <a:t>Digital Transformation Strategy</a:t>
            </a:r>
          </a:p>
          <a:p>
            <a:r>
              <a:rPr lang="en-US" sz="2000" dirty="0"/>
              <a:t>4IR Task Force Report </a:t>
            </a:r>
          </a:p>
          <a:p>
            <a:r>
              <a:rPr lang="en-US" sz="2000" dirty="0"/>
              <a:t>National 4IR Conference and Expo </a:t>
            </a:r>
          </a:p>
          <a:p>
            <a:r>
              <a:rPr lang="en-US" sz="2000" dirty="0"/>
              <a:t>UNESCO Southern Africa Subregional Forum on AI </a:t>
            </a:r>
          </a:p>
          <a:p>
            <a:r>
              <a:rPr lang="en-US" sz="2000" dirty="0"/>
              <a:t>Capacity Building: </a:t>
            </a:r>
          </a:p>
          <a:p>
            <a:pPr lvl="1"/>
            <a:r>
              <a:rPr lang="en-US" sz="1600" dirty="0"/>
              <a:t>Curriculum development efforts</a:t>
            </a:r>
          </a:p>
          <a:p>
            <a:pPr lvl="1"/>
            <a:r>
              <a:rPr lang="en-US" sz="1600" dirty="0"/>
              <a:t>Data Science (UNAM and NUST)</a:t>
            </a:r>
          </a:p>
          <a:p>
            <a:pPr lvl="1"/>
            <a:r>
              <a:rPr lang="en-US" sz="1600" dirty="0"/>
              <a:t>Bachelors AI and HCI (NUST)</a:t>
            </a:r>
          </a:p>
          <a:p>
            <a:pPr lvl="1"/>
            <a:r>
              <a:rPr lang="en-US" sz="1600" dirty="0"/>
              <a:t>Human Centered AI Dev for for startups)</a:t>
            </a:r>
          </a:p>
          <a:p>
            <a:r>
              <a:rPr lang="en-US" sz="2000" dirty="0"/>
              <a:t>AI Virtual Institute at UNAM</a:t>
            </a:r>
          </a:p>
          <a:p>
            <a:r>
              <a:rPr lang="en-US" sz="2000" dirty="0"/>
              <a:t>NCRST: Research and Innovation grants; NPRSTI</a:t>
            </a:r>
          </a:p>
          <a:p>
            <a:r>
              <a:rPr lang="en-US" sz="2000" dirty="0"/>
              <a:t>National AI Working Group </a:t>
            </a:r>
          </a:p>
          <a:p>
            <a:r>
              <a:rPr lang="en-US" sz="2000" dirty="0"/>
              <a:t>Telecoms Infrastructure (e.g. 5G)</a:t>
            </a:r>
          </a:p>
          <a:p>
            <a:endParaRPr lang="en-US" sz="2000" dirty="0"/>
          </a:p>
          <a:p>
            <a:endParaRPr lang="en-US" sz="800" dirty="0"/>
          </a:p>
        </p:txBody>
      </p:sp>
      <p:pic>
        <p:nvPicPr>
          <p:cNvPr id="10" name="Picture 9" descr="A logo of a science company&#10;&#10;Description automatically generated">
            <a:extLst>
              <a:ext uri="{FF2B5EF4-FFF2-40B4-BE49-F238E27FC236}">
                <a16:creationId xmlns:a16="http://schemas.microsoft.com/office/drawing/2014/main" id="{5B5AF9DC-A4AC-7A5F-343F-8B64988A3752}"/>
              </a:ext>
            </a:extLst>
          </p:cNvPr>
          <p:cNvPicPr>
            <a:picLocks noChangeAspect="1"/>
          </p:cNvPicPr>
          <p:nvPr/>
        </p:nvPicPr>
        <p:blipFill rotWithShape="1">
          <a:blip r:embed="rId3"/>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4233223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0FFE08-AB42-1A47-8EA0-4DDF2E47B318}"/>
              </a:ext>
            </a:extLst>
          </p:cNvPr>
          <p:cNvSpPr>
            <a:spLocks noGrp="1"/>
          </p:cNvSpPr>
          <p:nvPr>
            <p:ph type="title"/>
          </p:nvPr>
        </p:nvSpPr>
        <p:spPr>
          <a:xfrm>
            <a:off x="5320414" y="0"/>
            <a:ext cx="6096000" cy="955040"/>
          </a:xfrm>
        </p:spPr>
        <p:txBody>
          <a:bodyPr anchor="ctr">
            <a:normAutofit/>
          </a:bodyPr>
          <a:lstStyle/>
          <a:p>
            <a:pPr algn="ctr"/>
            <a:r>
              <a:rPr lang="en-US" sz="3600" kern="0" dirty="0">
                <a:effectLst/>
                <a:latin typeface="Calibri" panose="020F0502020204030204" pitchFamily="34" charset="0"/>
                <a:ea typeface="Times New Roman" panose="02020603050405020304" pitchFamily="18" charset="0"/>
                <a:cs typeface="Calibri" panose="020F0502020204030204" pitchFamily="34" charset="0"/>
              </a:rPr>
              <a:t>Future Opportunities: AI</a:t>
            </a:r>
            <a:endParaRPr lang="en-US" sz="2800" b="1" dirty="0"/>
          </a:p>
        </p:txBody>
      </p:sp>
      <p:pic>
        <p:nvPicPr>
          <p:cNvPr id="5" name="Picture 4" descr="Arial view of a river, dam and lake">
            <a:extLst>
              <a:ext uri="{FF2B5EF4-FFF2-40B4-BE49-F238E27FC236}">
                <a16:creationId xmlns:a16="http://schemas.microsoft.com/office/drawing/2014/main" id="{27701820-C91D-87D5-C70F-82DAFB17FD7F}"/>
              </a:ext>
            </a:extLst>
          </p:cNvPr>
          <p:cNvPicPr>
            <a:picLocks noChangeAspect="1"/>
          </p:cNvPicPr>
          <p:nvPr/>
        </p:nvPicPr>
        <p:blipFill rotWithShape="1">
          <a:blip r:embed="rId2"/>
          <a:srcRect l="5439" r="5673"/>
          <a:stretch/>
        </p:blipFill>
        <p:spPr>
          <a:xfrm>
            <a:off x="-1" y="-2"/>
            <a:ext cx="5229799" cy="6858002"/>
          </a:xfrm>
          <a:prstGeom prst="rect">
            <a:avLst/>
          </a:prstGeom>
        </p:spPr>
      </p:pic>
      <p:sp>
        <p:nvSpPr>
          <p:cNvPr id="3" name="Content Placeholder 2">
            <a:extLst>
              <a:ext uri="{FF2B5EF4-FFF2-40B4-BE49-F238E27FC236}">
                <a16:creationId xmlns:a16="http://schemas.microsoft.com/office/drawing/2014/main" id="{10D32AC5-54F7-5B41-2878-34652BC01F12}"/>
              </a:ext>
            </a:extLst>
          </p:cNvPr>
          <p:cNvSpPr>
            <a:spLocks noGrp="1"/>
          </p:cNvSpPr>
          <p:nvPr>
            <p:ph idx="1"/>
          </p:nvPr>
        </p:nvSpPr>
        <p:spPr>
          <a:xfrm>
            <a:off x="5461171" y="748773"/>
            <a:ext cx="6343036" cy="5902960"/>
          </a:xfrm>
        </p:spPr>
        <p:txBody>
          <a:bodyPr anchor="ctr">
            <a:normAutofit/>
          </a:bodyPr>
          <a:lstStyle/>
          <a:p>
            <a:r>
              <a:rPr lang="en-US" sz="2400" dirty="0"/>
              <a:t>Align and integrate with National Research Priorities </a:t>
            </a:r>
          </a:p>
          <a:p>
            <a:r>
              <a:rPr lang="en-US" sz="2400" dirty="0"/>
              <a:t>AI Scientific Solutions to Namibia’s challenges </a:t>
            </a:r>
          </a:p>
          <a:p>
            <a:r>
              <a:rPr lang="en-US" sz="2400" dirty="0"/>
              <a:t>AI in Production and Manufacturing Environments</a:t>
            </a:r>
          </a:p>
          <a:p>
            <a:r>
              <a:rPr lang="en-US" sz="2400" dirty="0"/>
              <a:t>Regional and National AI Research Institutes  </a:t>
            </a:r>
          </a:p>
          <a:p>
            <a:r>
              <a:rPr lang="en-US" sz="2400" dirty="0"/>
              <a:t>AI Governance and enabler frameworks </a:t>
            </a:r>
          </a:p>
          <a:p>
            <a:r>
              <a:rPr lang="en-US" sz="2400" dirty="0"/>
              <a:t>AI </a:t>
            </a:r>
            <a:r>
              <a:rPr lang="en-US" sz="2400" dirty="0" err="1"/>
              <a:t>StartUps</a:t>
            </a:r>
            <a:r>
              <a:rPr lang="en-US" sz="2400" dirty="0"/>
              <a:t>, SMEs and MSMEs</a:t>
            </a:r>
          </a:p>
          <a:p>
            <a:r>
              <a:rPr lang="en-US" sz="2400" dirty="0"/>
              <a:t>Rapid Upskilling and reskilling: Youth, Educators</a:t>
            </a:r>
          </a:p>
          <a:p>
            <a:r>
              <a:rPr lang="en-US" sz="2400" dirty="0"/>
              <a:t>Enabling emerging industries for Green Hydrogen, Oil and Gas, Critical Raw Materials, Blue Economy</a:t>
            </a:r>
          </a:p>
          <a:p>
            <a:pPr marL="457200" lvl="1" indent="0">
              <a:buNone/>
            </a:pPr>
            <a:endParaRPr lang="en-US" sz="1400" dirty="0"/>
          </a:p>
          <a:p>
            <a:endParaRPr lang="en-US" sz="1050" dirty="0"/>
          </a:p>
          <a:p>
            <a:endParaRPr lang="en-US" sz="600" dirty="0"/>
          </a:p>
        </p:txBody>
      </p:sp>
      <p:pic>
        <p:nvPicPr>
          <p:cNvPr id="7" name="Picture 6" descr="A logo of a science company&#10;&#10;Description automatically generated">
            <a:extLst>
              <a:ext uri="{FF2B5EF4-FFF2-40B4-BE49-F238E27FC236}">
                <a16:creationId xmlns:a16="http://schemas.microsoft.com/office/drawing/2014/main" id="{5452676C-CC06-7C60-9666-A65B8B84EE10}"/>
              </a:ext>
            </a:extLst>
          </p:cNvPr>
          <p:cNvPicPr>
            <a:picLocks noChangeAspect="1"/>
          </p:cNvPicPr>
          <p:nvPr/>
        </p:nvPicPr>
        <p:blipFill rotWithShape="1">
          <a:blip r:embed="rId3"/>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1855804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A robot using a laptop sitting on a blue chair">
            <a:extLst>
              <a:ext uri="{FF2B5EF4-FFF2-40B4-BE49-F238E27FC236}">
                <a16:creationId xmlns:a16="http://schemas.microsoft.com/office/drawing/2014/main" id="{B46261B0-DBB8-10A7-56CD-D11F1304B4E6}"/>
              </a:ext>
            </a:extLst>
          </p:cNvPr>
          <p:cNvPicPr>
            <a:picLocks noChangeAspect="1"/>
          </p:cNvPicPr>
          <p:nvPr/>
        </p:nvPicPr>
        <p:blipFill rotWithShape="1">
          <a:blip r:embed="rId2"/>
          <a:srcRect l="54830" r="795"/>
          <a:stretch/>
        </p:blipFill>
        <p:spPr>
          <a:xfrm>
            <a:off x="-1" y="-2"/>
            <a:ext cx="5410198" cy="6858002"/>
          </a:xfrm>
          <a:prstGeom prst="rect">
            <a:avLst/>
          </a:prstGeom>
        </p:spPr>
      </p:pic>
      <p:sp useBgFill="1">
        <p:nvSpPr>
          <p:cNvPr id="24" name="Rectangle 23">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6E0D1D-EB5B-8E1A-9122-5CFB25D4E296}"/>
              </a:ext>
            </a:extLst>
          </p:cNvPr>
          <p:cNvSpPr>
            <a:spLocks noGrp="1"/>
          </p:cNvSpPr>
          <p:nvPr>
            <p:ph type="title"/>
          </p:nvPr>
        </p:nvSpPr>
        <p:spPr>
          <a:xfrm>
            <a:off x="6076684" y="0"/>
            <a:ext cx="5932521" cy="1559301"/>
          </a:xfrm>
        </p:spPr>
        <p:txBody>
          <a:bodyPr>
            <a:normAutofit/>
          </a:bodyPr>
          <a:lstStyle/>
          <a:p>
            <a:r>
              <a:rPr lang="en-US" sz="4000" b="1" dirty="0"/>
              <a:t>National AI Working Group</a:t>
            </a:r>
          </a:p>
        </p:txBody>
      </p:sp>
      <p:sp>
        <p:nvSpPr>
          <p:cNvPr id="3" name="Content Placeholder 2">
            <a:extLst>
              <a:ext uri="{FF2B5EF4-FFF2-40B4-BE49-F238E27FC236}">
                <a16:creationId xmlns:a16="http://schemas.microsoft.com/office/drawing/2014/main" id="{20B0B973-D6FF-1665-716C-7A890D7D4AD9}"/>
              </a:ext>
            </a:extLst>
          </p:cNvPr>
          <p:cNvSpPr>
            <a:spLocks noGrp="1"/>
          </p:cNvSpPr>
          <p:nvPr>
            <p:ph idx="1"/>
          </p:nvPr>
        </p:nvSpPr>
        <p:spPr>
          <a:xfrm>
            <a:off x="5410198" y="481914"/>
            <a:ext cx="6781802" cy="6604185"/>
          </a:xfrm>
        </p:spPr>
        <p:txBody>
          <a:bodyPr anchor="ctr">
            <a:normAutofit/>
          </a:bodyPr>
          <a:lstStyle/>
          <a:p>
            <a:r>
              <a:rPr lang="en-US" sz="2000" b="1" dirty="0"/>
              <a:t>Steering Committee: </a:t>
            </a:r>
            <a:r>
              <a:rPr lang="en-US" sz="2000" dirty="0"/>
              <a:t>NPC, NCRST, MHETI, MICT, OPM, MEAC, MHSS, NUST, UNAM, IUM (MOD, CRAN invited)</a:t>
            </a:r>
          </a:p>
          <a:p>
            <a:pPr lvl="1"/>
            <a:r>
              <a:rPr lang="en-US" sz="1800" dirty="0"/>
              <a:t>Thematic Technical Groups: </a:t>
            </a:r>
            <a:r>
              <a:rPr lang="en-US" sz="1800"/>
              <a:t>Diverse experts. </a:t>
            </a:r>
            <a:endParaRPr lang="en-US" sz="1800" dirty="0"/>
          </a:p>
          <a:p>
            <a:r>
              <a:rPr lang="en-US" sz="2000" b="1" dirty="0"/>
              <a:t>R&amp;D and Innovation Strategy for AI</a:t>
            </a:r>
          </a:p>
          <a:p>
            <a:r>
              <a:rPr lang="en-US" sz="2000" b="1" dirty="0"/>
              <a:t>Education and Skills: </a:t>
            </a:r>
            <a:r>
              <a:rPr lang="en-US" sz="2000" dirty="0"/>
              <a:t>Develop Namibian </a:t>
            </a:r>
            <a:r>
              <a:rPr lang="en-US" sz="2000" b="1" dirty="0"/>
              <a:t>expertise</a:t>
            </a:r>
            <a:r>
              <a:rPr lang="en-US" sz="2000" dirty="0"/>
              <a:t> in AI</a:t>
            </a:r>
            <a:endParaRPr lang="en-US" sz="2000" b="1" dirty="0"/>
          </a:p>
          <a:p>
            <a:r>
              <a:rPr lang="en-US" sz="2000" b="1" dirty="0"/>
              <a:t>Co-design</a:t>
            </a:r>
            <a:r>
              <a:rPr lang="en-US" sz="2000" dirty="0"/>
              <a:t> the priority areas and implement</a:t>
            </a:r>
          </a:p>
          <a:p>
            <a:r>
              <a:rPr lang="en-US" sz="2000" b="1" dirty="0"/>
              <a:t>Infrastructure </a:t>
            </a:r>
          </a:p>
          <a:p>
            <a:r>
              <a:rPr lang="en-US" sz="2000" b="1" dirty="0"/>
              <a:t>Data Governance and Infrastructure</a:t>
            </a:r>
          </a:p>
          <a:p>
            <a:r>
              <a:rPr lang="en-US" sz="2000" b="1" dirty="0"/>
              <a:t>Partnerships</a:t>
            </a:r>
          </a:p>
          <a:p>
            <a:r>
              <a:rPr lang="en-US" sz="2000" dirty="0"/>
              <a:t>Develop </a:t>
            </a:r>
            <a:r>
              <a:rPr lang="en-US" sz="2000" b="1" dirty="0"/>
              <a:t>standards and guidelines </a:t>
            </a:r>
            <a:r>
              <a:rPr lang="en-US" sz="2000" dirty="0"/>
              <a:t>for ethical, responsible and human-centered AI RD&amp;I in Namibia</a:t>
            </a:r>
          </a:p>
          <a:p>
            <a:r>
              <a:rPr lang="en-US" sz="2000" dirty="0"/>
              <a:t>AI Innovators and </a:t>
            </a:r>
            <a:r>
              <a:rPr lang="en-US" sz="2000" dirty="0" err="1"/>
              <a:t>StartUps</a:t>
            </a:r>
            <a:endParaRPr lang="en-US" sz="2000" b="1" dirty="0"/>
          </a:p>
          <a:p>
            <a:pPr marL="0" indent="0">
              <a:buNone/>
            </a:pPr>
            <a:endParaRPr lang="en-US" sz="2000" b="1" dirty="0"/>
          </a:p>
          <a:p>
            <a:r>
              <a:rPr lang="en-US" sz="2000" dirty="0"/>
              <a:t>Establish the </a:t>
            </a:r>
            <a:r>
              <a:rPr lang="en-US" sz="2000" b="1" dirty="0"/>
              <a:t>National AI Institute</a:t>
            </a:r>
          </a:p>
        </p:txBody>
      </p:sp>
      <p:pic>
        <p:nvPicPr>
          <p:cNvPr id="10" name="Picture 9" descr="A logo of a science company&#10;&#10;Description automatically generated">
            <a:extLst>
              <a:ext uri="{FF2B5EF4-FFF2-40B4-BE49-F238E27FC236}">
                <a16:creationId xmlns:a16="http://schemas.microsoft.com/office/drawing/2014/main" id="{7AE099CF-76CA-DB24-BF5D-ADB454B6A9D1}"/>
              </a:ext>
            </a:extLst>
          </p:cNvPr>
          <p:cNvPicPr>
            <a:picLocks noChangeAspect="1"/>
          </p:cNvPicPr>
          <p:nvPr/>
        </p:nvPicPr>
        <p:blipFill rotWithShape="1">
          <a:blip r:embed="rId3"/>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18581137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6E0D1D-EB5B-8E1A-9122-5CFB25D4E296}"/>
              </a:ext>
            </a:extLst>
          </p:cNvPr>
          <p:cNvSpPr>
            <a:spLocks noGrp="1"/>
          </p:cNvSpPr>
          <p:nvPr>
            <p:ph type="title"/>
          </p:nvPr>
        </p:nvSpPr>
        <p:spPr>
          <a:xfrm>
            <a:off x="5586773" y="0"/>
            <a:ext cx="6510740" cy="1491394"/>
          </a:xfrm>
        </p:spPr>
        <p:txBody>
          <a:bodyPr>
            <a:normAutofit/>
          </a:bodyPr>
          <a:lstStyle/>
          <a:p>
            <a:r>
              <a:rPr lang="en-US" sz="3600" b="1" dirty="0"/>
              <a:t>National AI Working Group</a:t>
            </a:r>
          </a:p>
        </p:txBody>
      </p:sp>
      <p:sp>
        <p:nvSpPr>
          <p:cNvPr id="3" name="Content Placeholder 2">
            <a:extLst>
              <a:ext uri="{FF2B5EF4-FFF2-40B4-BE49-F238E27FC236}">
                <a16:creationId xmlns:a16="http://schemas.microsoft.com/office/drawing/2014/main" id="{20B0B973-D6FF-1665-716C-7A890D7D4AD9}"/>
              </a:ext>
            </a:extLst>
          </p:cNvPr>
          <p:cNvSpPr>
            <a:spLocks noGrp="1"/>
          </p:cNvSpPr>
          <p:nvPr>
            <p:ph idx="1"/>
          </p:nvPr>
        </p:nvSpPr>
        <p:spPr>
          <a:xfrm>
            <a:off x="5756922" y="1097554"/>
            <a:ext cx="5750311" cy="5018723"/>
          </a:xfrm>
        </p:spPr>
        <p:txBody>
          <a:bodyPr>
            <a:normAutofit/>
          </a:bodyPr>
          <a:lstStyle/>
          <a:p>
            <a:r>
              <a:rPr lang="en-US" sz="2000" b="1" dirty="0"/>
              <a:t>R&amp;D and Innovation Strategy for AI</a:t>
            </a:r>
          </a:p>
          <a:p>
            <a:r>
              <a:rPr lang="en-US" sz="2000" b="1" dirty="0"/>
              <a:t>Co-design</a:t>
            </a:r>
            <a:r>
              <a:rPr lang="en-US" sz="2000" dirty="0"/>
              <a:t> the priority areas </a:t>
            </a:r>
          </a:p>
          <a:p>
            <a:r>
              <a:rPr lang="en-US" sz="2000" dirty="0"/>
              <a:t>Develop Namibian </a:t>
            </a:r>
            <a:r>
              <a:rPr lang="en-US" sz="2000" b="1" dirty="0"/>
              <a:t>expertise</a:t>
            </a:r>
            <a:r>
              <a:rPr lang="en-US" sz="2000" dirty="0"/>
              <a:t> in AI</a:t>
            </a:r>
          </a:p>
          <a:p>
            <a:r>
              <a:rPr lang="en-US" sz="2000" b="1" dirty="0"/>
              <a:t>Infrastructure </a:t>
            </a:r>
          </a:p>
          <a:p>
            <a:r>
              <a:rPr lang="en-US" sz="2000" b="1" dirty="0"/>
              <a:t>Data Governance</a:t>
            </a:r>
          </a:p>
          <a:p>
            <a:r>
              <a:rPr lang="en-US" sz="2000" b="1" dirty="0"/>
              <a:t>Partnerships</a:t>
            </a:r>
          </a:p>
          <a:p>
            <a:r>
              <a:rPr lang="en-US" sz="2000" dirty="0"/>
              <a:t>Develop </a:t>
            </a:r>
            <a:r>
              <a:rPr lang="en-US" sz="2000" b="1" dirty="0"/>
              <a:t>standards and guidelines </a:t>
            </a:r>
            <a:r>
              <a:rPr lang="en-US" sz="2000" dirty="0"/>
              <a:t>for ethical, responsible and human-centered AI RD&amp;I</a:t>
            </a:r>
          </a:p>
          <a:p>
            <a:r>
              <a:rPr lang="en-US" sz="2000" b="1" dirty="0"/>
              <a:t>Community Co-design</a:t>
            </a:r>
          </a:p>
          <a:p>
            <a:r>
              <a:rPr lang="en-US" sz="2000" dirty="0"/>
              <a:t>Encourage</a:t>
            </a:r>
            <a:r>
              <a:rPr lang="en-US" sz="2000" b="1" dirty="0"/>
              <a:t> responsible innovation</a:t>
            </a:r>
          </a:p>
          <a:p>
            <a:endParaRPr lang="en-US" sz="2000" b="1" dirty="0"/>
          </a:p>
          <a:p>
            <a:r>
              <a:rPr lang="en-US" sz="2000" b="1" dirty="0"/>
              <a:t>National AI Institute</a:t>
            </a:r>
          </a:p>
        </p:txBody>
      </p:sp>
      <p:pic>
        <p:nvPicPr>
          <p:cNvPr id="5" name="Picture 4">
            <a:extLst>
              <a:ext uri="{FF2B5EF4-FFF2-40B4-BE49-F238E27FC236}">
                <a16:creationId xmlns:a16="http://schemas.microsoft.com/office/drawing/2014/main" id="{E86D886F-49D8-845A-AE48-C53381899C3B}"/>
              </a:ext>
            </a:extLst>
          </p:cNvPr>
          <p:cNvPicPr>
            <a:picLocks noChangeAspect="1"/>
          </p:cNvPicPr>
          <p:nvPr/>
        </p:nvPicPr>
        <p:blipFill rotWithShape="1">
          <a:blip r:embed="rId2"/>
          <a:srcRect l="13683" t="3784" r="6960"/>
          <a:stretch/>
        </p:blipFill>
        <p:spPr>
          <a:xfrm>
            <a:off x="855710" y="0"/>
            <a:ext cx="10117092" cy="6899779"/>
          </a:xfrm>
          <a:prstGeom prst="rect">
            <a:avLst/>
          </a:prstGeom>
        </p:spPr>
      </p:pic>
      <p:pic>
        <p:nvPicPr>
          <p:cNvPr id="10" name="Picture 9" descr="A logo of a science company&#10;&#10;Description automatically generated">
            <a:extLst>
              <a:ext uri="{FF2B5EF4-FFF2-40B4-BE49-F238E27FC236}">
                <a16:creationId xmlns:a16="http://schemas.microsoft.com/office/drawing/2014/main" id="{F9ABC6EE-5F79-AAF7-E3A2-EE49741FA697}"/>
              </a:ext>
            </a:extLst>
          </p:cNvPr>
          <p:cNvPicPr>
            <a:picLocks noChangeAspect="1"/>
          </p:cNvPicPr>
          <p:nvPr/>
        </p:nvPicPr>
        <p:blipFill rotWithShape="1">
          <a:blip r:embed="rId3"/>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3888424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 name="Rectangle 1030">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33" name="Rectangle 1032">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A conceptual illustration of a National AI Institute. The image includes several interconnected elements representing different initiatives: 1. A modern AI Project-Based Coding Academy for out-of-school and unemployed youth, with people coding in a collaborative environment, symbolizing academia, government, and private sector partnerships. 2. A Development of Enterprise Solutions area with digital screens showing e-govt, private sector, and e-business applications, featuring business and tech professionals collaborating. 3. An R&amp;DI (Research, Development, and Innovation) section with researchers and scientists working on advanced AI technologies. 4. A Researcher Exchange hub showing academic and research professionals in discussions, symbolizing collaboration and exchange programs. 5. A Policy and Regulatory Research and Advice corner with individuals reviewing policy documents and frameworks. 6. A Data Governance sector, represented by secure data servers and professionals managing data compliance. 7. Infrastructure components like data centers, digital communication towers, and connected devices, indicating national-level tech infrastructure. 8. An Upskilling of Educators area, showing educators learning AI skills with digital tools and resources. The overall layout should be futuristic, interconnected, and emphasize collaboration between government, academia, and the private sector in a vibrant, innovative environment.">
            <a:extLst>
              <a:ext uri="{FF2B5EF4-FFF2-40B4-BE49-F238E27FC236}">
                <a16:creationId xmlns:a16="http://schemas.microsoft.com/office/drawing/2014/main" id="{0DBE02B6-9A5F-1C44-673C-B734514DCC8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t="1628"/>
          <a:stretch/>
        </p:blipFill>
        <p:spPr bwMode="auto">
          <a:xfrm>
            <a:off x="20" y="10"/>
            <a:ext cx="12191980" cy="68662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DEDA62C-043A-BFA6-5C25-431FAB7C8BFA}"/>
              </a:ext>
            </a:extLst>
          </p:cNvPr>
          <p:cNvSpPr txBox="1"/>
          <p:nvPr/>
        </p:nvSpPr>
        <p:spPr>
          <a:xfrm>
            <a:off x="0" y="6480368"/>
            <a:ext cx="1737912" cy="276999"/>
          </a:xfrm>
          <a:prstGeom prst="rect">
            <a:avLst/>
          </a:prstGeom>
          <a:noFill/>
        </p:spPr>
        <p:txBody>
          <a:bodyPr wrap="none" rtlCol="0">
            <a:spAutoFit/>
          </a:bodyPr>
          <a:lstStyle/>
          <a:p>
            <a:r>
              <a:rPr lang="en-US" sz="1200" i="1" dirty="0" err="1"/>
              <a:t>OpenAI</a:t>
            </a:r>
            <a:r>
              <a:rPr lang="en-US" sz="1200" i="1" dirty="0"/>
              <a:t> Dall-E Generated</a:t>
            </a:r>
          </a:p>
        </p:txBody>
      </p:sp>
    </p:spTree>
    <p:extLst>
      <p:ext uri="{BB962C8B-B14F-4D97-AF65-F5344CB8AC3E}">
        <p14:creationId xmlns:p14="http://schemas.microsoft.com/office/powerpoint/2010/main" val="629830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up of hopscotch on a sidewalk">
            <a:extLst>
              <a:ext uri="{FF2B5EF4-FFF2-40B4-BE49-F238E27FC236}">
                <a16:creationId xmlns:a16="http://schemas.microsoft.com/office/drawing/2014/main" id="{813394EB-5D5E-AD5A-7F1A-E8FA36911FBA}"/>
              </a:ext>
            </a:extLst>
          </p:cNvPr>
          <p:cNvPicPr>
            <a:picLocks noChangeAspect="1"/>
          </p:cNvPicPr>
          <p:nvPr/>
        </p:nvPicPr>
        <p:blipFill>
          <a:blip r:embed="rId2"/>
          <a:srcRect l="24389" r="22952" b="-2"/>
          <a:stretch/>
        </p:blipFill>
        <p:spPr>
          <a:xfrm>
            <a:off x="-1" y="-2"/>
            <a:ext cx="5410198" cy="6858002"/>
          </a:xfrm>
          <a:prstGeom prst="rect">
            <a:avLst/>
          </a:prstGeom>
        </p:spPr>
      </p:pic>
      <p:sp useBgFill="1">
        <p:nvSpPr>
          <p:cNvPr id="10" name="Rectangle 9">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CA25EBEA-981A-C42B-C783-9B7CCE64E347}"/>
              </a:ext>
            </a:extLst>
          </p:cNvPr>
          <p:cNvSpPr txBox="1"/>
          <p:nvPr/>
        </p:nvSpPr>
        <p:spPr>
          <a:xfrm>
            <a:off x="6096000" y="2038865"/>
            <a:ext cx="5247340" cy="3496878"/>
          </a:xfrm>
          <a:prstGeom prst="rect">
            <a:avLst/>
          </a:prstGeom>
        </p:spPr>
        <p:txBody>
          <a:bodyPr vert="horz" lIns="91440" tIns="45720" rIns="91440" bIns="45720" rtlCol="0" anchor="ctr">
            <a:normAutofit/>
          </a:bodyPr>
          <a:lstStyle/>
          <a:p>
            <a:pPr algn="ctr">
              <a:lnSpc>
                <a:spcPct val="90000"/>
              </a:lnSpc>
              <a:spcAft>
                <a:spcPts val="600"/>
              </a:spcAft>
            </a:pPr>
            <a:r>
              <a:rPr lang="en-US" sz="4800" dirty="0"/>
              <a:t>The End</a:t>
            </a:r>
          </a:p>
        </p:txBody>
      </p:sp>
      <p:pic>
        <p:nvPicPr>
          <p:cNvPr id="6" name="Picture 5" descr="A logo of a science company&#10;&#10;Description automatically generated">
            <a:extLst>
              <a:ext uri="{FF2B5EF4-FFF2-40B4-BE49-F238E27FC236}">
                <a16:creationId xmlns:a16="http://schemas.microsoft.com/office/drawing/2014/main" id="{34137082-B611-C9A0-C52D-35D47C93A7D1}"/>
              </a:ext>
            </a:extLst>
          </p:cNvPr>
          <p:cNvPicPr>
            <a:picLocks noChangeAspect="1"/>
          </p:cNvPicPr>
          <p:nvPr/>
        </p:nvPicPr>
        <p:blipFill rotWithShape="1">
          <a:blip r:embed="rId3"/>
          <a:srcRect l="18982" t="3008" r="18497" b="6928"/>
          <a:stretch/>
        </p:blipFill>
        <p:spPr>
          <a:xfrm>
            <a:off x="10823449" y="5696693"/>
            <a:ext cx="1368551" cy="1189841"/>
          </a:xfrm>
          <a:prstGeom prst="rect">
            <a:avLst/>
          </a:prstGeom>
        </p:spPr>
      </p:pic>
    </p:spTree>
    <p:extLst>
      <p:ext uri="{BB962C8B-B14F-4D97-AF65-F5344CB8AC3E}">
        <p14:creationId xmlns:p14="http://schemas.microsoft.com/office/powerpoint/2010/main" val="29335038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4889</TotalTime>
  <Words>1079</Words>
  <Application>Microsoft Office PowerPoint</Application>
  <PresentationFormat>Widescreen</PresentationFormat>
  <Paragraphs>178</Paragraphs>
  <Slides>16</Slides>
  <Notes>0</Notes>
  <HiddenSlides>1</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Google Sans</vt:lpstr>
      <vt:lpstr>Söhne</vt:lpstr>
      <vt:lpstr>Office Theme</vt:lpstr>
      <vt:lpstr>Namibia AI Readiness  AI Regulatory Frameworks, Promotion of AI Innovation, Opportunities for Youth and AI’s role in advancing Research, Science, Technology and Innovation   9 September 2024  Namibia ICT Summit </vt:lpstr>
      <vt:lpstr>Who am I?</vt:lpstr>
      <vt:lpstr>National Commission on Research, Science and Technology </vt:lpstr>
      <vt:lpstr>Intertwined Concerns</vt:lpstr>
      <vt:lpstr>The Rise of AI</vt:lpstr>
      <vt:lpstr>Examples: AI Strategic Direction</vt:lpstr>
      <vt:lpstr>Africa and AI:  Promise &amp; Peril</vt:lpstr>
      <vt:lpstr>Unintended Consequences</vt:lpstr>
      <vt:lpstr>Namibia AI Opportunities</vt:lpstr>
      <vt:lpstr>Namibia AI Challenges </vt:lpstr>
      <vt:lpstr>Namibia: Initiatives</vt:lpstr>
      <vt:lpstr>Future Opportunities: AI</vt:lpstr>
      <vt:lpstr>National AI Working Group</vt:lpstr>
      <vt:lpstr>National AI Working Group</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Transforming Africa: Navigating the AI Revolution in the African Landscape </dc:title>
  <dc:creator>Prof. Anicia Peters</dc:creator>
  <cp:lastModifiedBy>Dilly 4k</cp:lastModifiedBy>
  <cp:revision>53</cp:revision>
  <dcterms:created xsi:type="dcterms:W3CDTF">2024-04-10T15:25:27Z</dcterms:created>
  <dcterms:modified xsi:type="dcterms:W3CDTF">2024-09-09T09:12:08Z</dcterms:modified>
</cp:coreProperties>
</file>