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ato Bold" charset="1" panose="020F0502020204030203"/>
      <p:regular r:id="rId18"/>
    </p:embeddedFont>
    <p:embeddedFont>
      <p:font typeface="League Spartan" charset="1" panose="00000800000000000000"/>
      <p:regular r:id="rId19"/>
    </p:embeddedFont>
    <p:embeddedFont>
      <p:font typeface="Poppins" charset="1" panose="00000500000000000000"/>
      <p:regular r:id="rId20"/>
    </p:embeddedFont>
    <p:embeddedFont>
      <p:font typeface="Arimo Bold" charset="1" panose="020B0704020202020204"/>
      <p:regular r:id="rId21"/>
    </p:embeddedFont>
    <p:embeddedFont>
      <p:font typeface="Arimo" charset="1" panose="020B0604020202020204"/>
      <p:regular r:id="rId22"/>
    </p:embeddedFont>
    <p:embeddedFont>
      <p:font typeface="Poppins Bold" charset="1" panose="00000800000000000000"/>
      <p:regular r:id="rId23"/>
    </p:embeddedFont>
    <p:embeddedFont>
      <p:font typeface="Canva Sans Bold" charset="1" panose="020B08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3717672" y="6934049"/>
            <a:ext cx="9687995" cy="205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763158" y="38735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22113" y="8858753"/>
            <a:ext cx="3337187" cy="800925"/>
          </a:xfrm>
          <a:custGeom>
            <a:avLst/>
            <a:gdLst/>
            <a:ahLst/>
            <a:cxnLst/>
            <a:rect r="r" b="b" t="t" l="l"/>
            <a:pathLst>
              <a:path h="800925" w="3337187">
                <a:moveTo>
                  <a:pt x="0" y="0"/>
                </a:moveTo>
                <a:lnTo>
                  <a:pt x="3337187" y="0"/>
                </a:lnTo>
                <a:lnTo>
                  <a:pt x="3337187" y="800925"/>
                </a:lnTo>
                <a:lnTo>
                  <a:pt x="0" y="800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17672" y="2425542"/>
            <a:ext cx="9687995" cy="280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5"/>
              </a:lnSpc>
              <a:spcBef>
                <a:spcPct val="0"/>
              </a:spcBef>
            </a:pPr>
            <a:r>
              <a:rPr lang="en-US" b="true" sz="804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BUILDING THE FOUNDATIONS: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17672" y="5553217"/>
            <a:ext cx="11661781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36A9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PREPARING NAMIBIAN BUSINESSES FOR AI ADOPTION AMIDST IT INFRASTRUCTURE CHALLENGES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7672" y="7285470"/>
            <a:ext cx="6583633" cy="42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Hubert Patrick Mouton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20190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H="true">
            <a:off x="1028720" y="218681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28720" y="1875519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817214" y="2085466"/>
            <a:ext cx="9442086" cy="6116068"/>
            <a:chOff x="0" y="0"/>
            <a:chExt cx="1254814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4814" cy="812800"/>
            </a:xfrm>
            <a:custGeom>
              <a:avLst/>
              <a:gdLst/>
              <a:ahLst/>
              <a:cxnLst/>
              <a:rect r="r" b="b" t="t" l="l"/>
              <a:pathLst>
                <a:path h="812800" w="1254814">
                  <a:moveTo>
                    <a:pt x="0" y="0"/>
                  </a:moveTo>
                  <a:lnTo>
                    <a:pt x="1254814" y="0"/>
                  </a:lnTo>
                  <a:lnTo>
                    <a:pt x="125481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-1460" r="0" b="-146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7649" y="952500"/>
            <a:ext cx="3949271" cy="62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b="true" sz="362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7649" y="2739206"/>
            <a:ext cx="5987340" cy="1914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  <a:spcBef>
                <a:spcPct val="0"/>
              </a:spcBef>
            </a:pPr>
            <a:r>
              <a:rPr lang="en-US" sz="21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Imagine operating in a world where intelligent insights inform every decision your company makes, where monotonous jobs are automated, and where creativity grows at a rate never seen before.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994" y="5312013"/>
            <a:ext cx="5987340" cy="266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is not the future—this is the power of Artificial Intelligence, and it’s revolutionizing industries across the globe.</a:t>
            </a:r>
          </a:p>
          <a:p>
            <a:pPr algn="l">
              <a:lnSpc>
                <a:spcPts val="3073"/>
              </a:lnSpc>
            </a:pPr>
          </a:p>
          <a:p>
            <a:pPr algn="l">
              <a:lnSpc>
                <a:spcPts val="3073"/>
              </a:lnSpc>
              <a:spcBef>
                <a:spcPct val="0"/>
              </a:spcBef>
            </a:pPr>
            <a:r>
              <a:rPr lang="en-US" sz="21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But for Namibian businesses, the question is not just ‘Why AI?’ but ‘How do we get ready for it?’"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81383" y="0"/>
            <a:ext cx="1606617" cy="10287000"/>
            <a:chOff x="0" y="0"/>
            <a:chExt cx="42314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14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23142">
                  <a:moveTo>
                    <a:pt x="0" y="0"/>
                  </a:moveTo>
                  <a:lnTo>
                    <a:pt x="423142" y="0"/>
                  </a:lnTo>
                  <a:lnTo>
                    <a:pt x="42314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3142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513871"/>
            <a:ext cx="64179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036A9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COMPONENTS FOR AI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029771" y="2328309"/>
            <a:ext cx="5761990" cy="19050"/>
          </a:xfrm>
          <a:prstGeom prst="line">
            <a:avLst/>
          </a:prstGeom>
          <a:ln cap="flat" w="38100">
            <a:solidFill>
              <a:srgbClr val="F483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952500"/>
            <a:ext cx="6006656" cy="598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b="true" sz="3429">
                <a:solidFill>
                  <a:srgbClr val="036A9D"/>
                </a:solidFill>
                <a:latin typeface="Lato Bold"/>
                <a:ea typeface="Lato Bold"/>
                <a:cs typeface="Lato Bold"/>
                <a:sym typeface="Lato Bold"/>
              </a:rPr>
              <a:t>KEY IT INFRASTRUCTURE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042684"/>
            <a:ext cx="15131493" cy="608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36A9D"/>
                </a:solidFill>
                <a:latin typeface="Arimo Bold"/>
                <a:ea typeface="Arimo Bold"/>
                <a:cs typeface="Arimo Bold"/>
                <a:sym typeface="Arimo Bold"/>
              </a:rPr>
              <a:t>Data Management:</a:t>
            </a:r>
            <a:r>
              <a:rPr lang="en-US" sz="3200">
                <a:solidFill>
                  <a:srgbClr val="036A9D"/>
                </a:solidFill>
                <a:latin typeface="Arimo"/>
                <a:ea typeface="Arimo"/>
                <a:cs typeface="Arimo"/>
                <a:sym typeface="Arimo"/>
              </a:rPr>
              <a:t> Efficient data storage, accessibility, and analytics are key to AI success, enhancing the accuracy of models and driving better insights.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36A9D"/>
                </a:solidFill>
                <a:latin typeface="Arimo Bold"/>
                <a:ea typeface="Arimo Bold"/>
                <a:cs typeface="Arimo Bold"/>
                <a:sym typeface="Arimo Bold"/>
              </a:rPr>
              <a:t>Software Engineering: </a:t>
            </a:r>
            <a:r>
              <a:rPr lang="en-US" sz="3200">
                <a:solidFill>
                  <a:srgbClr val="036A9D"/>
                </a:solidFill>
                <a:latin typeface="Arimo"/>
                <a:ea typeface="Arimo"/>
                <a:cs typeface="Arimo"/>
                <a:sym typeface="Arimo"/>
              </a:rPr>
              <a:t>Scalable and secure software ensures AI applications can grow and handle increasing demands without sacrificing performance or security.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36A9D"/>
                </a:solidFill>
                <a:latin typeface="Arimo Bold"/>
                <a:ea typeface="Arimo Bold"/>
                <a:cs typeface="Arimo Bold"/>
                <a:sym typeface="Arimo Bold"/>
              </a:rPr>
              <a:t>Cybersecurity: </a:t>
            </a:r>
            <a:r>
              <a:rPr lang="en-US" sz="3200">
                <a:solidFill>
                  <a:srgbClr val="036A9D"/>
                </a:solidFill>
                <a:latin typeface="Arimo"/>
                <a:ea typeface="Arimo"/>
                <a:cs typeface="Arimo"/>
                <a:sym typeface="Arimo"/>
              </a:rPr>
              <a:t>Strong cybersecurity measures protect AI systems and sensitive data from breaches and threats, ensuring secure and reliable AI operations.</a:t>
            </a:r>
          </a:p>
          <a:p>
            <a:pPr algn="l" marL="690882" indent="-345441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36A9D"/>
                </a:solidFill>
                <a:latin typeface="Arimo Bold"/>
                <a:ea typeface="Arimo Bold"/>
                <a:cs typeface="Arimo Bold"/>
                <a:sym typeface="Arimo Bold"/>
              </a:rPr>
              <a:t>Computational Resources:</a:t>
            </a:r>
            <a:r>
              <a:rPr lang="en-US" sz="3200">
                <a:solidFill>
                  <a:srgbClr val="036A9D"/>
                </a:solidFill>
                <a:latin typeface="Arimo"/>
                <a:ea typeface="Arimo"/>
                <a:cs typeface="Arimo"/>
                <a:sym typeface="Arimo"/>
              </a:rPr>
              <a:t> They are critical for running applications, executing tasks, and handling data efficiently.</a:t>
            </a:r>
          </a:p>
          <a:p>
            <a:pPr algn="l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0843" y="952500"/>
            <a:ext cx="4768444" cy="62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b="true" sz="362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DATA MANAGEMENT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029771" y="240720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9771" y="1790096"/>
            <a:ext cx="2618740" cy="0"/>
          </a:xfrm>
          <a:prstGeom prst="line">
            <a:avLst/>
          </a:prstGeom>
          <a:ln cap="flat" w="38100">
            <a:solidFill>
              <a:srgbClr val="F483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340559" y="0"/>
            <a:ext cx="3086100" cy="10287000"/>
            <a:chOff x="0" y="0"/>
            <a:chExt cx="812800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7629" y="2099081"/>
            <a:ext cx="14016192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Data is the Lifeblood of AI: AI systems depend on quality data to function effectively, making robust data management critical.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7629" y="3466871"/>
            <a:ext cx="14015120" cy="186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Why Data Governance Matters:</a:t>
            </a:r>
          </a:p>
          <a:p>
            <a:pPr algn="l" marL="463910" indent="-231955" lvl="1">
              <a:lnSpc>
                <a:spcPts val="3008"/>
              </a:lnSpc>
              <a:buFont typeface="Arial"/>
              <a:buChar char="•"/>
            </a:pPr>
            <a:r>
              <a:rPr lang="en-US" sz="2148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Consistency &amp; Quality</a:t>
            </a:r>
          </a:p>
          <a:p>
            <a:pPr algn="l" marL="463910" indent="-231955" lvl="1">
              <a:lnSpc>
                <a:spcPts val="3008"/>
              </a:lnSpc>
              <a:buFont typeface="Arial"/>
              <a:buChar char="•"/>
            </a:pPr>
            <a:r>
              <a:rPr lang="en-US" sz="2148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Compliance &amp; Security</a:t>
            </a:r>
          </a:p>
          <a:p>
            <a:pPr algn="l" marL="463910" indent="-231955" lvl="1">
              <a:lnSpc>
                <a:spcPts val="3008"/>
              </a:lnSpc>
              <a:buFont typeface="Arial"/>
              <a:buChar char="•"/>
            </a:pPr>
            <a:r>
              <a:rPr lang="en-US" sz="2148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Accessibility &amp; Usability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547782"/>
            <a:ext cx="14015120" cy="2200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Governance P</a:t>
            </a:r>
            <a:r>
              <a:rPr lang="en-US" sz="21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olicies Should Address: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Data Ownership: Who is responsible for the data?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Data Security: How is data protected from unauthorized access?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Data Lifecycle: How is data stored, updated, and retired over time?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Data Accessibility: Who can access, modify, or analyze the data?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7629" y="8120183"/>
            <a:ext cx="14015120" cy="143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4832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48320"/>
                </a:solidFill>
                <a:latin typeface="Poppins"/>
                <a:ea typeface="Poppins"/>
                <a:cs typeface="Poppins"/>
                <a:sym typeface="Poppins"/>
              </a:rPr>
              <a:t>A solid g</a:t>
            </a:r>
            <a:r>
              <a:rPr lang="en-US" sz="2100">
                <a:solidFill>
                  <a:srgbClr val="F48320"/>
                </a:solidFill>
                <a:latin typeface="Poppins"/>
                <a:ea typeface="Poppins"/>
                <a:cs typeface="Poppins"/>
                <a:sym typeface="Poppins"/>
              </a:rPr>
              <a:t>overnance framew</a:t>
            </a:r>
            <a:r>
              <a:rPr lang="en-US" sz="2100">
                <a:solidFill>
                  <a:srgbClr val="F48320"/>
                </a:solidFill>
                <a:latin typeface="Poppins"/>
                <a:ea typeface="Poppins"/>
                <a:cs typeface="Poppins"/>
                <a:sym typeface="Poppins"/>
              </a:rPr>
              <a:t>ork ensures AI applications use high-quality, secure, and well-managed data, leading to more accurate insights and better business outcomes.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029771" y="240720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9771" y="1790096"/>
            <a:ext cx="2618740" cy="0"/>
          </a:xfrm>
          <a:prstGeom prst="line">
            <a:avLst/>
          </a:prstGeom>
          <a:ln cap="flat" w="38100">
            <a:solidFill>
              <a:srgbClr val="F483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340559" y="0"/>
            <a:ext cx="3086100" cy="10287000"/>
            <a:chOff x="0" y="0"/>
            <a:chExt cx="81280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05123" y="1790096"/>
            <a:ext cx="7677754" cy="76777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3192" y="0"/>
                  </a:moveTo>
                  <a:lnTo>
                    <a:pt x="789608" y="0"/>
                  </a:lnTo>
                  <a:cubicBezTo>
                    <a:pt x="802416" y="0"/>
                    <a:pt x="812800" y="10384"/>
                    <a:pt x="812800" y="23192"/>
                  </a:cubicBezTo>
                  <a:lnTo>
                    <a:pt x="812800" y="789608"/>
                  </a:lnTo>
                  <a:cubicBezTo>
                    <a:pt x="812800" y="802416"/>
                    <a:pt x="802416" y="812800"/>
                    <a:pt x="789608" y="812800"/>
                  </a:cubicBezTo>
                  <a:lnTo>
                    <a:pt x="23192" y="812800"/>
                  </a:lnTo>
                  <a:cubicBezTo>
                    <a:pt x="10384" y="812800"/>
                    <a:pt x="0" y="802416"/>
                    <a:pt x="0" y="789608"/>
                  </a:cubicBezTo>
                  <a:lnTo>
                    <a:pt x="0" y="23192"/>
                  </a:lnTo>
                  <a:cubicBezTo>
                    <a:pt x="0" y="10384"/>
                    <a:pt x="10384" y="0"/>
                    <a:pt x="2319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30843" y="952500"/>
            <a:ext cx="4768444" cy="62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b="true" sz="362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DATA MANAGEMENT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029771" y="240720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9771" y="1790096"/>
            <a:ext cx="2618740" cy="0"/>
          </a:xfrm>
          <a:prstGeom prst="line">
            <a:avLst/>
          </a:prstGeom>
          <a:ln cap="flat" w="38100">
            <a:solidFill>
              <a:srgbClr val="F483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340559" y="0"/>
            <a:ext cx="3086100" cy="10287000"/>
            <a:chOff x="0" y="0"/>
            <a:chExt cx="81280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30843" y="952500"/>
            <a:ext cx="7004346" cy="62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b="true" sz="362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SOFTWARE INFRASTRUCTURE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7629" y="2099081"/>
            <a:ext cx="14016192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AI systems depend on software tools to ingest and process massive amounts of data from various sources—structured and unstructured.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7629" y="3476396"/>
            <a:ext cx="14015120" cy="186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Why Software Architecture Matters:</a:t>
            </a:r>
          </a:p>
          <a:p>
            <a:pPr algn="l" marL="463910" indent="-231955" lvl="1">
              <a:lnSpc>
                <a:spcPts val="3008"/>
              </a:lnSpc>
              <a:buFont typeface="Arial"/>
              <a:buChar char="•"/>
            </a:pPr>
            <a:r>
              <a:rPr lang="en-US" sz="2148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Ensures Maintainability</a:t>
            </a:r>
          </a:p>
          <a:p>
            <a:pPr algn="l" marL="463910" indent="-231955" lvl="1">
              <a:lnSpc>
                <a:spcPts val="3008"/>
              </a:lnSpc>
              <a:buFont typeface="Arial"/>
              <a:buChar char="•"/>
            </a:pPr>
            <a:r>
              <a:rPr lang="en-US" sz="2148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Improves Security</a:t>
            </a:r>
          </a:p>
          <a:p>
            <a:pPr algn="l" marL="463910" indent="-231955" lvl="1">
              <a:lnSpc>
                <a:spcPts val="3008"/>
              </a:lnSpc>
              <a:buFont typeface="Arial"/>
              <a:buChar char="•"/>
            </a:pPr>
            <a:r>
              <a:rPr lang="en-US" sz="2148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Foundation for Scalability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7629" y="8120183"/>
            <a:ext cx="14015120" cy="143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4832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48320"/>
                </a:solidFill>
                <a:latin typeface="Poppins"/>
                <a:ea typeface="Poppins"/>
                <a:cs typeface="Poppins"/>
                <a:sym typeface="Poppins"/>
              </a:rPr>
              <a:t>A well-d</a:t>
            </a:r>
            <a:r>
              <a:rPr lang="en-US" sz="2100">
                <a:solidFill>
                  <a:srgbClr val="F48320"/>
                </a:solidFill>
                <a:latin typeface="Poppins"/>
                <a:ea typeface="Poppins"/>
                <a:cs typeface="Poppins"/>
                <a:sym typeface="Poppins"/>
              </a:rPr>
              <a:t>ocumented softwa</a:t>
            </a:r>
            <a:r>
              <a:rPr lang="en-US" sz="2100">
                <a:solidFill>
                  <a:srgbClr val="F48320"/>
                </a:solidFill>
                <a:latin typeface="Poppins"/>
                <a:ea typeface="Poppins"/>
                <a:cs typeface="Poppins"/>
                <a:sym typeface="Poppins"/>
              </a:rPr>
              <a:t>re architecture enables scalable, secure, and efficient AI systems, ensuring the application can grow with your business while maintaining performance and security.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30843" y="5471582"/>
            <a:ext cx="14015120" cy="219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Problems that a Software Architecture Address: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Integration Points: </a:t>
            </a: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Define how the system will integrate with external services, APIs, or third-party applications.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Maintainability &amp; Flexibility: Design for easy updates, bug fixes, and future enhancements.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Clarity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029771" y="240720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9771" y="1790096"/>
            <a:ext cx="2618740" cy="0"/>
          </a:xfrm>
          <a:prstGeom prst="line">
            <a:avLst/>
          </a:prstGeom>
          <a:ln cap="flat" w="38100">
            <a:solidFill>
              <a:srgbClr val="F483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340559" y="0"/>
            <a:ext cx="3086100" cy="10287000"/>
            <a:chOff x="0" y="0"/>
            <a:chExt cx="81280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3046" y="1999646"/>
            <a:ext cx="7863457" cy="786345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2645" y="0"/>
                  </a:moveTo>
                  <a:lnTo>
                    <a:pt x="790156" y="0"/>
                  </a:lnTo>
                  <a:cubicBezTo>
                    <a:pt x="802662" y="0"/>
                    <a:pt x="812800" y="10138"/>
                    <a:pt x="812800" y="22645"/>
                  </a:cubicBezTo>
                  <a:lnTo>
                    <a:pt x="812800" y="790156"/>
                  </a:lnTo>
                  <a:cubicBezTo>
                    <a:pt x="812800" y="802662"/>
                    <a:pt x="802662" y="812800"/>
                    <a:pt x="790156" y="812800"/>
                  </a:cubicBezTo>
                  <a:lnTo>
                    <a:pt x="22645" y="812800"/>
                  </a:lnTo>
                  <a:cubicBezTo>
                    <a:pt x="10138" y="812800"/>
                    <a:pt x="0" y="802662"/>
                    <a:pt x="0" y="790156"/>
                  </a:cubicBezTo>
                  <a:lnTo>
                    <a:pt x="0" y="22645"/>
                  </a:lnTo>
                  <a:cubicBezTo>
                    <a:pt x="0" y="10138"/>
                    <a:pt x="10138" y="0"/>
                    <a:pt x="2264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79" r="0" b="-167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1588" y="1999646"/>
            <a:ext cx="5418594" cy="3628855"/>
            <a:chOff x="0" y="0"/>
            <a:chExt cx="121367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3670" cy="812800"/>
            </a:xfrm>
            <a:custGeom>
              <a:avLst/>
              <a:gdLst/>
              <a:ahLst/>
              <a:cxnLst/>
              <a:rect r="r" b="b" t="t" l="l"/>
              <a:pathLst>
                <a:path h="812800" w="1213670">
                  <a:moveTo>
                    <a:pt x="32862" y="0"/>
                  </a:moveTo>
                  <a:lnTo>
                    <a:pt x="1180808" y="0"/>
                  </a:lnTo>
                  <a:cubicBezTo>
                    <a:pt x="1189524" y="0"/>
                    <a:pt x="1197882" y="3462"/>
                    <a:pt x="1204045" y="9625"/>
                  </a:cubicBezTo>
                  <a:cubicBezTo>
                    <a:pt x="1210208" y="15788"/>
                    <a:pt x="1213670" y="24146"/>
                    <a:pt x="1213670" y="32862"/>
                  </a:cubicBezTo>
                  <a:lnTo>
                    <a:pt x="1213670" y="779938"/>
                  </a:lnTo>
                  <a:cubicBezTo>
                    <a:pt x="1213670" y="798087"/>
                    <a:pt x="1198957" y="812800"/>
                    <a:pt x="1180808" y="812800"/>
                  </a:cubicBezTo>
                  <a:lnTo>
                    <a:pt x="32862" y="812800"/>
                  </a:lnTo>
                  <a:cubicBezTo>
                    <a:pt x="14713" y="812800"/>
                    <a:pt x="0" y="798087"/>
                    <a:pt x="0" y="779938"/>
                  </a:cubicBezTo>
                  <a:lnTo>
                    <a:pt x="0" y="32862"/>
                  </a:lnTo>
                  <a:cubicBezTo>
                    <a:pt x="0" y="14713"/>
                    <a:pt x="14713" y="0"/>
                    <a:pt x="32862" y="0"/>
                  </a:cubicBezTo>
                  <a:close/>
                </a:path>
              </a:pathLst>
            </a:custGeom>
            <a:blipFill>
              <a:blip r:embed="rId4"/>
              <a:stretch>
                <a:fillRect l="-1320" t="0" r="-132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80829" y="5819001"/>
            <a:ext cx="4240113" cy="4044102"/>
            <a:chOff x="0" y="0"/>
            <a:chExt cx="852195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2195" cy="812800"/>
            </a:xfrm>
            <a:custGeom>
              <a:avLst/>
              <a:gdLst/>
              <a:ahLst/>
              <a:cxnLst/>
              <a:rect r="r" b="b" t="t" l="l"/>
              <a:pathLst>
                <a:path h="812800" w="852195">
                  <a:moveTo>
                    <a:pt x="41995" y="0"/>
                  </a:moveTo>
                  <a:lnTo>
                    <a:pt x="810200" y="0"/>
                  </a:lnTo>
                  <a:cubicBezTo>
                    <a:pt x="821338" y="0"/>
                    <a:pt x="832019" y="4424"/>
                    <a:pt x="839895" y="12300"/>
                  </a:cubicBezTo>
                  <a:cubicBezTo>
                    <a:pt x="847771" y="20176"/>
                    <a:pt x="852195" y="30857"/>
                    <a:pt x="852195" y="41995"/>
                  </a:cubicBezTo>
                  <a:lnTo>
                    <a:pt x="852195" y="770805"/>
                  </a:lnTo>
                  <a:cubicBezTo>
                    <a:pt x="852195" y="781943"/>
                    <a:pt x="847771" y="792624"/>
                    <a:pt x="839895" y="800500"/>
                  </a:cubicBezTo>
                  <a:cubicBezTo>
                    <a:pt x="832019" y="808376"/>
                    <a:pt x="821338" y="812800"/>
                    <a:pt x="810200" y="812800"/>
                  </a:cubicBezTo>
                  <a:lnTo>
                    <a:pt x="41995" y="812800"/>
                  </a:lnTo>
                  <a:cubicBezTo>
                    <a:pt x="30857" y="812800"/>
                    <a:pt x="20176" y="808376"/>
                    <a:pt x="12300" y="800500"/>
                  </a:cubicBezTo>
                  <a:cubicBezTo>
                    <a:pt x="4424" y="792624"/>
                    <a:pt x="0" y="781943"/>
                    <a:pt x="0" y="770805"/>
                  </a:cubicBezTo>
                  <a:lnTo>
                    <a:pt x="0" y="41995"/>
                  </a:lnTo>
                  <a:cubicBezTo>
                    <a:pt x="0" y="30857"/>
                    <a:pt x="4424" y="20176"/>
                    <a:pt x="12300" y="12300"/>
                  </a:cubicBezTo>
                  <a:cubicBezTo>
                    <a:pt x="20176" y="4424"/>
                    <a:pt x="30857" y="0"/>
                    <a:pt x="4199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423" r="0" b="-242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952500"/>
            <a:ext cx="7004346" cy="62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b="true" sz="362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SOFTWARE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0843" y="952500"/>
            <a:ext cx="4768444" cy="62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b="true" sz="362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CYBER SECURITY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029771" y="240720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9771" y="1790096"/>
            <a:ext cx="2618740" cy="0"/>
          </a:xfrm>
          <a:prstGeom prst="line">
            <a:avLst/>
          </a:prstGeom>
          <a:ln cap="flat" w="38100">
            <a:solidFill>
              <a:srgbClr val="F483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340559" y="0"/>
            <a:ext cx="3086100" cy="10287000"/>
            <a:chOff x="0" y="0"/>
            <a:chExt cx="812800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6557" y="2001738"/>
            <a:ext cx="14016192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In AI, cybersecurity focuses on protecting data, models, and systems from unauthorized access, tampering, and adversarial attacks to ensure integrity, privacy, and reliable performance.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0843" y="3627750"/>
            <a:ext cx="14015120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Why Cybersecurity Matters in AI: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AI systems handle se</a:t>
            </a: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nsitive data (e.g., customer info, financial records).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Any breach can compromise data integrity, privacy, and trust.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Attacks on AI models themselves (e.g., adversarial attacks) can disrupt operations or lead to faulty outputs.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874791"/>
            <a:ext cx="14015120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Critical Cyberse</a:t>
            </a:r>
            <a:r>
              <a:rPr lang="en-US" sz="21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curity Measures: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Data Encryption: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Access Con</a:t>
            </a: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trol &amp; Authentication: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AI-Specific Security: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7629" y="8120183"/>
            <a:ext cx="14015120" cy="143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4832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48320"/>
                </a:solidFill>
                <a:latin typeface="Poppins"/>
                <a:ea typeface="Poppins"/>
                <a:cs typeface="Poppins"/>
                <a:sym typeface="Poppins"/>
              </a:rPr>
              <a:t>Secure AI Operations: Robust cybersecurity ensures AI systems remain reliable and protect the confidentiality, integrity, and availability of data, safeguarding the entire operation.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029771" y="240720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9771" y="1790096"/>
            <a:ext cx="2618740" cy="0"/>
          </a:xfrm>
          <a:prstGeom prst="line">
            <a:avLst/>
          </a:prstGeom>
          <a:ln cap="flat" w="38100">
            <a:solidFill>
              <a:srgbClr val="F483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340559" y="0"/>
            <a:ext cx="3086100" cy="10287000"/>
            <a:chOff x="0" y="0"/>
            <a:chExt cx="81280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89673" y="2407207"/>
            <a:ext cx="13308654" cy="6944268"/>
            <a:chOff x="0" y="0"/>
            <a:chExt cx="1557727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7727" cy="812800"/>
            </a:xfrm>
            <a:custGeom>
              <a:avLst/>
              <a:gdLst/>
              <a:ahLst/>
              <a:cxnLst/>
              <a:rect r="r" b="b" t="t" l="l"/>
              <a:pathLst>
                <a:path h="812800" w="1557727">
                  <a:moveTo>
                    <a:pt x="13380" y="0"/>
                  </a:moveTo>
                  <a:lnTo>
                    <a:pt x="1544347" y="0"/>
                  </a:lnTo>
                  <a:cubicBezTo>
                    <a:pt x="1547896" y="0"/>
                    <a:pt x="1551299" y="1410"/>
                    <a:pt x="1553808" y="3919"/>
                  </a:cubicBezTo>
                  <a:cubicBezTo>
                    <a:pt x="1556318" y="6428"/>
                    <a:pt x="1557727" y="9831"/>
                    <a:pt x="1557727" y="13380"/>
                  </a:cubicBezTo>
                  <a:lnTo>
                    <a:pt x="1557727" y="799420"/>
                  </a:lnTo>
                  <a:cubicBezTo>
                    <a:pt x="1557727" y="806810"/>
                    <a:pt x="1551737" y="812800"/>
                    <a:pt x="1544347" y="812800"/>
                  </a:cubicBezTo>
                  <a:lnTo>
                    <a:pt x="13380" y="812800"/>
                  </a:lnTo>
                  <a:cubicBezTo>
                    <a:pt x="5990" y="812800"/>
                    <a:pt x="0" y="806810"/>
                    <a:pt x="0" y="799420"/>
                  </a:cubicBezTo>
                  <a:lnTo>
                    <a:pt x="0" y="13380"/>
                  </a:lnTo>
                  <a:cubicBezTo>
                    <a:pt x="0" y="5990"/>
                    <a:pt x="5990" y="0"/>
                    <a:pt x="1338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456" r="0" b="-645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30843" y="952500"/>
            <a:ext cx="4768444" cy="62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b="true" sz="362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CYBER SECURITY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029771" y="240720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9771" y="1790096"/>
            <a:ext cx="2618740" cy="0"/>
          </a:xfrm>
          <a:prstGeom prst="line">
            <a:avLst/>
          </a:prstGeom>
          <a:ln cap="flat" w="38100">
            <a:solidFill>
              <a:srgbClr val="F483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340559" y="0"/>
            <a:ext cx="3086100" cy="10287000"/>
            <a:chOff x="0" y="0"/>
            <a:chExt cx="81280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38939" y="3138836"/>
            <a:ext cx="7211289" cy="5246370"/>
            <a:chOff x="0" y="0"/>
            <a:chExt cx="1117217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17217" cy="812800"/>
            </a:xfrm>
            <a:custGeom>
              <a:avLst/>
              <a:gdLst/>
              <a:ahLst/>
              <a:cxnLst/>
              <a:rect r="r" b="b" t="t" l="l"/>
              <a:pathLst>
                <a:path h="812800" w="1117217">
                  <a:moveTo>
                    <a:pt x="24692" y="0"/>
                  </a:moveTo>
                  <a:lnTo>
                    <a:pt x="1092525" y="0"/>
                  </a:lnTo>
                  <a:cubicBezTo>
                    <a:pt x="1106162" y="0"/>
                    <a:pt x="1117217" y="11055"/>
                    <a:pt x="1117217" y="24692"/>
                  </a:cubicBezTo>
                  <a:lnTo>
                    <a:pt x="1117217" y="788108"/>
                  </a:lnTo>
                  <a:cubicBezTo>
                    <a:pt x="1117217" y="801745"/>
                    <a:pt x="1106162" y="812800"/>
                    <a:pt x="1092525" y="812800"/>
                  </a:cubicBezTo>
                  <a:lnTo>
                    <a:pt x="24692" y="812800"/>
                  </a:lnTo>
                  <a:cubicBezTo>
                    <a:pt x="11055" y="812800"/>
                    <a:pt x="0" y="801745"/>
                    <a:pt x="0" y="788108"/>
                  </a:cubicBezTo>
                  <a:lnTo>
                    <a:pt x="0" y="24692"/>
                  </a:lnTo>
                  <a:cubicBezTo>
                    <a:pt x="0" y="11055"/>
                    <a:pt x="11055" y="0"/>
                    <a:pt x="2469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793" r="0" b="-79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30843" y="952500"/>
            <a:ext cx="7005417" cy="62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b="true" sz="362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COMPUTATIONAL RESOURCES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0843" y="1932971"/>
            <a:ext cx="14016192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Computational resources enable AI adoption by providing the processing power, memory, and storage needed for efficient model training, data handling, and deployment.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1914" y="4901800"/>
            <a:ext cx="14015120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36A9D"/>
                </a:solidFill>
                <a:latin typeface="Poppins Bold"/>
                <a:ea typeface="Poppins Bold"/>
                <a:cs typeface="Poppins Bold"/>
                <a:sym typeface="Poppins Bold"/>
              </a:rPr>
              <a:t>Why Computational Resources Matter in AI: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Processing Power 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Storage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36A9D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7629" y="8120183"/>
            <a:ext cx="14015120" cy="143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48320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48320"/>
                </a:solidFill>
                <a:latin typeface="Poppins"/>
                <a:ea typeface="Poppins"/>
                <a:cs typeface="Poppins"/>
                <a:sym typeface="Poppins"/>
              </a:rPr>
              <a:t>A solid computational resource aspect in IT infrastructure enhances AI performance, scalability, reliability, and cost efficiency.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187609" y="2637324"/>
            <a:ext cx="2618740" cy="0"/>
          </a:xfrm>
          <a:prstGeom prst="line">
            <a:avLst/>
          </a:prstGeom>
          <a:ln cap="flat" w="38100">
            <a:solidFill>
              <a:srgbClr val="FD79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36A9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87609" y="3541983"/>
            <a:ext cx="5246370" cy="524637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778860"/>
                  </a:lnTo>
                  <a:cubicBezTo>
                    <a:pt x="812800" y="797604"/>
                    <a:pt x="797604" y="812800"/>
                    <a:pt x="778860" y="812800"/>
                  </a:cubicBezTo>
                  <a:lnTo>
                    <a:pt x="33940" y="812800"/>
                  </a:lnTo>
                  <a:cubicBezTo>
                    <a:pt x="15196" y="812800"/>
                    <a:pt x="0" y="797604"/>
                    <a:pt x="0" y="77886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3"/>
              <a:stretch>
                <a:fillRect l="-7173" t="0" r="-717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186537" y="1784786"/>
            <a:ext cx="49574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036A9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TAKAWAYS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86537" y="1242465"/>
            <a:ext cx="3255770" cy="628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b="true" sz="362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KEY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2261" y="5293263"/>
            <a:ext cx="8129168" cy="170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115" indent="-264058" lvl="1">
              <a:lnSpc>
                <a:spcPts val="3424"/>
              </a:lnSpc>
              <a:buFont typeface="Arial"/>
              <a:buChar char="•"/>
            </a:pPr>
            <a:r>
              <a:rPr lang="en-US" b="true" sz="2446">
                <a:solidFill>
                  <a:srgbClr val="036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Governance</a:t>
            </a:r>
          </a:p>
          <a:p>
            <a:pPr algn="l" marL="528115" indent="-264058" lvl="1">
              <a:lnSpc>
                <a:spcPts val="3424"/>
              </a:lnSpc>
              <a:buFont typeface="Arial"/>
              <a:buChar char="•"/>
            </a:pPr>
            <a:r>
              <a:rPr lang="en-US" b="true" sz="2446">
                <a:solidFill>
                  <a:srgbClr val="036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Software Architecture</a:t>
            </a:r>
          </a:p>
          <a:p>
            <a:pPr algn="l" marL="528115" indent="-264058" lvl="1">
              <a:lnSpc>
                <a:spcPts val="3424"/>
              </a:lnSpc>
              <a:buFont typeface="Arial"/>
              <a:buChar char="•"/>
            </a:pPr>
            <a:r>
              <a:rPr lang="en-US" b="true" sz="2446">
                <a:solidFill>
                  <a:srgbClr val="036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Cybersecurity</a:t>
            </a:r>
          </a:p>
          <a:p>
            <a:pPr algn="l" marL="528115" indent="-264058" lvl="1">
              <a:lnSpc>
                <a:spcPts val="3424"/>
              </a:lnSpc>
              <a:buFont typeface="Arial"/>
              <a:buChar char="•"/>
            </a:pPr>
            <a:r>
              <a:rPr lang="en-US" b="true" sz="2446">
                <a:solidFill>
                  <a:srgbClr val="036A9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Computational Resources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143500"/>
            <a:ext cx="18288000" cy="5143500"/>
            <a:chOff x="0" y="0"/>
            <a:chExt cx="4816593" cy="13546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354667"/>
            </a:xfrm>
            <a:custGeom>
              <a:avLst/>
              <a:gdLst/>
              <a:ahLst/>
              <a:cxnLst/>
              <a:rect r="r" b="b" t="t" l="l"/>
              <a:pathLst>
                <a:path h="1354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140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106069" y="1028700"/>
            <a:ext cx="6075861" cy="5809776"/>
            <a:chOff x="0" y="0"/>
            <a:chExt cx="3095653" cy="29600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95653" cy="2960083"/>
            </a:xfrm>
            <a:custGeom>
              <a:avLst/>
              <a:gdLst/>
              <a:ahLst/>
              <a:cxnLst/>
              <a:rect r="r" b="b" t="t" l="l"/>
              <a:pathLst>
                <a:path h="2960083" w="3095653">
                  <a:moveTo>
                    <a:pt x="0" y="0"/>
                  </a:moveTo>
                  <a:lnTo>
                    <a:pt x="3095653" y="0"/>
                  </a:lnTo>
                  <a:lnTo>
                    <a:pt x="3095653" y="2960083"/>
                  </a:lnTo>
                  <a:lnTo>
                    <a:pt x="0" y="2960083"/>
                  </a:lnTo>
                  <a:close/>
                </a:path>
              </a:pathLst>
            </a:custGeom>
            <a:blipFill>
              <a:blip r:embed="rId3"/>
              <a:stretch>
                <a:fillRect l="-220" t="0" r="-22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072171" y="7562850"/>
            <a:ext cx="10143658" cy="137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2"/>
              </a:lnSpc>
              <a:spcBef>
                <a:spcPct val="0"/>
              </a:spcBef>
            </a:pPr>
            <a:r>
              <a:rPr lang="en-US" sz="8051">
                <a:solidFill>
                  <a:srgbClr val="036A9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72133" y="9123680"/>
            <a:ext cx="1943735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moutonh@telecom.na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DAGQMH3Fq0A</dc:identifier>
  <dcterms:modified xsi:type="dcterms:W3CDTF">2011-08-01T06:04:30Z</dcterms:modified>
  <cp:revision>1</cp:revision>
  <dc:title>8th ICT National Summit Presentation H.Mouton</dc:title>
</cp:coreProperties>
</file>